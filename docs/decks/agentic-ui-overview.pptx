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Restrained on purpose — strategy/consulting deck convention.</a:t>
            </a:r>
          </a:p>
          <a:p>
            <a:r>
              <a:t>30-minute path: cover, 1, 2, 3, 6, 11, 13, 16, 17, 19, 21, 22, 23, 25, 26-28, 29.</a:t>
            </a:r>
          </a:p>
          <a:p>
            <a:r>
              <a:t>60-minute path: include the AG-UI / Hashbrown deep dives and the registry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Pace this for 30 or 60 minutes — sub-deck markers in speaker notes for each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exec framing. Yesterday was wrappers around an LLM. Today's protocols (AG-UI/Hashbrown/A2UI) make the agent + UI a real surface.</a:t>
            </a:r>
          </a:p>
          <a:p>
            <a:r>
              <a:t>Tomorrow: the UI itself becomes plugin data. We are building for the third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matters now: protocols + tool-calling + MCP + generative UI all matured in a 12-month window.</a:t>
            </a:r>
          </a:p>
          <a:p>
            <a:r>
              <a:t>Buying or building? The protocols change every quarter. A library that abstracts them is the right unit of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AG-UI: most mature, best for server-driven flows where the agent emits streamed text + tool calls + widgets.</a:t>
            </a:r>
          </a:p>
          <a:p>
            <a:r>
              <a:t>Hashbrown: lighter weight, faster to prototype, multi-provider out of the box.</a:t>
            </a:r>
          </a:p>
          <a:p>
            <a:r>
              <a:t>A2UI: distinguishing feature is the ui-action class — the agent can navigate, fill forms, mutate stores. Spec still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 is the one most enterprise teams pick today. The reason: it cleanly maps lifecycle, text, and tool calls to discrete events — easy to log, easy to audit.</a:t>
            </a:r>
          </a:p>
          <a:p>
            <a:r>
              <a:t>Origin: CopilotKit. Anglo/architects.io article is the canonical 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Real-shape timeline — every event a stable record. This is what makes AG-UI audit-friendly.</a:t>
            </a:r>
          </a:p>
          <a:p>
            <a:r>
              <a:t>Note widget_render is synthesised from show-component tool-call result; it doesn't exist on the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to pick AG-UI: regulated industries, audit-grade trails, server-side tool catalogs.</a:t>
            </a:r>
          </a:p>
          <a:p>
            <a:r>
              <a:t>When NOT: lightweight prototypes, mostly-client-rendered UIs with little server orchestration — Hashbrown is faster to spin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Hashbrown's pitch: thinner protocol, faster start, multi-provider built in.</a:t>
            </a:r>
          </a:p>
          <a:p>
            <a:r>
              <a:t>Trade-off: the lifecycle isn't as crisp, so audit-grade logging needs extra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provider-mux — for an org doing LLM evaluation, Hashbrown lets you swap providers without rewiring the chat shell.</a:t>
            </a:r>
          </a:p>
          <a:p>
            <a:r>
              <a:t>Highlight schema-anchor — Zod schemas are the contract; same library + skill in our schematics.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matrix to share with architects. Not a verdict — a guide.</a:t>
            </a:r>
          </a:p>
          <a:p>
            <a:r>
              <a:t>Most enterprises pick AG-UI for production; Hashbrown for prototyping.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answer to the most common architecture question.</a:t>
            </a:r>
          </a:p>
          <a:p>
            <a:r>
              <a:t>We picked AG-UI for the eDiscovery demo — audit grade matters here. A retail chatbot demo would pick Hashbrown.</a:t>
            </a:r>
          </a:p>
          <a:p>
            <a:r>
              <a:t>The library lets a team start with one and migrate later — no chat-shell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A2UI is younger; specification still evolving. We reserve ui-action in our event union from M1 so the chat shell never breaks when the spec moves.</a:t>
            </a:r>
          </a:p>
          <a:p>
            <a:r>
              <a:t>Same pattern — clickable widgets in our eDiscovery demo dispatch openCustodian/openDocument/openHold actions through ActionRegistry.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for execs: building from scratch is a 6+ month investment. The library is a 2-week pilot.</a:t>
            </a:r>
          </a:p>
          <a:p>
            <a:r>
              <a:t>Production-grade, MIT-licensed, MIT-friendly. No vendor lock-in to a paid SaaS.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Topology view. The host browser is the centre — registries are the only shared state.</a:t>
            </a:r>
          </a:p>
          <a:p>
            <a:r>
              <a:t>Federation runtime feeds remotes' capabilities INTO the registry layer; backend adapters ship runs OUT to the agent server / MCP.</a:t>
            </a:r>
          </a:p>
          <a:p>
            <a:r>
              <a:t>Telemetry crosscuts every layer; the OTel exporter ships in /otel and is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Single-slide architecture summary. Trace one prompt: User → ChatShell → ToolFilter (reads ToolRegistry) → AgUiBackend → server route → Orchestrator → Specialist → Gemini → events stream back.</a:t>
            </a:r>
          </a:p>
          <a:p>
            <a:r>
              <a:t>Use this slide as the framing for the rest of the architecture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Hub-and-spoke shows the architectural unity — the base class is the hub, every registry is a spoke with the same shape.</a:t>
            </a:r>
          </a:p>
          <a:p>
            <a:r>
              <a:t>Tier 1 is required for any agentic UI; tiers 2 and 3 are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diagram for federation handoff. Five actors, eight messages.</a:t>
            </a:r>
          </a:p>
          <a:p>
            <a:r>
              <a:t>Note the last message — ToolRegistry's signal notifies the chat shell on the next turn, mid-session, with no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architectural payoff. Three surfaces from one handler — that's why ToolDef is framework-agnostic data.</a:t>
            </a:r>
          </a:p>
          <a:p>
            <a:r>
              <a:t>Demo the eDiscovery review tool: same code path, three viewers see the same custodian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engineers. The chat shell is protocol-agnostic; only the backend adapter knows the wire format.</a:t>
            </a:r>
          </a:p>
          <a:p>
            <a:r>
              <a:t>Adding a new protocol is implementing this one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federation paths are first-class — neither is a side branch.</a:t>
            </a:r>
          </a:p>
          <a:p>
            <a:r>
              <a:t>Switch via `ng add @maverick/agentic-ui --federation=native` vs `--federation=module-federation`.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win for regulated industries — MCP brings agentic UI into Claude Desktop where many analysts already live.</a:t>
            </a:r>
          </a:p>
          <a:p>
            <a:r>
              <a:t>Demonstrate by walking through demo-mcp-server then opening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sink is no-op; consumer opts in to OTel via @maverick/agentic-ui/otel.</a:t>
            </a:r>
          </a:p>
          <a:p>
            <a:r>
              <a:t>Bundle impact: zero unless they import the otel entry — measured in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developers — the schematics are the value-multiplier.</a:t>
            </a:r>
          </a:p>
          <a:p>
            <a:r>
              <a:t>ng add takes a fresh Angular app to running chat in &lt;2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demos. Pick one for each audience.</a:t>
            </a:r>
          </a:p>
          <a:p>
            <a:r>
              <a:t>demo-ediscovery is the headline — full enterprise pattern with federation + audit + multi-persona.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eDiscovery reference is the headline asset.</a:t>
            </a:r>
          </a:p>
          <a:p>
            <a:r>
              <a:t>Open with the four stat cards — those are the talking points executives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the eDiscovery case study — shows the chained-tool-call pattern with widget feedback at every step.</a:t>
            </a:r>
          </a:p>
          <a:p>
            <a:r>
              <a:t>Six seams in one workflow. That's why we needed registries — each seam is independently extensible.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 function is FNV-1a in the demo (deterministic for testing); SHA-256 + HSM-backed HMAC is the prod swap.</a:t>
            </a:r>
          </a:p>
          <a:p>
            <a:r>
              <a:t>Phase 5 ships 1 tool (generateChainOfCustodyReport), 1 widget, the chainHash field, and the integrity badge on the Audit Trail page.</a:t>
            </a:r>
          </a:p>
          <a:p>
            <a:r>
              <a:t>The defensibility story lands here for execs — chain integrity = a deliverable for opposing counsel.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ToolDef literals are framework-agnostic — no Angular at MCP runtime.</a:t>
            </a:r>
          </a:p>
          <a:p>
            <a:r>
              <a:t>Per-user attribution via env vars (MVK_USER, MVK_MATTER) is the cookbook pattern for spawning one MCP server per user.</a:t>
            </a:r>
          </a:p>
          <a:p>
            <a:r>
              <a:t>Show this slide right after the chain-of-custody slide — the punchline lands when execs see two surfaces feeding one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7 shipped a chat-shell-only filter. Phase 8 lifts it to RegistryBase so 13 registries share the seam.</a:t>
            </a:r>
          </a:p>
          <a:p>
            <a:r>
              <a:t>The diff was about -30 LOC in the consumer for a one-line setScopePolicy call.</a:t>
            </a:r>
          </a:p>
          <a:p>
            <a:r>
              <a:t>ADR-008 documents the trade-offs: filter on read (not register) so federated remotes stay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the compliance section — read top-to-bottom, each row stands on its own.</a:t>
            </a:r>
          </a:p>
          <a:p>
            <a:r>
              <a:t>Use this slide if you're tight on time and skipping the chain-of-custody / MCP / scope-policy graphics.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pick one protocol. Pick by use case — the library lets you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 talk track. Six bullets, nothing technical — focus on derisking and time-to-value.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Highlight that every risk in §11 of the plan has a documented detection signal + contingency.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 framing. Show the schematics demo at the end — typically the moment that lands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Updated for v5 — every milestone is now shipped (was M1-M3 done / M4-M5 in flight).</a:t>
            </a:r>
          </a:p>
          <a:p>
            <a:r>
              <a:t>The 'validated by' column ties library work to the eDiscovery phase that put it under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Three asks, one per audience.</a:t>
            </a:r>
          </a:p>
          <a:p>
            <a:r>
              <a:t>Tone matches the deck — restrained, navy, no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slide. Hand-off to the audience — every box on the left has its own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MAVERICK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76895" y="54864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AGENTIC UI · OVERVIEW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0911535" cy="16459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141821"/>
                </a:solidFill>
                <a:latin typeface="Calibri"/>
              </a:rPr>
              <a:t>Agentic UI for Angular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1E3A5F"/>
                </a:solidFill>
                <a:latin typeface="Calibri"/>
              </a:rPr>
              <a:t>AG-UI · Hashbrown · A2UI ·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One library. Three protocols. Microfrontend-native.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577840"/>
            <a:ext cx="10911535" cy="16459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PREPARED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41821"/>
                </a:solidFill>
                <a:latin typeface="Calibri"/>
              </a:rPr>
              <a:t>Senior executives  ·  Solution architects  ·  Developers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2AAB6"/>
                </a:solidFill>
                <a:latin typeface="Calibri"/>
              </a:rPr>
              <a:t>Q2 2026 release  ·  v1.0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What you'll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The shift. </a:t>
            </a:r>
            <a:r>
              <a:rPr sz="1600">
                <a:solidFill>
                  <a:srgbClr val="141821"/>
                </a:solidFill>
                <a:latin typeface="Calibri"/>
              </a:rPr>
              <a:t>Why agentic UIs are the next interface paradigm — and the protocol problem nobody owns.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Three protocols. </a:t>
            </a:r>
            <a:r>
              <a:rPr sz="1600">
                <a:solidFill>
                  <a:srgbClr val="141821"/>
                </a:solidFill>
                <a:latin typeface="Calibri"/>
              </a:rPr>
              <a:t>AG-UI, Hashbrown, A2UI — origin, model, fit, gaps.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One library. </a:t>
            </a:r>
            <a:r>
              <a:rPr sz="1600">
                <a:solidFill>
                  <a:srgbClr val="141821"/>
                </a:solidFill>
                <a:latin typeface="Calibri"/>
              </a:rPr>
              <a:t>@maverick/agentic-ui — 13 registries, MFE-native, MCP-ready, telemetry-instrumented.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Working examples. </a:t>
            </a:r>
            <a:r>
              <a:rPr sz="1600">
                <a:solidFill>
                  <a:srgbClr val="141821"/>
                </a:solidFill>
                <a:latin typeface="Calibri"/>
              </a:rPr>
              <a:t>demo-monolith, demo-shell + remotes, demo-multi-agent, demo-ediscovery — all in this repo.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Decision frameworks. </a:t>
            </a:r>
            <a:r>
              <a:rPr sz="1600">
                <a:solidFill>
                  <a:srgbClr val="141821"/>
                </a:solidFill>
                <a:latin typeface="Calibri"/>
              </a:rPr>
              <a:t>Protocol matrix, when-to-use guide, persona-by-persona benefit map.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Roadmap &amp; CTA. </a:t>
            </a:r>
            <a:r>
              <a:rPr sz="1600">
                <a:solidFill>
                  <a:srgbClr val="141821"/>
                </a:solidFill>
                <a:latin typeface="Calibri"/>
              </a:rPr>
              <a:t>Where it's going through v1.0 — and where you can plug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From chatbots to agentic UIs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515258" cy="54864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B7380"/>
                </a:solidFill>
                <a:latin typeface="Calibri"/>
              </a:rPr>
              <a:t>Yesterday — chatbots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Text-only conversation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Apps wired to LLMs as a fancy autocomplete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Hand-coded handlers per use case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No structured affordances — every flow re-debated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8218" y="1554480"/>
            <a:ext cx="3515258" cy="54864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2243D"/>
                </a:solidFill>
                <a:latin typeface="Calibri"/>
              </a:rPr>
              <a:t>Today — agentic 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Tool-call protocols (AG-UI / Hashbrown / A2UI)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UI: LLM emits widgets, host renders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Multi-agent orchestration with sticky routing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for analyst workstations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6356" y="1554480"/>
            <a:ext cx="3515258" cy="54864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4956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Tomorrow — agent-native apps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UI itself is plug-in registry data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Federated remotes contribute capabilities mid-session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Audit-grade observability across LLM ↔ tool ↔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Persona-scoped governance baked 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LLM-native tool calling matured. </a:t>
            </a:r>
            <a:r>
              <a:rPr sz="1400">
                <a:solidFill>
                  <a:srgbClr val="141821"/>
                </a:solidFill>
                <a:latin typeface="Calibri"/>
              </a:rPr>
              <a:t>OpenAI, Anthropic, Google, Mistral all ship structured tool calls. Quality and latency now meet enterprise bars.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Three competing protocols emerged. </a:t>
            </a:r>
            <a:r>
              <a:rPr sz="1400">
                <a:solidFill>
                  <a:srgbClr val="141821"/>
                </a:solidFill>
                <a:latin typeface="Calibri"/>
              </a:rPr>
              <a:t>AG-UI from CopilotKit, Hashbrown from Liquid Frontiers, A2UI from a multi-vendor consortium. Each is the leader in a slice.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MCP standardised the server side. </a:t>
            </a:r>
            <a:r>
              <a:rPr sz="1400">
                <a:solidFill>
                  <a:srgbClr val="141821"/>
                </a:solidFill>
                <a:latin typeface="Calibri"/>
              </a:rPr>
              <a:t>Anthropic's Model Context Protocol made tool definitions portable across analyst workstations (Claude Desktop, Cursor, Zed).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Generative UI moved past PoC. </a:t>
            </a:r>
            <a:r>
              <a:rPr sz="1400">
                <a:solidFill>
                  <a:srgbClr val="141821"/>
                </a:solidFill>
                <a:latin typeface="Calibri"/>
              </a:rPr>
              <a:t>LLMs reliably emit JSON specifying widget + props; Angular signals + dynamic component loader make rendering trivial.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 industries are catching up. </a:t>
            </a:r>
            <a:r>
              <a:rPr sz="1400">
                <a:solidFill>
                  <a:srgbClr val="141821"/>
                </a:solidFill>
                <a:latin typeface="Calibri"/>
              </a:rPr>
              <a:t>Legal, healthcare, finance — all need defensible audit trails. The agentic UI substrate has to ship them by default.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Three protocols, one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By CopilotKit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Streaming via SSE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Lifecycle + tool-call events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via show-component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Mature client implementation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server-driven agent flows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645920"/>
            <a:ext cx="356616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By Liquid Frontiers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UI-generation streams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Widget + props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Multi-provider (OpenAI, Google)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Lighter than AG-UI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rapid generative-UI demos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64592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A2UI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By Multi-vendor consortium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event 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Agent drives the whole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Action-driven (not just tool-driven)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Spec still evolving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agent-driven nav +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2243D"/>
                </a:solidFill>
                <a:latin typeface="Calibri"/>
              </a:rPr>
              <a:t>@maverick/agentic-ui — one AgenticBackend abstraction; chat shell, registries, and widgets stay protocol-agnostic.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protocol for agent ↔ UI communication, originated by CopilotKit.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Transport-agnostic. </a:t>
            </a:r>
            <a:r>
              <a:rPr sz="1300">
                <a:solidFill>
                  <a:srgbClr val="141821"/>
                </a:solidFill>
                <a:latin typeface="Calibri"/>
              </a:rPr>
              <a:t>SSE in practice; WebSocket and plain HTTP also valid carriers.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Message-based. </a:t>
            </a:r>
            <a:r>
              <a:rPr sz="1300">
                <a:solidFill>
                  <a:srgbClr val="141821"/>
                </a:solidFill>
                <a:latin typeface="Calibri"/>
              </a:rPr>
              <a:t>Discrete event types — RUN_STARTED, TEXT_MESSAGE_*, TOOL_CALL_*, RUN_FINISHED — not a free-form stream.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Tool-call first-class. </a:t>
            </a:r>
            <a:r>
              <a:rPr sz="1300">
                <a:solidFill>
                  <a:srgbClr val="141821"/>
                </a:solidFill>
                <a:latin typeface="Calibri"/>
              </a:rPr>
              <a:t>Distinguishes server-side tools (run on the agent host) from client-side tools (run in the browser).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Generative UI by convention. </a:t>
            </a:r>
            <a:r>
              <a:rPr sz="1300">
                <a:solidFill>
                  <a:srgbClr val="141821"/>
                </a:solidFill>
                <a:latin typeface="Calibri"/>
              </a:rPr>
              <a:t>Reserved show-component tool whose result tells the host which registered widget to render.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Reference implementation. </a:t>
            </a:r>
            <a:r>
              <a:rPr sz="1300">
                <a:solidFill>
                  <a:srgbClr val="141821"/>
                </a:solidFill>
                <a:latin typeface="Calibri"/>
              </a:rPr>
              <a:t>@ag-ui/client — the runUntilSettled loop + HttpAgent SSE adapter — is the canonical client.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Adoption. </a:t>
            </a:r>
            <a:r>
              <a:rPr sz="1300">
                <a:solidFill>
                  <a:srgbClr val="141821"/>
                </a:solidFill>
                <a:latin typeface="Calibri"/>
              </a:rPr>
              <a:t>CopilotKit, AG-UI Studio, multiple Mastra-based agent backends, several Angular and React reference apps.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Event timeline — one chat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Time flows left → right. Pills are the events on the wire; vertical position groups them by class.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5852160"/>
            <a:ext cx="10545775" cy="0"/>
          </a:xfrm>
          <a:prstGeom prst="line">
            <a:avLst/>
          </a:prstGeom>
          <a:ln w="15240">
            <a:solidFill>
              <a:srgbClr val="E3E5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71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1.2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3.4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LIFECYCLE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RUN_STARTED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416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RUN_FINISHED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337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TOOL CALL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CALL_START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63840" y="3383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3383280"/>
            <a:ext cx="9144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ARGS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33832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0" y="338328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CALL_END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4128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RESULT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GENERATIVE UI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4023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4023360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WIDGET_RENDER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6177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POST-TOOL TEXT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698480" y="46634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0" y="4663440"/>
            <a:ext cx="10972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371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657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152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9728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Adapter @maverick/agentic-ui/ag-ui maps each event 1:1 onto the AgenticEvent union.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Capabilities &amp; where it 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4864" cy="457200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Cleanest event model of the three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Server-side tool execution baked 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SSE — proxies and CDNs handle it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Mature CopilotKit + Mastra ecosystem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Trace-friendly: each event is a structured record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Best fit for compliance / audit / regulated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554480"/>
            <a:ext cx="54864" cy="457200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48221"/>
                </a:solidFill>
                <a:latin typeface="Calibri"/>
              </a:rPr>
              <a:t>Trade-offs /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Heavier than Hashbrown — more events to handle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/ agent-driven nav not in core spec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is via convention, not a first-class event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No standard form schema — apps roll their own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adapter still required (we provide 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framework from Liquid Frontiers focused on generative UI and tool-calling.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UI-generation native. </a:t>
            </a:r>
            <a:r>
              <a:rPr sz="1300">
                <a:solidFill>
                  <a:srgbClr val="141821"/>
                </a:solidFill>
                <a:latin typeface="Calibri"/>
              </a:rPr>
              <a:t>Hashbrown's streams emit component + props directly — no show-component shim required.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Multi-provider out of the box. </a:t>
            </a:r>
            <a:r>
              <a:rPr sz="1300">
                <a:solidFill>
                  <a:srgbClr val="141821"/>
                </a:solidFill>
                <a:latin typeface="Calibri"/>
              </a:rPr>
              <a:t>OpenAI, Google, and Anthropic — swap providers via a config flag.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Smaller surface than AG-UI. </a:t>
            </a:r>
            <a:r>
              <a:rPr sz="1300">
                <a:solidFill>
                  <a:srgbClr val="141821"/>
                </a:solidFill>
                <a:latin typeface="Calibri"/>
              </a:rPr>
              <a:t>Fewer event types; lifecycle is implicit in stream open/close.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React-first heritage. </a:t>
            </a:r>
            <a:r>
              <a:rPr sz="1300">
                <a:solidFill>
                  <a:srgbClr val="141821"/>
                </a:solidFill>
                <a:latin typeface="Calibri"/>
              </a:rPr>
              <a:t>Original target was React; Angular adapter is recent. Our wrapper makes it idiomatic for either.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Schema-driven UI generation. </a:t>
            </a:r>
            <a:r>
              <a:rPr sz="1300">
                <a:solidFill>
                  <a:srgbClr val="141821"/>
                </a:solidFill>
                <a:latin typeface="Calibri"/>
              </a:rPr>
              <a:t>Zod-based component schemas anchor the LLM's structured output.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Best fit. </a:t>
            </a:r>
            <a:r>
              <a:rPr sz="1300">
                <a:solidFill>
                  <a:srgbClr val="141821"/>
                </a:solidFill>
                <a:latin typeface="Calibri"/>
              </a:rPr>
              <a:t>Rapid prototypes, demo-heavy generative UI, multi-LLM A/B comparisons.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Features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1051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1051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ui-stream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85623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Emits widget + props natively — no shim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68296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48716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text-stream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532888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Token-level text deltas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44952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16382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tool-stream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09544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Function-call args + results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21608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8404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404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provider-mux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886200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Switch OpenAI ↔ Google ↔ Anthropic at runtime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98264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1713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schema-anchor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562856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Zod schemas anchor structured LLM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19379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9379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react-bridge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23951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First-class React; Angular via wrapper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Hashbrown vs AG-UI — when to pick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Hashbrown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276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Lifecycle clarity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Implicit (stream open/close)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Explicit (RUN_STARTED/FINISHED)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057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05740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15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Generative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1518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Native (UI-stream)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1518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Convention (show-component)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609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66090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Audit-grade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186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Needs work — synth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186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Drop-in — events are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644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3264408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22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Time-to-first-prompt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82219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Hours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221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Day or two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86791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3867912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Multi-provider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2569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Built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2569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per provider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471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471416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Server-side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29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needed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First-class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5074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50749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327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Spec stability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563270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Smaller surface · stable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63270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Larger surface · stable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5678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567842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6B7380"/>
                </a:solidFill>
                <a:latin typeface="Calibri"/>
              </a:rPr>
              <a:t>Tie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02–03 ·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AG-UI vs Hashbrown — when and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11535" cy="777240"/>
          </a:xfrm>
          <a:prstGeom prst="roundRect">
            <a:avLst>
              <a:gd name="adj" fmla="val 2000"/>
            </a:avLst>
          </a:prstGeom>
          <a:solidFill>
            <a:srgbClr val="ECF1F6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45720" cy="7772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THIS DEMO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933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41821"/>
                </a:solidFill>
                <a:latin typeface="Calibri"/>
              </a:rPr>
              <a:t>AG-UI for the eDiscovery reference — picked for streaming SSE, explicit lifecycle events, and audit-grade event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5272887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80"/>
            <a:ext cx="45720" cy="32918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  <a:latin typeface="Calibri"/>
              </a:rPr>
              <a:t>AG-UI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0040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by CopilotKit · streaming · lifecycle-typed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PICK WHEN…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840480"/>
            <a:ext cx="481568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Audit and compliance bars (legal-tech, healthcare, finance)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Server-side tool catalog managed by a separate team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Mature multi-agent orchestrator (sticky routing)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SSE traverses your existing CDN / proxy stack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Need to trace runs end-to-end through 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697480"/>
            <a:ext cx="5272887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2697480"/>
            <a:ext cx="45720" cy="3291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48221"/>
                </a:solidFill>
                <a:latin typeface="Calibri"/>
              </a:rPr>
              <a:t>HASHBROWN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320040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by Liquid Frontiers · ui-stream native · multi-provider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PICK WHEN…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3840480"/>
            <a:ext cx="481568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Rapid prototyping — generative UI in a day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Multi-provider eval (OpenAI / Anthropic / Google switch)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UI-generation is the dominant agent output (not tool calls)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Lighter event surface — fewer adapter checks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Audit grade can be deferred to a later sprint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Both implement the same `AgenticBackend` interface — swapping protocols leaves the chat shell, registries, and widgets untouched.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Protocols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Agent-driven UI — ui-action as a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A2UI lifts the agent from 'calls tools' to 'drives the whole UI'.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8221"/>
                </a:solidFill>
                <a:latin typeface="Calibri"/>
              </a:rPr>
              <a:t>Distinguishing event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109115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type: 'ui-action',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actionId: 'a-7f2e',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op: 'navigate',          // or 'applyTag', 'fillForm', 'openDrawer',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payload: { path: '/documents', queryParams: { id: 'DOC-1234' } }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Where it shines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115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Agent navigates to a route after a tool call settles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Form-fill flows where the agent populates fields the user verifies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State mutations dispatched into NgRx / Redux without a separate tool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Cross-MFE coordination — one remote raises an action a different remote handles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a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Three protocols, four bundlers, two MFE runtimes, and an MCP transport — that's not a library, that's a forklift.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8332A"/>
                </a:solidFill>
                <a:latin typeface="Calibri"/>
              </a:rPr>
              <a:t>What you'd build without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chat shell, three times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Hand-rolled tool registry, ad hoc per app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Bespoke MFE federation glue for each remote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scaffolding from scratch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stitched in late, never quite consistent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Schematics: none — every team retypes the bootstrap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212080" cy="40233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423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What @maverick/agentic-ui 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88036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One AgenticBackend interface — three adapters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13 typed registries, one base class, signal-backed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Native + Module Federation, both first-class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@maverick/agentic-ui-mcp wraps tools as MCP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OTel-instrumented from M1; default no-op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ng add scaffolds an entire app in one command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Architecture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7772400" cy="45720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BROWSER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Sidebar nav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Routed pages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971800"/>
            <a:ext cx="7223760" cy="1097280"/>
          </a:xfrm>
          <a:prstGeom prst="roundRect">
            <a:avLst>
              <a:gd name="adj" fmla="val 3000"/>
            </a:avLst>
          </a:prstGeom>
          <a:solidFill>
            <a:srgbClr val="ECF1F6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2243D"/>
                </a:solidFill>
                <a:latin typeface="Calibri"/>
              </a:rPr>
              <a:t>REGISTRY LAYER · 13 typed registries · signal-backed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Capability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Backend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48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DataSource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Persistence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Layout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Schema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AgUiBackend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6804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6804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HashbrownBackend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2168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2168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A2uiBackend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12064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All pushed events also flow into AgenticTelemetrySink / AgenticLogger.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1554480"/>
            <a:ext cx="2864815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86800" y="1554480"/>
            <a:ext cx="54864" cy="146304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0" y="16916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Federation runtime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011680"/>
            <a:ext cx="25904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Native Federation
· esbuild-native
· @angular-architects
Module Federation
· webpack peer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0" y="3154680"/>
            <a:ext cx="2864815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86800" y="3154680"/>
            <a:ext cx="54864" cy="12801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9680" y="32918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Agent server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3611880"/>
            <a:ext cx="25904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Mastra · Gemini · OpenAI
AG-UI SSE route
ThreadStateStore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86800" y="4572000"/>
            <a:ext cx="2864815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686800" y="4572000"/>
            <a:ext cx="54864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69680" y="46634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956048"/>
            <a:ext cx="25904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Same ToolDef
Claude Desktop / Cursor
Text/html;profile=mcp-app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3294888.0" y="3794760"/>
            <a:ext cx="5391912.0" cy="91440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979920.0" y="4937760"/>
            <a:ext cx="1706880.0" cy="13716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8366760" y="2286000"/>
            <a:ext cx="320040" cy="123444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2243D"/>
                </a:solidFill>
                <a:latin typeface="Calibri"/>
              </a:rPr>
              <a:t>One library · three protocols · two federation paths · MCP for analyst desktops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05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End-to-end picture — one prompt, all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User types a prompt → arrows show every hop until widgets land back in the chat.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BROWSER · ANGULAR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69748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User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2461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7947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injectAgenticChat()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3434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keywordToolFilter (top-12)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8920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AgUiBackend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44068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4068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ToolRegistry · ComponentRegistry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0138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AGENT SERVER · NODE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8738" y="29718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738" y="29718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/agents/coordinator/run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8738" y="35204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738" y="35204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OrchestratorAgent (router)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88738" y="4069079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738" y="4069079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Specialist (review/production/…)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88738" y="46177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8738" y="46177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GeminiAgent · system prompt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8738" y="51663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738" y="51663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ThreadStateStore (sticky)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5876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3036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LLM PROVIDER · GEMINI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1636" y="31089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1636" y="31089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gemini-2.5-flash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71636" y="37490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1636" y="37490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Tool-call schema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71636" y="43891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1636" y="43891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Streamed completion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1636" y="50292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71636" y="50292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Generative-UI components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412949.166666667" y="3108960"/>
            <a:ext cx="0.0" cy="13716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12949.166666667" y="365760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412949.166666667" y="420624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78709.166666667" y="4549140"/>
            <a:ext cx="0.0" cy="891540"/>
          </a:xfrm>
          <a:prstGeom prst="line">
            <a:avLst/>
          </a:prstGeom>
          <a:ln w="12700">
            <a:solidFill>
              <a:srgbClr val="356B88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412949.166666667" y="475488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140098.3333333335" y="3268980"/>
            <a:ext cx="548640.0000000005" cy="1828800"/>
          </a:xfrm>
          <a:prstGeom prst="line">
            <a:avLst/>
          </a:prstGeom>
          <a:ln w="254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5847.500000001" y="3383280"/>
            <a:ext cx="0.0" cy="13716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5847.500000001" y="3931920"/>
            <a:ext cx="0.0" cy="137159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095847.500000001" y="4480560"/>
            <a:ext cx="0.0" cy="13716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822996.666666668" y="3177540"/>
            <a:ext cx="548640.0" cy="1645920"/>
          </a:xfrm>
          <a:prstGeom prst="line">
            <a:avLst/>
          </a:prstGeom>
          <a:ln w="2540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7822996.666666668" y="4823460"/>
            <a:ext cx="548640.0" cy="41148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4140098.3333333335" y="4274820"/>
            <a:ext cx="548640.0000000005" cy="82296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640080" y="6355080"/>
            <a:ext cx="10911535" cy="41148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LEGEND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11680" y="6556248"/>
            <a:ext cx="4572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60320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Request path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93776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66360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Response · widgets · text deltas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0" y="6556248"/>
            <a:ext cx="137160" cy="2286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12480" y="6556248"/>
            <a:ext cx="137160" cy="2286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4108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Registry read · DI cross-cut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13 registries — hub &amp; spokes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All 13 implement one Registry&lt;TDef&gt; interface — same MFE-aware teardown, same signal contract, same conformance test surface.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1447" y="3657600"/>
            <a:ext cx="1828800" cy="91440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1447" y="36576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7F5"/>
                </a:solidFill>
                <a:latin typeface="Calibri"/>
              </a:rPr>
              <a:t>Registry&lt;TDef&gt;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5229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5229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3153869.1370904273" y="2880493.52037552"/>
            <a:ext cx="2941978.3629095727" cy="1234306.47962448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924150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24150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4472790.51815008" y="2374471.5350207426"/>
            <a:ext cx="1623056.98184992" cy="1740328.4649792574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47207" y="2029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47207" y="2029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Capability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6095847.499999999" y="2194560.0"/>
            <a:ext cx="9.313225746154785e-10" cy="1920240.0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70264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0264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Backend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095847.5" y="2374471.5350207435"/>
            <a:ext cx="1074416.9818499219" cy="1740328.4649792565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89185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89185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Mfe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6095847.5" y="2880493.520375519"/>
            <a:ext cx="2393338.362909572" cy="1234306.479624481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56078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6078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5847.5" y="4160520"/>
            <a:ext cx="3608870.716275865" cy="611040.7600196823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89185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89185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5847.5" y="4160520"/>
            <a:ext cx="2941978.362909572" cy="1188586.47962448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46744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744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.5" y="4160520"/>
            <a:ext cx="1920240.0" cy="1617256.6213630307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214099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4099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DataSource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.5" y="4160520"/>
            <a:ext cx="666892.353366293" cy="1845347.2396441624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880315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80315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428955.146633707" y="4160520"/>
            <a:ext cx="666892.353366293" cy="1845347.2396441624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62696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2696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Persistence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4175607.500000001" y="4160520"/>
            <a:ext cx="1920239.999999999" cy="1617256.6213630307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605229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05229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Layout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153869.137090428" y="4160520"/>
            <a:ext cx="2941978.362909572" cy="1188586.47962448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938336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38336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Schema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2486976.783724135" y="4160520"/>
            <a:ext cx="3608870.716275865" cy="611040.7600196823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4008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Core (M1–M3)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340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Extended (M4–M5)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Seams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Capability handoff — sequence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Host shell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80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MfeRegistry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66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Federation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6092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Remote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4672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Registries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24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54480" y="2423160"/>
            <a:ext cx="21031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21305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discover(env)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554480" y="2788920"/>
            <a:ext cx="2103120" cy="0"/>
          </a:xfrm>
          <a:prstGeom prst="line">
            <a:avLst/>
          </a:prstGeom>
          <a:ln w="1524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24963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RemoteSpec[]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54480" y="3246120"/>
            <a:ext cx="429768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20" y="29535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loadRemoteCapabilities({remote, loader})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52160" y="3611880"/>
            <a:ext cx="219456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20640" y="33192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import './Capability'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20" y="3977639"/>
            <a:ext cx="2377440" cy="0"/>
          </a:xfrm>
          <a:prstGeom prst="line">
            <a:avLst/>
          </a:prstGeom>
          <a:ln w="1524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06640" y="368503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module.apply(injector)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424160" y="4434840"/>
            <a:ext cx="54864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972800" y="4434840"/>
            <a:ext cx="0" cy="18288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0469880" y="4617720"/>
            <a:ext cx="50292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064240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registerAll(tools, components)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554480" y="4892040"/>
            <a:ext cx="886968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160520" y="45994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next chat turn → ToolRegistry.signal()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54480" y="5349240"/>
            <a:ext cx="54864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03120" y="5349240"/>
            <a:ext cx="0" cy="18288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600200" y="5532120"/>
            <a:ext cx="5029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user prompt fires; agent sees new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380"/>
                </a:solidFill>
                <a:latin typeface="Calibri"/>
              </a:rPr>
              <a:t>Each remote is another row in this sequence — registries are the single seam every remote writes through.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handler, three surfaces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The same ToolDef literal powers the chat shell, the MCP server (Claude Desktop / Cursor), and the standalone-mode UI inside each remote — without any code duplication.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429000"/>
            <a:ext cx="3291840" cy="1188720"/>
          </a:xfrm>
          <a:prstGeom prst="roundRect">
            <a:avLst>
              <a:gd name="adj" fmla="val 4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49927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CF1F6"/>
                </a:solidFill>
                <a:latin typeface="Calibri"/>
              </a:rPr>
              <a:t>ToolDef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9927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nlo"/>
              </a:rPr>
              <a:t>agenticTool({ name, schema, handler 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9927" y="4206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CF1F6"/>
                </a:solidFill>
                <a:latin typeface="Calibri"/>
              </a:rPr>
              <a:t>single source of truth · framework-agnostic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2377440"/>
            <a:ext cx="2011680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&lt;mvk-chat-shell&gt;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Browser · Angular host
user ↔ LLM in-app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017520" y="3383280.0"/>
            <a:ext cx="2619618.75" cy="274320.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90007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0007" y="2377440"/>
            <a:ext cx="2011680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1447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1447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Claude Desktop · Cursor · Zed
analyst workstations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5791055.125" y="3383280.0"/>
            <a:ext cx="304792.375" cy="274320.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68335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68335" y="2377440"/>
            <a:ext cx="201168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9775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F6F4F"/>
                </a:solidFill>
                <a:latin typeface="Calibri"/>
              </a:rPr>
              <a:t>Standalone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9775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Visit :4302 / :4303 directly
technical sanity check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5944971.5" y="3383280.0"/>
            <a:ext cx="3229203.5" cy="274320.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828800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Tool result · widgets · markdown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017520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41367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41367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MCP UI blocks (text/html)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730087.5" y="4663440.0"/>
            <a:ext cx="347472.0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985455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85455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Same handler, same audit entry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49763.875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AgenticBackend — the abstraction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3383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3721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interface AgenticBackend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id: string;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capabilities: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streaming: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clientTools: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generativeUi: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uiActions: boolean;     // A2UI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run(input: AgenticRunInput): AsyncIterable&lt;AgenticEvent&gt;;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reset?(threadId: string): Promise&lt;void&gt;;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12 events: run-started, text-delta, tool-call-*, widget-render, ui-action,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type AgenticEvent =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'run-started'; threadId: string; runId: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'text-delta'; messageId: string; delta: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'tool-call-result'; toolCallId: string; result: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'widget-render'; widgetCallId: string; name: string; props: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'ui-action'; actionId: string; op: string; payload: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…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63D49"/>
                </a:solidFill>
                <a:latin typeface="Calibri"/>
              </a:rPr>
              <a:t>The chat shell sees ONLY this surface. AgUiBackend, HashbrownBackend, A2uiBackend implement it — capability flags drive feature-detection in the 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Microfrontend federation — capability handoff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Discover. </a:t>
            </a:r>
            <a:r>
              <a:rPr sz="1300">
                <a:solidFill>
                  <a:srgbClr val="141821"/>
                </a:solidFill>
                <a:latin typeface="Calibri"/>
              </a:rPr>
              <a:t>MfeRegistryClient.discover(env) — Spring Boot or static-JSON adapter.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Lazy-load. </a:t>
            </a:r>
            <a:r>
              <a:rPr sz="1300">
                <a:solidFill>
                  <a:srgbClr val="141821"/>
                </a:solidFill>
                <a:latin typeface="Calibri"/>
              </a:rPr>
              <a:t>loadRemoteModule({ remoteName, exposedModule: './Capability' }).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Register. </a:t>
            </a:r>
            <a:r>
              <a:rPr sz="1300">
                <a:solidFill>
                  <a:srgbClr val="141821"/>
                </a:solidFill>
                <a:latin typeface="Calibri"/>
              </a:rPr>
              <a:t>Remote's defineCapabilityModule pushes into ToolRegistry / ComponentRegistry / ActionRegistry.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Teardown. </a:t>
            </a:r>
            <a:r>
              <a:rPr sz="1300">
                <a:solidFill>
                  <a:srgbClr val="141821"/>
                </a:solidFill>
                <a:latin typeface="Calibri"/>
              </a:rPr>
              <a:t>removeBySource('remote:bookings') runs across every registry in one pass; signals notify subscribers.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2243D"/>
                </a:solidFill>
                <a:latin typeface="Calibri"/>
              </a:rPr>
              <a:t>Native Federation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@angular-architects/native-federation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esbuild-compatible — Angular CLI default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Smaller bundle, faster cold start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8221"/>
                </a:solidFill>
                <a:latin typeface="Calibri"/>
              </a:rPr>
              <a:t>Module Federation (peer)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@module-federation/runtime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webpack — for teams already on it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Same CapabilityModule format · same capabilities.json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MCP integration — analyst workstation reach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@maverick/agentic-ui-mcp — the same ToolDefs power Claude Desktop, Cursor, 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911535" cy="31089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One handler, multiple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agenticTool({ ... }) — same factory the chat shell uses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mcpToolBridge(tools) — exposes them as an MCP server with a Node binary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 UI: tool results carry html field → text/html;profile=mcp-app blocks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Per-user MCP server pattern — beforeCall stub auth → real OIDC swap-in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Cookbook: paralegal privilege review in Claude Desktop using the eDiscovery toolset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Result: agents that work in your web app AND in your analysts' IDE — same audit trail, same governance.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Observability — OTel from M1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Distributed tracing for chat shell → backend → SSE route → agent → LLM → tool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0911535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Span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Key 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thread_id, run_id, backend.id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004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agentic.backend.stream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http.url, http.status_code, traceparent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agentic.tool_call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033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tool.name, tool.source, success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206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agentic.federation.load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06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remote_name, version, federation, load_ms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091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agentic.registry.register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7091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09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registry.name,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W3C traceparent propagated across the SSE boundary — one trace covers UI to 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Schematics — ng add → fully wired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@maverick/agentic-ui-schematics — six generators ship with the package.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11535" cy="228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$ ng add @maverick/agentic-ui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--backend=ag-ui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--mfe=host --federation=native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--registry=spring-boot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--server=mastra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--telemetry=otel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Patches app.config.ts · seeds tools/widgets · scaffolds federation ·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wires Mastra agent server · adds OTel collector 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Per-artefact generators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115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…:tool </a:t>
            </a:r>
            <a:r>
              <a:rPr sz="1200">
                <a:solidFill>
                  <a:srgbClr val="141821"/>
                </a:solidFill>
                <a:latin typeface="Calibri"/>
              </a:rPr>
              <a:t>*.tool.ts with Zod schema scaffold; auto-registers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…:widget </a:t>
            </a:r>
            <a:r>
              <a:rPr sz="1200">
                <a:solidFill>
                  <a:srgbClr val="141821"/>
                </a:solidFill>
                <a:latin typeface="Calibri"/>
              </a:rPr>
              <a:t>Standalone component + Zod props schema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…:backend </a:t>
            </a:r>
            <a:r>
              <a:rPr sz="1200">
                <a:solidFill>
                  <a:srgbClr val="141821"/>
                </a:solidFill>
                <a:latin typeface="Calibri"/>
              </a:rPr>
              <a:t>Custom AgenticBackend with FakeAgenticBackend test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…:mfe-capability </a:t>
            </a:r>
            <a:r>
              <a:rPr sz="1200">
                <a:solidFill>
                  <a:srgbClr val="141821"/>
                </a:solidFill>
                <a:latin typeface="Calibri"/>
              </a:rPr>
              <a:t>Federation expose + capabilities.json manifest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…:agent-server </a:t>
            </a:r>
            <a:r>
              <a:rPr sz="1200">
                <a:solidFill>
                  <a:srgbClr val="141821"/>
                </a:solidFill>
                <a:latin typeface="Calibri"/>
              </a:rPr>
              <a:t>Mastra agent + AG-UI SSE route + memory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…:chat-shell </a:t>
            </a:r>
            <a:r>
              <a:rPr sz="1200">
                <a:solidFill>
                  <a:srgbClr val="141821"/>
                </a:solidFill>
                <a:latin typeface="Calibri"/>
              </a:rPr>
              <a:t>Routed component using &lt;mvk-chat-shell&gt;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Five demos in this 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Library features exercised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demo-monolith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Single-app AG-UI parity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057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M1 baseline · same shape as flights42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demo-feature-tour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7063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All 13 registries in one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770632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ActionRegistry, FormRegistry, IntentRegistry, DataSource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483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demo-shell + remotes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83864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Native Federation host + bookings/loyalty/support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48386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Capability handoff · prefetchCapabilities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1970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demo-multi-agent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97096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OrchestratorAgent + specialists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19709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Sticky routing · ThreadStateStore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demo-mcp-server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10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Tools as MCP 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91032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Claude Desktop · MCP UI · per-user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demo-ediscovery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6235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Enterprise reference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62356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Federated review remote · audit trail · 5 personas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An enterprise reference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A federated eDiscovery shell — the demo we use to validate every library feature against a recognisable, regulated, complex domain.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phases shipped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8963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6123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tools · 4 specialists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5006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3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5006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MFE remotes + MCP server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6729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3889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3889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registries exercised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15612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772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C48221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2772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tamper-evident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WHAT THE DEMO SHIPS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Custodian intake · legal-hold lifecycle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Document review with privilege workflow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Production assembly: create → bates → export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Search + TAR classifier across the matter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Tamper-evident chain-of-custody report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MCP server for Claude Desktop / Cursor / Zed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Persona-scoped tool surface (5 roles)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LIBRARY SEAMS PUT TO 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8727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ToolRegistry · ComponentRegistry · CapabilityRegistry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ActionRegistry — click-through navigation from widgets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FormRegistry — productionConfigForm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ValidationRegistry — Bates pattern conformance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DataSourceRegistry — pluggable documentIndex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— every tool call audit-logged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eDiscovery — production chain (Phase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prompt drives a 4-step chained tool call · each step renders its own widget · ActionRegistry navigates on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590723" cy="45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enlo"/>
              </a:rPr>
              <a:t>createProductionSet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scope filter · format · Bates pattern
Validation: pattern conformance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→ productionSummary widget
   status: draft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30803.75" y="3063240.0"/>
            <a:ext cx="164592.0" cy="0.0"/>
          </a:xfrm>
          <a:prstGeom prst="line">
            <a:avLst/>
          </a:prstGeom>
          <a:ln w="254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13683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3683" y="2011680"/>
            <a:ext cx="2590723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96563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6563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3763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Menlo"/>
              </a:rPr>
              <a:t>redactDocument*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6563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page · bbox · reason
(* optional, repeatable)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96563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8003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2243D"/>
                </a:solidFill>
                <a:latin typeface="Calibri"/>
              </a:rPr>
              <a:t>→ redactionEditor widget
   canvas overlay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04407.5" y="3063240.0"/>
            <a:ext cx="164592.0" cy="0.0"/>
          </a:xfrm>
          <a:prstGeom prst="line">
            <a:avLst/>
          </a:prstGeom>
          <a:ln w="2540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7287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7287" y="2011680"/>
            <a:ext cx="2590723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70167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367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Menlo"/>
              </a:rPr>
              <a:t>assignBatesNumbers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stamp sequential ids per pattern
start = 1 (default)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0167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1607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→ batesPreview + summary
   status: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778011.25" y="3063240.0"/>
            <a:ext cx="164592.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60891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0891" y="2011680"/>
            <a:ext cx="2590723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3771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3771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0971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Menlo"/>
              </a:rPr>
              <a:t>exportProductionSet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3771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deliver: true (irreversible)
requires audit reason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3771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211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→ productionSummary
   status: delivered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389120"/>
            <a:ext cx="10911535" cy="12801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Library seams exercised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ToolRegistry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4 tools registered via federation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19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17719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ComponentRegistry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39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3 widgets contributed by remote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66758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58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FormRegistry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78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productionConfigForm — schema-driven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8680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ValidationRegistry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0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Bates pattern conformance check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17719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17719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ActionRegistry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39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openProduction — click-to-navigate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58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58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Audit log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7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every step appends an event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1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2AAB6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1 — user prompt fires. Tool filter scores 17 tools, sends top 12 to Gemini.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2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2AAB6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2 — orchestrator classifies and routes the run to the production specialist.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3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3 — specialist returns a tool call. Handler runs; audit event lands in the chain.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4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4 — widget renders below the assistant message. Round-trip complete.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Chain of custody — every action, every actor, hashed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 5. Each tool call writes one audit event; each event links to the previous via a chain hash. Tampering anywhere in the chain breaks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#1 — issued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eleanor.vance@firm
action: hold.issued
target: HOLD-001
ts:     2026-02-16T14:00Z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0000…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a3f8d2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3383280.0"/>
            <a:ext cx="27432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0624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#2 — tagged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paralegal-1@firm
action: document.tag.added
target: DOC-7891234
ts:     2026-04-21T09:14Z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a3f8d2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b7e1f4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0" y="3383280.0"/>
            <a:ext cx="27432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77240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#3 — exported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associate-2@firm
action: production.delivered
target: PROD-A1B2
ts:     2026-04-30T16:55Z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b7e1f4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c2d5a1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72000"/>
            <a:ext cx="10911535" cy="77724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572000"/>
            <a:ext cx="54864" cy="77724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690872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✓  CHAIN VERIFIED — 3 of 3 hashes recompute · head c2d5a1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98348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If any event were edited or deleted, the next event's `prev` link would fail to recompute and the integrity badge on the Audit Trail page would flip to broken.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WHY THIS MATTERS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907024"/>
            <a:ext cx="10881360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504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Defensibility is the unit of trust opposing counsel and regulators measure. The chain is built into every tool call — Claude Desktop and the web app both contribute to the same chain. No second system to reconcile.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07 · MCP 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toolset. Three surfaces. One audit log.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 6. Paralegals run privilege review from Claude Desktop / Cursor / Zed without opening the web app — same handlers, same audit chain (Phase 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1367" y="3520440"/>
            <a:ext cx="3108960" cy="10058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35204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CF1F6"/>
                </a:solidFill>
                <a:latin typeface="Calibri"/>
              </a:rPr>
              <a:t>SHARED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37947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ToolDef[]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CF1F6"/>
                </a:solidFill>
                <a:latin typeface="Calibri"/>
              </a:rPr>
              <a:t>5 review tools · framework-agnostic literals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423160"/>
            <a:ext cx="3657600" cy="54864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2243D"/>
                </a:solidFill>
                <a:latin typeface="Calibri"/>
              </a:rPr>
              <a:t>Web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&lt;mvk-chat-shell&gt; @ :4300
NgComponentOutlet widgets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60" y="3337560"/>
            <a:ext cx="2927474.375" cy="137160.0"/>
          </a:xfrm>
          <a:prstGeom prst="line">
            <a:avLst/>
          </a:prstGeom>
          <a:ln w="1778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67047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67047" y="2423160"/>
            <a:ext cx="3657600" cy="54864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9927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8221"/>
                </a:solidFill>
                <a:latin typeface="Calibri"/>
              </a:rPr>
              <a:t>Claude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9927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Stdio MCP server
text/html;profile=mcp-app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847.5" y="3337560"/>
            <a:ext cx="0.0" cy="137160.0"/>
          </a:xfrm>
          <a:prstGeom prst="line">
            <a:avLst/>
          </a:prstGeom>
          <a:ln w="1778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11135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11135" y="2423160"/>
            <a:ext cx="3657600" cy="54864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4015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56B88"/>
                </a:solidFill>
                <a:latin typeface="Calibri"/>
              </a:rPr>
              <a:t>Cursor / 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Same MCP server
MCP-UI HTML cards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612460.625" y="3337560"/>
            <a:ext cx="2927474.375" cy="137160.0"/>
          </a:xfrm>
          <a:prstGeom prst="line">
            <a:avLst/>
          </a:prstGeom>
          <a:ln w="1778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0080" y="493776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937760"/>
            <a:ext cx="54864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074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48221"/>
                </a:solidFill>
                <a:latin typeface="Calibri"/>
              </a:rPr>
              <a:t>ONE AUDIT CHAIN — Phase 5 hash links every event regardless of surface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appendAudit(...) auto-stamps chainHash + prevHash. The chain-of-custody report covers Claude-Desktop-driven mutations and web-app-driven mutations as one.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.5" y="4526280.0"/>
            <a:ext cx="0.0" cy="411480.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0080" y="6126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WHERE IT MATTERS — analysts who already live in Claude Desktop don't switch contexts to do privilege review.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7 · MCP reach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08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Persona scopes — from consumer shim to library primitive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Phases 7 → 8. The role allow-list moved from chat-shell-only filter to a registry-base policy that filters every read.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5272887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272887" cy="54864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96312"/>
            <a:ext cx="49071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PHASE 7 · CONSUMER-SIDE SHIM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TOOL_FILTER + useFactory composition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4907127" cy="2011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463280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provide: TOOL_FILTER,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useFactory: ()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personaToolFilter(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inject(PersonaService),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keywordToolFilter({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maxTools: 12,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floor: 5,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31720"/>
            <a:ext cx="5272887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272887" cy="54864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496312"/>
            <a:ext cx="49071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PHASE 8 · LIBRARY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83464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RegistryBase.setScopePolicy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1607" y="3246120"/>
            <a:ext cx="4907127" cy="2011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3337560"/>
            <a:ext cx="463280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app.config.ts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provideAppInitializer(()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const persona = inject(PersonaService);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inject(ToolRegistry).setScopePolicy(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(entry)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persona.canInvoke(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persona.active(),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entry.name,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registries gain scope filtering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3683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0843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F6F4F"/>
                </a:solidFill>
                <a:latin typeface="Calibri"/>
              </a:rPr>
              <a:t>~30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0843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lines of consumer code deleted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4447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447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policy installs once at boot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0891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051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C48221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051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every reader sees the same 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Governance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09 · ENTERPRISE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Four phases, four governance primitives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Each row pairs a regulated-domain need with the library primitive that addresses it — already shipped.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4864" cy="795528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Tamper-evident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5 · `appendAudit` + `verifyAuditChain`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57860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Chain hash on every event · live integrity verifier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0040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54864" cy="795528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192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8221"/>
                </a:solidFill>
                <a:latin typeface="Calibri"/>
              </a:rPr>
              <a:t>Analyst-desktop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6 · `@maverick/agentic-ui-mcp`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44728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Same toolset in Claude Desktop / Cursor · same audit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6908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69080"/>
            <a:ext cx="54864" cy="7955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Persona-scoped tool surface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2628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7 · consumer-side filter, then…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31596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Hide tools the role can't invoke before the LLM ever sees them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3776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937760"/>
            <a:ext cx="54864" cy="795528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5663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Registry-wide scope 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9496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8 · `RegistryBase.setScopePolicy(policy)`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18464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13 registries (Tool / Action / Form / DataSource / …) share one filter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9 · Enterprise readiness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When to use what — a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Reach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Single-app · regulated · audit-heavy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4028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0779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Multi-provider eval · rapid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95351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953512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21024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Agent navigates / fills forms / mutates 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666744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66744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A2UI (over AG-UI 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334256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Multiple teams · independent deploys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379976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9976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MFE federation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47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Analyst desktops · IDE-native 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93208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5093208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0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Compliance +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80644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80644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Telemetry sink → audit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senior executives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Faster time-to-pilot. </a:t>
            </a:r>
            <a:r>
              <a:rPr sz="1400">
                <a:solidFill>
                  <a:srgbClr val="141821"/>
                </a:solidFill>
                <a:latin typeface="Calibri"/>
              </a:rPr>
              <a:t>ng add → working chat in 2 minutes. 6 months of in-house plumbing avoided.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Vendor agnosticism. </a:t>
            </a:r>
            <a:r>
              <a:rPr sz="1400">
                <a:solidFill>
                  <a:srgbClr val="141821"/>
                </a:solidFill>
                <a:latin typeface="Calibri"/>
              </a:rPr>
              <a:t>AG-UI today, Hashbrown tomorrow, A2UI when it ships v1 — same UI, swap the backend.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Regulated-domain ready. </a:t>
            </a:r>
            <a:r>
              <a:rPr sz="1400">
                <a:solidFill>
                  <a:srgbClr val="141821"/>
                </a:solidFill>
                <a:latin typeface="Calibri"/>
              </a:rPr>
              <a:t>Audit-grade telemetry, persona scopes, MCP for analysts — built in, not bolted 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Microfrontend native. </a:t>
            </a:r>
            <a:r>
              <a:rPr sz="1400">
                <a:solidFill>
                  <a:srgbClr val="141821"/>
                </a:solidFill>
                <a:latin typeface="Calibri"/>
              </a:rPr>
              <a:t>Multiple teams contribute capabilities into one chat — federation is a first-class seam.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Open license. </a:t>
            </a:r>
            <a:r>
              <a:rPr sz="1400">
                <a:solidFill>
                  <a:srgbClr val="141821"/>
                </a:solidFill>
                <a:latin typeface="Calibri"/>
              </a:rPr>
              <a:t>MIT. No SaaS lock-in. Internal forking encouraged.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Reference implementations. </a:t>
            </a:r>
            <a:r>
              <a:rPr sz="1400">
                <a:solidFill>
                  <a:srgbClr val="141821"/>
                </a:solidFill>
                <a:latin typeface="Calibri"/>
              </a:rPr>
              <a:t>Six demos including a full eDiscovery app. Blueprint, not a brochure.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Clean seams. </a:t>
            </a:r>
            <a:r>
              <a:rPr sz="1300">
                <a:solidFill>
                  <a:srgbClr val="141821"/>
                </a:solidFill>
                <a:latin typeface="Calibri"/>
              </a:rPr>
              <a:t>AgenticBackend, MfeRegistrySource, Registry&lt;TDef&gt;, AgenticTelemetrySink — every contingency leans on one already in place.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Conformance-tested adapters. </a:t>
            </a:r>
            <a:r>
              <a:rPr sz="1300">
                <a:solidFill>
                  <a:srgbClr val="141821"/>
                </a:solidFill>
                <a:latin typeface="Calibri"/>
              </a:rPr>
              <a:t>/testing entry runs the same suite against every backend; capability flags drive feature-detection.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Conflict policies + onDispose. </a:t>
            </a:r>
            <a:r>
              <a:rPr sz="1300">
                <a:solidFill>
                  <a:srgbClr val="141821"/>
                </a:solidFill>
                <a:latin typeface="Calibri"/>
              </a:rPr>
              <a:t>Multiple teams may register the same tool name; namespace policies coexist; cleanup is automatic.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Observability by default. </a:t>
            </a:r>
            <a:r>
              <a:rPr sz="1300">
                <a:solidFill>
                  <a:srgbClr val="141821"/>
                </a:solidFill>
                <a:latin typeface="Calibri"/>
              </a:rPr>
              <a:t>Distributed tracing across SSE; metrics; logs with trace_id correlation; opt-in OTel exporter.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Two federation paths. </a:t>
            </a:r>
            <a:r>
              <a:rPr sz="1300">
                <a:solidFill>
                  <a:srgbClr val="141821"/>
                </a:solidFill>
                <a:latin typeface="Calibri"/>
              </a:rPr>
              <a:t>Native + Module Federation — no second-class citizen; same CapabilityModule shape; pick by bundler.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ADRs documented. </a:t>
            </a:r>
            <a:r>
              <a:rPr sz="1300">
                <a:solidFill>
                  <a:srgbClr val="141821"/>
                </a:solidFill>
                <a:latin typeface="Calibri"/>
              </a:rPr>
              <a:t>Six ADRs cover backend abstraction, MCP, federation, conflict policies — context for future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developers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Schematics. </a:t>
            </a:r>
            <a:r>
              <a:rPr sz="1300">
                <a:solidFill>
                  <a:srgbClr val="141821"/>
                </a:solidFill>
                <a:latin typeface="Calibri"/>
              </a:rPr>
              <a:t>ng add bootstraps an entire workspace. ng g …:tool/widget/backend cuts hours of typing per artefact.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Signal-first APIs. </a:t>
            </a:r>
            <a:r>
              <a:rPr sz="1300">
                <a:solidFill>
                  <a:srgbClr val="141821"/>
                </a:solidFill>
                <a:latin typeface="Calibri"/>
              </a:rPr>
              <a:t>ToolRegistry.signal(), CapabilityRegistry.signal() — reactive everywhere; OnPush by default.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Strict TypeScript. </a:t>
            </a:r>
            <a:r>
              <a:rPr sz="1300">
                <a:solidFill>
                  <a:srgbClr val="141821"/>
                </a:solidFill>
                <a:latin typeface="Calibri"/>
              </a:rPr>
              <a:t>Zod-anchored payloads; tool args + props inferred; no any in the public API surface.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Testing harness. </a:t>
            </a:r>
            <a:r>
              <a:rPr sz="1300">
                <a:solidFill>
                  <a:srgbClr val="141821"/>
                </a:solidFill>
                <a:latin typeface="Calibri"/>
              </a:rPr>
              <a:t>FakeAgenticBackend + harnessChat() in /testing; in-memory AgenticTelemetrySink with custom matchers.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Cookbook entries. </a:t>
            </a:r>
            <a:r>
              <a:rPr sz="1300">
                <a:solidFill>
                  <a:srgbClr val="141821"/>
                </a:solidFill>
                <a:latin typeface="Calibri"/>
              </a:rPr>
              <a:t>Every milestone ships a how-to guide — federation at scale, MCP server, observability, persona scopes.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Live reload across MFEs. </a:t>
            </a:r>
            <a:r>
              <a:rPr sz="1300">
                <a:solidFill>
                  <a:srgbClr val="141821"/>
                </a:solidFill>
                <a:latin typeface="Calibri"/>
              </a:rPr>
              <a:t>Both Native + Module Federation play nice with the dev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10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Library milestones · validated by eDiscovery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Each library milestone has a corresponding eDiscovery phase that exercised it under enterprise 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0911535" cy="4206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1343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134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Theme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13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3134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Validated by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0779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AG-UI parity + ChatShell + /testing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095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9535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ToolRegistry, ComponentRegistry, BackendRegistry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953512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295351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P0–P1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35478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2102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Schematics + ng-add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2277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666744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tool, widget, backend, agent-server, snapshot tests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0" y="3666744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36667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26110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26110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3425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MFE federation + A2UI + MCP server adapter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6360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379976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CapabilityRegistry, MfeRegistry, both federation paths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4379976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43799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P2, P6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97433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9743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04748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Extended registries + Validation + DataSource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34924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50932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Action, Intent, Form, Validation, DataSource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5093208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509320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P2–P4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8680" y="568756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68756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576072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Compliance + scope governance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606247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58064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Tamper-evident audit chain, RegistryBase.setScopePolicy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5806440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0" y="58064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P5, P7–P8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All five milestones shipped. The eDiscovery flagship is the proof-shape under load.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9 · Roadmap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10 · CALL TO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91440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Where you can plug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0D9"/>
                </a:solidFill>
                <a:latin typeface="Calibri"/>
              </a:rPr>
              <a:t>Three concrete next steps — pick the row that matches your role.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0896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558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EXECUTIVES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7355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Authorise a two-week pilot.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Agentic chat retro-fit into your most-used internal app, MIT licensed.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159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ARCHITECTS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 ADR-006 (MCP) + ADR-007 (eDiscovery). Spike a remote in your repo.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61772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Conformance suite + cookbook ship in /testing.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2120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2760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DEVELOPERS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19379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ng add @maverick/agentic-ui. ng g …:tool. ng serve.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57784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30 minutes from clone to running chat — schematics scaffold the rest.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03504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8C96A8"/>
                </a:solidFill>
                <a:latin typeface="Calibri"/>
              </a:rPr>
              <a:t>Repository · examples · cookbook · ADRs included     Questions? Reach the team.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Where to go from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Repository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21208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ag_ui_maverick/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projects/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agentic-ui/         # publishable lib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agentic-ui-server/  # Node companion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agentic-ui-mcp/     # MCP adapter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examples/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demo-monolith/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demo-shell/  (host)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demo-remote-bookings/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demo-multi-agent/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demo-mcp-server/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demo-ediscovery-{shared,server,shell,review}/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docs/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adr/                # decision records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cookbook/           # how-to guides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architecture/       # system docs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└── PLAN.md                 # full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Recommended reading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65960"/>
            <a:ext cx="5486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README.md </a:t>
            </a:r>
            <a:r>
              <a:rPr sz="1200">
                <a:solidFill>
                  <a:srgbClr val="141821"/>
                </a:solidFill>
                <a:latin typeface="Calibri"/>
              </a:rPr>
              <a:t>5-minute orientation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PLAN.md </a:t>
            </a:r>
            <a:r>
              <a:rPr sz="1200">
                <a:solidFill>
                  <a:srgbClr val="141821"/>
                </a:solidFill>
                <a:latin typeface="Calibri"/>
              </a:rPr>
              <a:t>Full architecture + 5-tier registry model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ADR-006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server-side adapter design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docs/cookbook/ </a:t>
            </a:r>
            <a:r>
              <a:rPr sz="1200">
                <a:solidFill>
                  <a:srgbClr val="141821"/>
                </a:solidFill>
                <a:latin typeface="Calibri"/>
              </a:rPr>
              <a:t>How-to guides for federation, MCP, OTel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examples/demo-feature-tour </a:t>
            </a:r>
            <a:r>
              <a:rPr sz="1200">
                <a:solidFill>
                  <a:srgbClr val="141821"/>
                </a:solidFill>
                <a:latin typeface="Calibri"/>
              </a:rPr>
              <a:t>All 13 registries in one app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examples/demo-ediscovery </a:t>
            </a:r>
            <a:r>
              <a:rPr sz="1200">
                <a:solidFill>
                  <a:srgbClr val="141821"/>
                </a:solidFill>
                <a:latin typeface="Calibri"/>
              </a:rPr>
              <a:t>Enterprise reference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@maverick/agentic-ui/testing </a:t>
            </a:r>
            <a:r>
              <a:rPr sz="1200">
                <a:solidFill>
                  <a:srgbClr val="141821"/>
                </a:solidFill>
                <a:latin typeface="Calibri"/>
              </a:rPr>
              <a:t>Conformance suite + harness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