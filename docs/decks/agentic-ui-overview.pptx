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Restrained on purpose — strategy/consulting deck convention.</a:t>
            </a:r>
          </a:p>
          <a:p>
            <a:r>
              <a:t>30-minute path: cover, 1, 2, 3, 6, 11, 13, 16, 17, 19, 21, 22, 23, 25, 26-28, 29.</a:t>
            </a:r>
          </a:p>
          <a:p>
            <a:r>
              <a:t>60-minute path: include the AG-UI / Hashbrown deep dives and the registry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Pace this for 30 or 60 minutes — sub-deck markers in speaker notes for each track.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 framing. Yesterday was wrappers around an LLM. Today's protocols (AG-UI/Hashbrown/A2UI) make the agent + UI a real surface.</a:t>
            </a:r>
          </a:p>
          <a:p>
            <a:r>
              <a:t>Tomorrow: the UI itself becomes plugin data. We are building for the third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now: protocols + tool-calling + MCP + generative UI all matured in a 12-month window.</a:t>
            </a:r>
          </a:p>
          <a:p>
            <a:r>
              <a:t>Buying or building? The protocols change every quarter. A library that abstracts them is the right unit of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most mature, best for server-driven flows where the agent emits streamed text + tool calls + widgets.</a:t>
            </a:r>
          </a:p>
          <a:p>
            <a:r>
              <a:t>Hashbrown: lighter weight, faster to prototype, multi-provider out of the box.</a:t>
            </a:r>
          </a:p>
          <a:p>
            <a:r>
              <a:t>A2UI: distinguishing feature is the ui-action class — the agent can navigate, fill forms, mutate stores. Spec still moving.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is the one most enterprise teams pick today. The reason: it cleanly maps lifecycle, text, and tool calls to discrete events — easy to log, easy to audit.</a:t>
            </a:r>
          </a:p>
          <a:p>
            <a:r>
              <a:t>Origin: CopilotKit. Anglo/architects.io article is the canonical primer.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Real-shape timeline — every event a stable record. This is what makes AG-UI audit-friendly.</a:t>
            </a:r>
          </a:p>
          <a:p>
            <a:r>
              <a:t>Note widget_render is synthesised from show-component tool-call result; it doesn't exist on the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pick AG-UI: regulated industries, audit-grade trails, server-side tool catalogs.</a:t>
            </a:r>
          </a:p>
          <a:p>
            <a:r>
              <a:t>When NOT: lightweight prototypes, mostly-client-rendered UIs with little server orchestration — Hashbrown is faster to spin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Hashbrown's pitch: thinner protocol, faster start, multi-provider built in.</a:t>
            </a:r>
          </a:p>
          <a:p>
            <a:r>
              <a:t>Trade-off: the lifecycle isn't as crisp, so audit-grade logging needs extra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provider-mux — for an org doing LLM evaluation, Hashbrown lets you swap providers without rewiring the chat shell.</a:t>
            </a:r>
          </a:p>
          <a:p>
            <a:r>
              <a:t>Highlight schema-anchor — Zod schemas are the contract; same library + skill in our schematics.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matrix to share with architects. Not a verdict — a guide.</a:t>
            </a:r>
          </a:p>
          <a:p>
            <a:r>
              <a:t>Most enterprises pick AG-UI for production; Hashbrown for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most common architecture question.</a:t>
            </a:r>
          </a:p>
          <a:p>
            <a:r>
              <a:t>We picked AG-UI for the eDiscovery demo — audit grade matters here. A retail chatbot demo would pick Hashbrown.</a:t>
            </a:r>
          </a:p>
          <a:p>
            <a:r>
              <a:t>The library lets a team start with one and migrate later — no chat-shell rewrite.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A2UI is younger; specification still evolving. We reserve ui-action in our event union from M1 so the chat shell never breaks when the spec moves.</a:t>
            </a:r>
          </a:p>
          <a:p>
            <a:r>
              <a:t>Same pattern — clickable widgets in our eDiscovery demo dispatch openCustodian/openDocument/openHold actions through ActionRegistry.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 execs: building from scratch is a 6+ month investment. The library is a 2-week pilot.</a:t>
            </a:r>
          </a:p>
          <a:p>
            <a:r>
              <a:t>Production-grade, Apache-2.0 licensed, enterprise-friendly. No vendor lock-in to a paid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view of why this library exists. Each row stands on its own — pick the three that hit your team hardest and lead with those.</a:t>
            </a:r>
          </a:p>
          <a:p>
            <a:r>
              <a:t>The over-arching trade: a few extra abstractions up front (yes, 13 registries) for the elimination of bespoke code for the next 5 years of agent-protocol churn.</a:t>
            </a:r>
          </a:p>
          <a:p>
            <a:r>
              <a:t>Pair this slide with the layered architecture image (slide_visual_architecture) — pain shapes on this slide get architectural answers on the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view. The host browser is the centre — registries are the only shared state.</a:t>
            </a:r>
          </a:p>
          <a:p>
            <a:r>
              <a:t>Federation runtime feeds remotes' capabilities INTO the registry layer; backend adapters ship runs OUT to the agent server / MCP.</a:t>
            </a:r>
          </a:p>
          <a:p>
            <a:r>
              <a:t>Telemetry crosscuts every layer; the OTel exporter ships in /otel and is opt-in.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diagram as the README's architecture image.</a:t>
            </a:r>
          </a:p>
          <a:p>
            <a:r>
              <a:t>Anchor on the dashed `loadRemoteCapabilities` edge — that's the federation entry point that turns 'one team's chat shell' into 'every team's chat shell'.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Single-slide architecture summary. Trace one prompt: User → ChatShell → ToolFilter (reads ToolRegistry) → AgUiBackend → server route → Orchestrator → Specialist → Gemini → events stream back.</a:t>
            </a:r>
          </a:p>
          <a:p>
            <a:r>
              <a:t>Use this slide as the framing for the rest of the architecture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Hub-and-spoke shows the architectural unity — the base class is the hub, every registry is a spoke with the same shape.</a:t>
            </a:r>
          </a:p>
          <a:p>
            <a:r>
              <a:t>Tier 1 is required for any agentic UI; tiers 2 and 3 are opt-in.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base class — all 13 registries are the same primitive with different value shapes.</a:t>
            </a:r>
          </a:p>
          <a:p>
            <a:r>
              <a:t>Adding a domain-specific registry (e.g. MetricRegistry, AlertRegistry) is ~30 LOC of base-class extension and gets MFE teardown + persona scope policy + conformance suite for free.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diagram for federation handoff. Five actors, eight messages.</a:t>
            </a:r>
          </a:p>
          <a:p>
            <a:r>
              <a:t>Note the last message — ToolRegistry's signal notifies the chat shell on the next turn, mid-session, with no reload.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architectural payoff. Three surfaces from one handler — that's why ToolDef is framework-agnostic data.</a:t>
            </a:r>
          </a:p>
          <a:p>
            <a:r>
              <a:t>Demo the eDiscovery review tool: same code path, three viewers see the same custodian card.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engineers. The chat shell is protocol-agnostic; only the backend adapter knows the wire format.</a:t>
            </a:r>
          </a:p>
          <a:p>
            <a:r>
              <a:t>Adding a new protocol is implementing this one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federation paths are first-class — neither is a side branch.</a:t>
            </a:r>
          </a:p>
          <a:p>
            <a:r>
              <a:t>Switch via `ng add @maverick/agentic-ui --federation=native` vs `--federation=module-federation`.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win for regulated industries — MCP brings agentic UI into Claude Desktop where many analysts already live.</a:t>
            </a:r>
          </a:p>
          <a:p>
            <a:r>
              <a:t>Demonstrate by walking through demo-mcp-server then opening Claude 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sink is no-op; consumer opts in to OTel via @maverick/agentic-ui/otel.</a:t>
            </a:r>
          </a:p>
          <a:p>
            <a:r>
              <a:t>Bundle impact: zero unless they import the otel entry — measured in CI.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developers — the schematics are the value-multiplier.</a:t>
            </a:r>
          </a:p>
          <a:p>
            <a:r>
              <a:t>ng add takes a fresh Angular app to running chat in &lt;2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view. Use this slide to set up the rest of the deck — every row has a 'home' slide deeper in.</a:t>
            </a:r>
          </a:p>
          <a:p>
            <a:r>
              <a:t>Highlight that 4 (persona scope) and 10 (audit) are differentiators — that's what makes this deployable in regulated domains.</a:t>
            </a:r>
          </a:p>
          <a:p>
            <a:r>
              <a:t>If pressed for time, pick three rows the audience cares about and skip directly to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'Generative UI' is a buzzword; the diagram makes it concrete.</a:t>
            </a:r>
          </a:p>
          <a:p>
            <a:r>
              <a:t>Emphasise the Zod schema is the single contract — the agent sees it as a tool schema, the renderer uses it for validation, the cookbook generates types from it.</a:t>
            </a:r>
          </a:p>
          <a:p>
            <a:r>
              <a:t>Compare to text-only LLM apps: this is what makes agentic UI different from a fancy chat box.</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lifecycle events end-to-end — show that mid-stream abort is built in.</a:t>
            </a:r>
          </a:p>
          <a:p>
            <a:r>
              <a:t>Emphasise that the handler is just a function; tools aren't proprietary objects.</a:t>
            </a:r>
          </a:p>
          <a:p>
            <a:r>
              <a:t>If audience is paranoid about agents triggering destructive operations: combine with use case 4 (persona scope) for input gating + server-side check for the trust boundary.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MFE story — five steps, no surprises.</a:t>
            </a:r>
          </a:p>
          <a:p>
            <a:r>
              <a:t>Emphasise that registries are the only shared state; remotes never call each other directly.</a:t>
            </a:r>
          </a:p>
          <a:p>
            <a:r>
              <a:t>On unload, all 13 registries drop entries with that source in one pass — in-flight runs continue but next turn excludes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8 / 1.1.0 ship. Address the question that comes up in every regulated-industry pitch.</a:t>
            </a:r>
          </a:p>
          <a:p>
            <a:r>
              <a:t>Three-layer split is the architectural take-away: library enforces, app authorises, server verifies.</a:t>
            </a:r>
          </a:p>
          <a:p>
            <a:r>
              <a:t>Cross-reference: e2e/specs/05-persona-scope.spec.ts validates ordering live without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agnosticism story. Useful for execs uncomfortable with picking a not-yet-1.0 protocol.</a:t>
            </a:r>
          </a:p>
          <a:p>
            <a:r>
              <a:t>Capability flags are the seam that makes feature-detection clean — no if/else by adapter id in the shell.</a:t>
            </a:r>
          </a:p>
          <a:p>
            <a:r>
              <a:t>Tie back to ADR-0001 — backend abstraction was the first decision and carries every other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scale-out story credible — multiple teams own specialists, one chat interface.</a:t>
            </a:r>
          </a:p>
          <a:p>
            <a:r>
              <a:t>Sticky routing is the UX win. Without it, every follow-up question would risk being routed to a different specialist mid-thread.</a:t>
            </a:r>
          </a:p>
          <a:p>
            <a:r>
              <a:t>The 'Routed to **review** specialist.' banner in the demo is just the orchestrator emitting a text-delta when routing changes — not state.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The tool inventory grows linearly with federated remotes; without this, you'd hit Gemini's context cap by remote #4.</a:t>
            </a:r>
          </a:p>
          <a:p>
            <a:r>
              <a:t>Order matters: persona scope filters first (governance), keyword filter narrows further (efficiency).</a:t>
            </a:r>
          </a:p>
          <a:p>
            <a:r>
              <a:t>Bring up tunability: keywordToolFilter is just an example; ToolFilter is a one-line interface, swap it for embedding-similarity if you have an embeddings service.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Multi-surface story. Resonates with execs who see their tools as IP.</a:t>
            </a:r>
          </a:p>
          <a:p>
            <a:r>
              <a:t>Reach: paralegal can drive the same review flow from Claude Desktop without using your web app.</a:t>
            </a:r>
          </a:p>
          <a:p>
            <a:r>
              <a:t>Persona scope still gates — that's the 'hub' story for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seam was baked in from M1 — emit points exist whether or not the OTel exporter is wired.</a:t>
            </a:r>
          </a:p>
          <a:p>
            <a:r>
              <a:t>Privacy story is conservative by default — that's what makes this deployable in regulated domains.</a:t>
            </a:r>
          </a:p>
          <a:p>
            <a:r>
              <a:t>Demo with Tempo or Jaeger — show one trace covering chat shell, SSE, server, LLM, tool, federation load.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close. Together with use cases 4 and 9 this is the three-piece story regulated buyers ask for.</a:t>
            </a:r>
          </a:p>
          <a:p>
            <a:r>
              <a:t>Note: audit chain is shown as a pattern in the demo's mock data layer — not part of the core lib because every domain expresses 'who/what/when' differently.</a:t>
            </a:r>
          </a:p>
          <a:p>
            <a:r>
              <a:t>If asked: yes the prevHash design is a Merkle-style chain; verifying is O(n) on render but acceptable up to ~100k entries; for larger systems, split into time-windowed sub-chains with each sub-chain's root committed to a parent chain.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a developer through what 'agentic UI' actually means.</a:t>
            </a:r>
          </a:p>
          <a:p>
            <a:r>
              <a:t>Highlight that no piece of this is bespoke per app: tool, handler, component, registry — all interchangeable.</a:t>
            </a:r>
          </a:p>
          <a:p>
            <a:r>
              <a:t>The same diagram appears at the top of the README; it's the canonical mental model for new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demos. Pick one for each audience.</a:t>
            </a:r>
          </a:p>
          <a:p>
            <a:r>
              <a:t>demo-ediscovery is the headline — full enterprise pattern with federation + audit + multi-persona.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eDiscovery reference is the headline asset.</a:t>
            </a:r>
          </a:p>
          <a:p>
            <a:r>
              <a:t>Open with the four stat cards — those are the talking points executives remember.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screenshot that takes the abstract pitch and makes it concrete.</a:t>
            </a:r>
          </a:p>
          <a:p>
            <a:r>
              <a:t>Walk through the three highlighted areas: the chat with the rendered widget on the right; the dashboard responding live (KPI counts) on the left; the sidebar showing 18 tools registered + 3 federated remotes loaded.</a:t>
            </a:r>
          </a:p>
          <a:p>
            <a:r>
              <a:t>Pause on the routing banner ('Routed to **collection** specialist'): that's the orchestrator, not an LLM hallucination — multi-agent under one chat.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Senior-exec slide. Use to communicate scope, not technical depth.</a:t>
            </a:r>
          </a:p>
          <a:p>
            <a:r>
              <a:t>The reference is enterprise-grade: dashboard, audit, custodians, holds, productions. This is what 'production-shaped' looks like — not a chat box bolted onto an empty page.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when a developer asks 'where does the agent's tool output land?' — the answer is anywhere your data layer routes it; the page itself is just an Angular component reading the same store.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eDiscovery case study — shows the chained-tool-call pattern with widget feedback at every step.</a:t>
            </a:r>
          </a:p>
          <a:p>
            <a:r>
              <a:t>Six seams in one workflow. That's why we needed registries — each seam is independently extensible.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 function is FNV-1a in the demo (deterministic for testing); SHA-256 + HSM-backed HMAC is the prod swap.</a:t>
            </a:r>
          </a:p>
          <a:p>
            <a:r>
              <a:t>Phase 5 ships 1 tool (generateChainOfCustodyReport), 1 widget, the chainHash field, and the integrity badge on the Audit Trail page.</a:t>
            </a:r>
          </a:p>
          <a:p>
            <a:r>
              <a:t>The defensibility story lands here for execs — chain integrity = a deliverable for opposing counsel.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compliance reviewers. Audit grade isn't a feature flag — it's woven through the data layer.</a:t>
            </a:r>
          </a:p>
          <a:p>
            <a:r>
              <a:t>Pair this with the persona-scope slide — together they're the 'who can do what + did do what' two-piece compliance story.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ToolDef literals are framework-agnostic — no Angular at MCP runtime.</a:t>
            </a:r>
          </a:p>
          <a:p>
            <a:r>
              <a:t>Per-user attribution via env vars (MVK_USER, MVK_MATTER) is the cookbook pattern for spawning one MCP server per user.</a:t>
            </a:r>
          </a:p>
          <a:p>
            <a:r>
              <a:t>Show this slide right after the chain-of-custody slide — the punchline lands when execs see two surfaces feeding one chain.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shipped a chat-shell-only filter. Phase 8 lifts it to RegistryBase so 13 registries share the seam.</a:t>
            </a:r>
          </a:p>
          <a:p>
            <a:r>
              <a:t>The diff was about -30 LOC in the consumer for a one-line setScopePolicy call.</a:t>
            </a:r>
          </a:p>
          <a:p>
            <a:r>
              <a:t>ADR-008 documents the trade-offs: filter on read (not register) so federated remotes stay portable.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demonstration of the scope-policy seam from the governance section.</a:t>
            </a:r>
          </a:p>
          <a:p>
            <a:r>
              <a:t>Mention the 5 RPM quota / 5 personas badge layout — this is what the e2e test 05-persona-scope asserts on (and it passes deterministically without the LLM).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compliance section — read top-to-bottom, each row stands on its own.</a:t>
            </a:r>
          </a:p>
          <a:p>
            <a:r>
              <a:t>Use this slide if you're tight on time and skipping the chain-of-custody / MCP / scope-policy graphics.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pick one protocol. Pick by use case — the library lets you mix.</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talk track. Six bullets, nothing technical — focus on derisking and time-to-value.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Highlight that every risk in §11 of the plan has a documented detection signal +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framing. Show the schematics demo at the end — typically the moment that lands the pitch.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for v5 — every milestone is now shipped (was M1-M3 done / M4-M5 in flight).</a:t>
            </a:r>
          </a:p>
          <a:p>
            <a:r>
              <a:t>The 'validated by' column ties library work to the eDiscovery phase that put it under load.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Three asks, one per audience.</a:t>
            </a:r>
          </a:p>
          <a:p>
            <a:r>
              <a:t>Tone matches the deck — restrained, navy, no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Hand-off to the audience — every box on the left has its own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1E3A5F"/>
                </a:solidFill>
                <a:latin typeface="Calibri"/>
              </a:rPr>
              <a:t>MAVERICK</a:t>
            </a:r>
          </a:p>
        </p:txBody>
      </p:sp>
      <p:sp>
        <p:nvSpPr>
          <p:cNvPr id="4" name="TextBox 3"/>
          <p:cNvSpPr txBox="1"/>
          <p:nvPr/>
        </p:nvSpPr>
        <p:spPr>
          <a:xfrm>
            <a:off x="8076895" y="548640"/>
            <a:ext cx="3474720" cy="292608"/>
          </a:xfrm>
          <a:prstGeom prst="rect">
            <a:avLst/>
          </a:prstGeom>
          <a:noFill/>
        </p:spPr>
        <p:txBody>
          <a:bodyPr wrap="square" lIns="0" rIns="0" tIns="0" bIns="0" anchor="t">
            <a:spAutoFit/>
          </a:bodyPr>
          <a:lstStyle/>
          <a:p>
            <a:pPr algn="r"/>
            <a:r>
              <a:rPr sz="1000" b="0">
                <a:solidFill>
                  <a:srgbClr val="6B7380"/>
                </a:solidFill>
                <a:latin typeface="Calibri"/>
              </a:rPr>
              <a:t>AGENTIC UI · OVERVIEW DECK</a:t>
            </a:r>
          </a:p>
        </p:txBody>
      </p:sp>
      <p:sp>
        <p:nvSpPr>
          <p:cNvPr id="5" name="Rectangle 4"/>
          <p:cNvSpPr/>
          <p:nvPr/>
        </p:nvSpPr>
        <p:spPr>
          <a:xfrm>
            <a:off x="640080" y="914400"/>
            <a:ext cx="10911535" cy="1645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0911535" cy="1097280"/>
          </a:xfrm>
          <a:prstGeom prst="rect">
            <a:avLst/>
          </a:prstGeom>
          <a:noFill/>
        </p:spPr>
        <p:txBody>
          <a:bodyPr wrap="square" lIns="0" rIns="0" tIns="0" bIns="0" anchor="t">
            <a:spAutoFit/>
          </a:bodyPr>
          <a:lstStyle/>
          <a:p>
            <a:pPr algn="l"/>
            <a:r>
              <a:rPr sz="5400" b="1">
                <a:solidFill>
                  <a:srgbClr val="141821"/>
                </a:solidFill>
                <a:latin typeface="Calibri"/>
              </a:rPr>
              <a:t>Agentic UI for Angular</a:t>
            </a:r>
          </a:p>
        </p:txBody>
      </p:sp>
      <p:sp>
        <p:nvSpPr>
          <p:cNvPr id="7" name="TextBox 6"/>
          <p:cNvSpPr txBox="1"/>
          <p:nvPr/>
        </p:nvSpPr>
        <p:spPr>
          <a:xfrm>
            <a:off x="640080" y="3200400"/>
            <a:ext cx="10911535" cy="548640"/>
          </a:xfrm>
          <a:prstGeom prst="rect">
            <a:avLst/>
          </a:prstGeom>
          <a:noFill/>
        </p:spPr>
        <p:txBody>
          <a:bodyPr wrap="square" lIns="0" rIns="0" tIns="0" bIns="0" anchor="t">
            <a:spAutoFit/>
          </a:bodyPr>
          <a:lstStyle/>
          <a:p>
            <a:pPr algn="l"/>
            <a:r>
              <a:rPr sz="3200" b="0">
                <a:solidFill>
                  <a:srgbClr val="1E3A5F"/>
                </a:solidFill>
                <a:latin typeface="Calibri"/>
              </a:rPr>
              <a:t>AG-UI · Hashbrown · A2UI · MCP</a:t>
            </a:r>
          </a:p>
        </p:txBody>
      </p:sp>
      <p:sp>
        <p:nvSpPr>
          <p:cNvPr id="8" name="TextBox 7"/>
          <p:cNvSpPr txBox="1"/>
          <p:nvPr/>
        </p:nvSpPr>
        <p:spPr>
          <a:xfrm>
            <a:off x="640080" y="4069080"/>
            <a:ext cx="8229600" cy="457200"/>
          </a:xfrm>
          <a:prstGeom prst="rect">
            <a:avLst/>
          </a:prstGeom>
          <a:noFill/>
        </p:spPr>
        <p:txBody>
          <a:bodyPr wrap="square" lIns="0" rIns="0" tIns="0" bIns="0" anchor="t">
            <a:spAutoFit/>
          </a:bodyPr>
          <a:lstStyle/>
          <a:p>
            <a:pPr algn="l"/>
            <a:r>
              <a:rPr sz="1600" b="0">
                <a:solidFill>
                  <a:srgbClr val="363D49"/>
                </a:solidFill>
                <a:latin typeface="Calibri"/>
              </a:rPr>
              <a:t>One library. Three protocols. Microfrontend-native.</a:t>
            </a:r>
          </a:p>
        </p:txBody>
      </p:sp>
      <p:sp>
        <p:nvSpPr>
          <p:cNvPr id="9" name="Rectangle 8"/>
          <p:cNvSpPr/>
          <p:nvPr/>
        </p:nvSpPr>
        <p:spPr>
          <a:xfrm>
            <a:off x="640080" y="5577840"/>
            <a:ext cx="10911535" cy="16459"/>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715000"/>
            <a:ext cx="2743200" cy="274320"/>
          </a:xfrm>
          <a:prstGeom prst="rect">
            <a:avLst/>
          </a:prstGeom>
          <a:noFill/>
        </p:spPr>
        <p:txBody>
          <a:bodyPr wrap="square" lIns="0" rIns="0" tIns="0" bIns="0" anchor="t">
            <a:spAutoFit/>
          </a:bodyPr>
          <a:lstStyle/>
          <a:p>
            <a:pPr algn="l"/>
            <a:r>
              <a:rPr sz="900" b="1">
                <a:solidFill>
                  <a:srgbClr val="6B7380"/>
                </a:solidFill>
                <a:latin typeface="Calibri"/>
              </a:rPr>
              <a:t>PREPARED FOR</a:t>
            </a:r>
          </a:p>
        </p:txBody>
      </p:sp>
      <p:sp>
        <p:nvSpPr>
          <p:cNvPr id="11" name="TextBox 10"/>
          <p:cNvSpPr txBox="1"/>
          <p:nvPr/>
        </p:nvSpPr>
        <p:spPr>
          <a:xfrm>
            <a:off x="640080" y="5943600"/>
            <a:ext cx="10911535" cy="365760"/>
          </a:xfrm>
          <a:prstGeom prst="rect">
            <a:avLst/>
          </a:prstGeom>
          <a:noFill/>
        </p:spPr>
        <p:txBody>
          <a:bodyPr wrap="square" lIns="0" rIns="0" tIns="0" bIns="0" anchor="t">
            <a:spAutoFit/>
          </a:bodyPr>
          <a:lstStyle/>
          <a:p>
            <a:pPr algn="l"/>
            <a:r>
              <a:rPr sz="1400" b="0">
                <a:solidFill>
                  <a:srgbClr val="141821"/>
                </a:solidFill>
                <a:latin typeface="Calibri"/>
              </a:rPr>
              <a:t>Senior executives  ·  Solution architects  ·  Developers</a:t>
            </a:r>
          </a:p>
        </p:txBody>
      </p:sp>
      <p:sp>
        <p:nvSpPr>
          <p:cNvPr id="12" name="TextBox 11"/>
          <p:cNvSpPr txBox="1"/>
          <p:nvPr/>
        </p:nvSpPr>
        <p:spPr>
          <a:xfrm>
            <a:off x="640080" y="6309360"/>
            <a:ext cx="10911535" cy="274320"/>
          </a:xfrm>
          <a:prstGeom prst="rect">
            <a:avLst/>
          </a:prstGeom>
          <a:noFill/>
        </p:spPr>
        <p:txBody>
          <a:bodyPr wrap="square" lIns="0" rIns="0" tIns="0" bIns="0" anchor="t">
            <a:spAutoFit/>
          </a:bodyPr>
          <a:lstStyle/>
          <a:p>
            <a:pPr algn="l"/>
            <a:r>
              <a:rPr sz="1000" b="0">
                <a:solidFill>
                  <a:srgbClr val="A2AAB6"/>
                </a:solidFill>
                <a:latin typeface="Calibri"/>
              </a:rPr>
              <a:t>Q2 2026 release  ·  v1.1.0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AGENDA</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you'll leave with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937760"/>
          </a:xfrm>
          <a:prstGeom prst="rect">
            <a:avLst/>
          </a:prstGeom>
          <a:noFill/>
        </p:spPr>
        <p:txBody>
          <a:bodyPr wrap="square" lIns="0" rIns="0" tIns="0" bIns="0">
            <a:spAutoFit/>
          </a:bodyPr>
          <a:lstStyle/>
          <a:p>
            <a:pPr>
              <a:spcAft>
                <a:spcPts val="800"/>
              </a:spcAft>
            </a:pPr>
            <a:r>
              <a:rPr sz="1600" b="1">
                <a:solidFill>
                  <a:srgbClr val="1E3A5F"/>
                </a:solidFill>
                <a:latin typeface="Calibri"/>
              </a:rPr>
              <a:t>•  </a:t>
            </a:r>
            <a:r>
              <a:rPr sz="1600" b="1">
                <a:solidFill>
                  <a:srgbClr val="141821"/>
                </a:solidFill>
                <a:latin typeface="Calibri"/>
              </a:rPr>
              <a:t>The shift. </a:t>
            </a:r>
            <a:r>
              <a:rPr sz="1600">
                <a:solidFill>
                  <a:srgbClr val="141821"/>
                </a:solidFill>
                <a:latin typeface="Calibri"/>
              </a:rPr>
              <a:t>Why agentic UIs are the next interface paradigm — and the protocol problem nobody owns.</a:t>
            </a:r>
          </a:p>
          <a:p>
            <a:pPr>
              <a:spcAft>
                <a:spcPts val="800"/>
              </a:spcAft>
            </a:pPr>
            <a:r>
              <a:rPr sz="1600" b="1">
                <a:solidFill>
                  <a:srgbClr val="1E3A5F"/>
                </a:solidFill>
                <a:latin typeface="Calibri"/>
              </a:rPr>
              <a:t>•  </a:t>
            </a:r>
            <a:r>
              <a:rPr sz="1600" b="1">
                <a:solidFill>
                  <a:srgbClr val="141821"/>
                </a:solidFill>
                <a:latin typeface="Calibri"/>
              </a:rPr>
              <a:t>Three protocols. </a:t>
            </a:r>
            <a:r>
              <a:rPr sz="1600">
                <a:solidFill>
                  <a:srgbClr val="141821"/>
                </a:solidFill>
                <a:latin typeface="Calibri"/>
              </a:rPr>
              <a:t>AG-UI, Hashbrown, A2UI — origin, model, fit, gaps.</a:t>
            </a:r>
          </a:p>
          <a:p>
            <a:pPr>
              <a:spcAft>
                <a:spcPts val="800"/>
              </a:spcAft>
            </a:pPr>
            <a:r>
              <a:rPr sz="1600" b="1">
                <a:solidFill>
                  <a:srgbClr val="1E3A5F"/>
                </a:solidFill>
                <a:latin typeface="Calibri"/>
              </a:rPr>
              <a:t>•  </a:t>
            </a:r>
            <a:r>
              <a:rPr sz="1600" b="1">
                <a:solidFill>
                  <a:srgbClr val="141821"/>
                </a:solidFill>
                <a:latin typeface="Calibri"/>
              </a:rPr>
              <a:t>One library. </a:t>
            </a:r>
            <a:r>
              <a:rPr sz="1600">
                <a:solidFill>
                  <a:srgbClr val="141821"/>
                </a:solidFill>
                <a:latin typeface="Calibri"/>
              </a:rPr>
              <a:t>@maverick/agentic-ui — 13 registries, MFE-native, MCP-ready, telemetry-instrumented.</a:t>
            </a:r>
          </a:p>
          <a:p>
            <a:pPr>
              <a:spcAft>
                <a:spcPts val="800"/>
              </a:spcAft>
            </a:pPr>
            <a:r>
              <a:rPr sz="1600" b="1">
                <a:solidFill>
                  <a:srgbClr val="1E3A5F"/>
                </a:solidFill>
                <a:latin typeface="Calibri"/>
              </a:rPr>
              <a:t>•  </a:t>
            </a:r>
            <a:r>
              <a:rPr sz="1600" b="1">
                <a:solidFill>
                  <a:srgbClr val="141821"/>
                </a:solidFill>
                <a:latin typeface="Calibri"/>
              </a:rPr>
              <a:t>Working examples. </a:t>
            </a:r>
            <a:r>
              <a:rPr sz="1600">
                <a:solidFill>
                  <a:srgbClr val="141821"/>
                </a:solidFill>
                <a:latin typeface="Calibri"/>
              </a:rPr>
              <a:t>demo-monolith, demo-shell + remotes, demo-multi-agent, demo-ediscovery — all in this repo.</a:t>
            </a:r>
          </a:p>
          <a:p>
            <a:pPr>
              <a:spcAft>
                <a:spcPts val="800"/>
              </a:spcAft>
            </a:pPr>
            <a:r>
              <a:rPr sz="1600" b="1">
                <a:solidFill>
                  <a:srgbClr val="1E3A5F"/>
                </a:solidFill>
                <a:latin typeface="Calibri"/>
              </a:rPr>
              <a:t>•  </a:t>
            </a:r>
            <a:r>
              <a:rPr sz="1600" b="1">
                <a:solidFill>
                  <a:srgbClr val="141821"/>
                </a:solidFill>
                <a:latin typeface="Calibri"/>
              </a:rPr>
              <a:t>Decision frameworks. </a:t>
            </a:r>
            <a:r>
              <a:rPr sz="1600">
                <a:solidFill>
                  <a:srgbClr val="141821"/>
                </a:solidFill>
                <a:latin typeface="Calibri"/>
              </a:rPr>
              <a:t>Protocol matrix, when-to-use guide, persona-by-persona benefit map.</a:t>
            </a:r>
          </a:p>
          <a:p>
            <a:pPr>
              <a:spcAft>
                <a:spcPts val="800"/>
              </a:spcAft>
            </a:pPr>
            <a:r>
              <a:rPr sz="1600" b="1">
                <a:solidFill>
                  <a:srgbClr val="1E3A5F"/>
                </a:solidFill>
                <a:latin typeface="Calibri"/>
              </a:rPr>
              <a:t>•  </a:t>
            </a:r>
            <a:r>
              <a:rPr sz="1600" b="1">
                <a:solidFill>
                  <a:srgbClr val="141821"/>
                </a:solidFill>
                <a:latin typeface="Calibri"/>
              </a:rPr>
              <a:t>Roadmap &amp; CTA. </a:t>
            </a:r>
            <a:r>
              <a:rPr sz="1600">
                <a:solidFill>
                  <a:srgbClr val="141821"/>
                </a:solidFill>
                <a:latin typeface="Calibri"/>
              </a:rPr>
              <a:t>Where it's going through v1.0 — and where you can plug in.</a:t>
            </a:r>
          </a:p>
        </p:txBody>
      </p:sp>
      <p:sp>
        <p:nvSpPr>
          <p:cNvPr id="6" name="Rectangle 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Agenda</a:t>
            </a:r>
          </a:p>
        </p:txBody>
      </p:sp>
      <p:sp>
        <p:nvSpPr>
          <p:cNvPr id="8" name="TextBox 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9" name="TextBox 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From chatbots to agentic UIs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3515258"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58058" cy="365760"/>
          </a:xfrm>
          <a:prstGeom prst="rect">
            <a:avLst/>
          </a:prstGeom>
          <a:noFill/>
        </p:spPr>
        <p:txBody>
          <a:bodyPr wrap="square" lIns="0" rIns="0" tIns="0" bIns="0" anchor="t">
            <a:spAutoFit/>
          </a:bodyPr>
          <a:lstStyle/>
          <a:p>
            <a:pPr algn="l"/>
            <a:r>
              <a:rPr sz="1500" b="1">
                <a:solidFill>
                  <a:srgbClr val="6B7380"/>
                </a:solidFill>
                <a:latin typeface="Calibri"/>
              </a:rPr>
              <a:t>Yesterday — chatbots</a:t>
            </a:r>
          </a:p>
        </p:txBody>
      </p:sp>
      <p:sp>
        <p:nvSpPr>
          <p:cNvPr id="9" name="TextBox 8"/>
          <p:cNvSpPr txBox="1"/>
          <p:nvPr/>
        </p:nvSpPr>
        <p:spPr>
          <a:xfrm>
            <a:off x="868680" y="2194560"/>
            <a:ext cx="3058058" cy="3657600"/>
          </a:xfrm>
          <a:prstGeom prst="rect">
            <a:avLst/>
          </a:prstGeom>
          <a:noFill/>
        </p:spPr>
        <p:txBody>
          <a:bodyPr wrap="square" lIns="0" rIns="0" tIns="0" bIns="0">
            <a:spAutoFit/>
          </a:bodyPr>
          <a:lstStyle/>
          <a:p>
            <a:pPr>
              <a:spcAft>
                <a:spcPts val="600"/>
              </a:spcAft>
            </a:pPr>
            <a:r>
              <a:rPr sz="1200" b="1">
                <a:solidFill>
                  <a:srgbClr val="6B7380"/>
                </a:solidFill>
                <a:latin typeface="Calibri"/>
              </a:rPr>
              <a:t>—  </a:t>
            </a:r>
            <a:r>
              <a:rPr sz="1200">
                <a:solidFill>
                  <a:srgbClr val="141821"/>
                </a:solidFill>
                <a:latin typeface="Calibri"/>
              </a:rPr>
              <a:t>Text-only conversation</a:t>
            </a:r>
          </a:p>
          <a:p>
            <a:pPr>
              <a:spcAft>
                <a:spcPts val="600"/>
              </a:spcAft>
            </a:pPr>
            <a:r>
              <a:rPr sz="1200" b="1">
                <a:solidFill>
                  <a:srgbClr val="6B7380"/>
                </a:solidFill>
                <a:latin typeface="Calibri"/>
              </a:rPr>
              <a:t>—  </a:t>
            </a:r>
            <a:r>
              <a:rPr sz="1200">
                <a:solidFill>
                  <a:srgbClr val="141821"/>
                </a:solidFill>
                <a:latin typeface="Calibri"/>
              </a:rPr>
              <a:t>Apps wired to LLMs as a fancy autocomplete</a:t>
            </a:r>
          </a:p>
          <a:p>
            <a:pPr>
              <a:spcAft>
                <a:spcPts val="600"/>
              </a:spcAft>
            </a:pPr>
            <a:r>
              <a:rPr sz="1200" b="1">
                <a:solidFill>
                  <a:srgbClr val="6B7380"/>
                </a:solidFill>
                <a:latin typeface="Calibri"/>
              </a:rPr>
              <a:t>—  </a:t>
            </a:r>
            <a:r>
              <a:rPr sz="1200">
                <a:solidFill>
                  <a:srgbClr val="141821"/>
                </a:solidFill>
                <a:latin typeface="Calibri"/>
              </a:rPr>
              <a:t>Hand-coded handlers per use case</a:t>
            </a:r>
          </a:p>
          <a:p>
            <a:pPr>
              <a:spcAft>
                <a:spcPts val="600"/>
              </a:spcAft>
            </a:pPr>
            <a:r>
              <a:rPr sz="1200" b="1">
                <a:solidFill>
                  <a:srgbClr val="6B7380"/>
                </a:solidFill>
                <a:latin typeface="Calibri"/>
              </a:rPr>
              <a:t>—  </a:t>
            </a:r>
            <a:r>
              <a:rPr sz="1200">
                <a:solidFill>
                  <a:srgbClr val="141821"/>
                </a:solidFill>
                <a:latin typeface="Calibri"/>
              </a:rPr>
              <a:t>No structured affordances — every flow re-debated</a:t>
            </a:r>
          </a:p>
        </p:txBody>
      </p:sp>
      <p:sp>
        <p:nvSpPr>
          <p:cNvPr id="10" name="Rounded Rectangle 9"/>
          <p:cNvSpPr/>
          <p:nvPr/>
        </p:nvSpPr>
        <p:spPr>
          <a:xfrm>
            <a:off x="4338218"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554480"/>
            <a:ext cx="3515258"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6818" y="1691640"/>
            <a:ext cx="3058058" cy="365760"/>
          </a:xfrm>
          <a:prstGeom prst="rect">
            <a:avLst/>
          </a:prstGeom>
          <a:noFill/>
        </p:spPr>
        <p:txBody>
          <a:bodyPr wrap="square" lIns="0" rIns="0" tIns="0" bIns="0" anchor="t">
            <a:spAutoFit/>
          </a:bodyPr>
          <a:lstStyle/>
          <a:p>
            <a:pPr algn="l"/>
            <a:r>
              <a:rPr sz="1500" b="1">
                <a:solidFill>
                  <a:srgbClr val="12243D"/>
                </a:solidFill>
                <a:latin typeface="Calibri"/>
              </a:rPr>
              <a:t>Today — agentic UIs</a:t>
            </a:r>
          </a:p>
        </p:txBody>
      </p:sp>
      <p:sp>
        <p:nvSpPr>
          <p:cNvPr id="13" name="TextBox 12"/>
          <p:cNvSpPr txBox="1"/>
          <p:nvPr/>
        </p:nvSpPr>
        <p:spPr>
          <a:xfrm>
            <a:off x="4566818" y="2194560"/>
            <a:ext cx="3058058" cy="3657600"/>
          </a:xfrm>
          <a:prstGeom prst="rect">
            <a:avLst/>
          </a:prstGeom>
          <a:noFill/>
        </p:spPr>
        <p:txBody>
          <a:bodyPr wrap="square" lIns="0" rIns="0" tIns="0" bIns="0">
            <a:spAutoFit/>
          </a:bodyPr>
          <a:lstStyle/>
          <a:p>
            <a:pPr>
              <a:spcAft>
                <a:spcPts val="600"/>
              </a:spcAft>
            </a:pPr>
            <a:r>
              <a:rPr sz="1200" b="1">
                <a:solidFill>
                  <a:srgbClr val="12243D"/>
                </a:solidFill>
                <a:latin typeface="Calibri"/>
              </a:rPr>
              <a:t>—  </a:t>
            </a:r>
            <a:r>
              <a:rPr sz="1200">
                <a:solidFill>
                  <a:srgbClr val="141821"/>
                </a:solidFill>
                <a:latin typeface="Calibri"/>
              </a:rPr>
              <a:t>Tool-call protocols (AG-UI / Hashbrown / A2UI)</a:t>
            </a:r>
          </a:p>
          <a:p>
            <a:pPr>
              <a:spcAft>
                <a:spcPts val="600"/>
              </a:spcAft>
            </a:pPr>
            <a:r>
              <a:rPr sz="1200" b="1">
                <a:solidFill>
                  <a:srgbClr val="12243D"/>
                </a:solidFill>
                <a:latin typeface="Calibri"/>
              </a:rPr>
              <a:t>—  </a:t>
            </a:r>
            <a:r>
              <a:rPr sz="1200">
                <a:solidFill>
                  <a:srgbClr val="141821"/>
                </a:solidFill>
                <a:latin typeface="Calibri"/>
              </a:rPr>
              <a:t>Generative UI: LLM emits widgets, host renders</a:t>
            </a:r>
          </a:p>
          <a:p>
            <a:pPr>
              <a:spcAft>
                <a:spcPts val="600"/>
              </a:spcAft>
            </a:pPr>
            <a:r>
              <a:rPr sz="1200" b="1">
                <a:solidFill>
                  <a:srgbClr val="12243D"/>
                </a:solidFill>
                <a:latin typeface="Calibri"/>
              </a:rPr>
              <a:t>—  </a:t>
            </a:r>
            <a:r>
              <a:rPr sz="1200">
                <a:solidFill>
                  <a:srgbClr val="141821"/>
                </a:solidFill>
                <a:latin typeface="Calibri"/>
              </a:rPr>
              <a:t>Multi-agent orchestration with sticky routing</a:t>
            </a:r>
          </a:p>
          <a:p>
            <a:pPr>
              <a:spcAft>
                <a:spcPts val="600"/>
              </a:spcAft>
            </a:pPr>
            <a:r>
              <a:rPr sz="1200" b="1">
                <a:solidFill>
                  <a:srgbClr val="12243D"/>
                </a:solidFill>
                <a:latin typeface="Calibri"/>
              </a:rPr>
              <a:t>—  </a:t>
            </a:r>
            <a:r>
              <a:rPr sz="1200">
                <a:solidFill>
                  <a:srgbClr val="141821"/>
                </a:solidFill>
                <a:latin typeface="Calibri"/>
              </a:rPr>
              <a:t>MCP server for analyst workstations</a:t>
            </a:r>
          </a:p>
        </p:txBody>
      </p:sp>
      <p:sp>
        <p:nvSpPr>
          <p:cNvPr id="14" name="Rounded Rectangle 13"/>
          <p:cNvSpPr/>
          <p:nvPr/>
        </p:nvSpPr>
        <p:spPr>
          <a:xfrm>
            <a:off x="8036356"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6356" y="1554480"/>
            <a:ext cx="3515258"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691640"/>
            <a:ext cx="3058058" cy="365760"/>
          </a:xfrm>
          <a:prstGeom prst="rect">
            <a:avLst/>
          </a:prstGeom>
          <a:noFill/>
        </p:spPr>
        <p:txBody>
          <a:bodyPr wrap="square" lIns="0" rIns="0" tIns="0" bIns="0" anchor="t">
            <a:spAutoFit/>
          </a:bodyPr>
          <a:lstStyle/>
          <a:p>
            <a:pPr algn="l"/>
            <a:r>
              <a:rPr sz="1500" b="1">
                <a:solidFill>
                  <a:srgbClr val="2F6F4F"/>
                </a:solidFill>
                <a:latin typeface="Calibri"/>
              </a:rPr>
              <a:t>Tomorrow — agent-native apps</a:t>
            </a:r>
          </a:p>
        </p:txBody>
      </p:sp>
      <p:sp>
        <p:nvSpPr>
          <p:cNvPr id="17" name="TextBox 16"/>
          <p:cNvSpPr txBox="1"/>
          <p:nvPr/>
        </p:nvSpPr>
        <p:spPr>
          <a:xfrm>
            <a:off x="8264956" y="2194560"/>
            <a:ext cx="3058058" cy="365760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UI itself is plug-in registry data</a:t>
            </a:r>
          </a:p>
          <a:p>
            <a:pPr>
              <a:spcAft>
                <a:spcPts val="600"/>
              </a:spcAft>
            </a:pPr>
            <a:r>
              <a:rPr sz="1200" b="1">
                <a:solidFill>
                  <a:srgbClr val="2F6F4F"/>
                </a:solidFill>
                <a:latin typeface="Calibri"/>
              </a:rPr>
              <a:t>—  </a:t>
            </a:r>
            <a:r>
              <a:rPr sz="1200">
                <a:solidFill>
                  <a:srgbClr val="141821"/>
                </a:solidFill>
                <a:latin typeface="Calibri"/>
              </a:rPr>
              <a:t>Federated remotes contribute capabilities mid-session</a:t>
            </a:r>
          </a:p>
          <a:p>
            <a:pPr>
              <a:spcAft>
                <a:spcPts val="600"/>
              </a:spcAft>
            </a:pPr>
            <a:r>
              <a:rPr sz="1200" b="1">
                <a:solidFill>
                  <a:srgbClr val="2F6F4F"/>
                </a:solidFill>
                <a:latin typeface="Calibri"/>
              </a:rPr>
              <a:t>—  </a:t>
            </a:r>
            <a:r>
              <a:rPr sz="1200">
                <a:solidFill>
                  <a:srgbClr val="141821"/>
                </a:solidFill>
                <a:latin typeface="Calibri"/>
              </a:rPr>
              <a:t>Audit-grade observability across LLM ↔ tool ↔ UI</a:t>
            </a:r>
          </a:p>
          <a:p>
            <a:pPr>
              <a:spcAft>
                <a:spcPts val="600"/>
              </a:spcAft>
            </a:pPr>
            <a:r>
              <a:rPr sz="1200" b="1">
                <a:solidFill>
                  <a:srgbClr val="2F6F4F"/>
                </a:solidFill>
                <a:latin typeface="Calibri"/>
              </a:rPr>
              <a:t>—  </a:t>
            </a:r>
            <a:r>
              <a:rPr sz="1200">
                <a:solidFill>
                  <a:srgbClr val="141821"/>
                </a:solidFill>
                <a:latin typeface="Calibri"/>
              </a:rPr>
              <a:t>Persona-scoped governance baked in</a:t>
            </a:r>
          </a:p>
        </p:txBody>
      </p:sp>
      <p:sp>
        <p:nvSpPr>
          <p:cNvPr id="18" name="Rectangle 1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0" name="TextBox 1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1" name="TextBox 2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now</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0"/>
          </a:xfrm>
          <a:prstGeom prst="rect">
            <a:avLst/>
          </a:prstGeom>
          <a:noFill/>
        </p:spPr>
        <p:txBody>
          <a:bodyPr wrap="square" lIns="0" rIns="0" tIns="0" bIns="0">
            <a:spAutoFit/>
          </a:bodyPr>
          <a:lstStyle/>
          <a:p>
            <a:pPr>
              <a:spcAft>
                <a:spcPts val="1000"/>
              </a:spcAft>
            </a:pPr>
            <a:r>
              <a:rPr sz="1400" b="1">
                <a:solidFill>
                  <a:srgbClr val="1E3A5F"/>
                </a:solidFill>
                <a:latin typeface="Calibri"/>
              </a:rPr>
              <a:t>•  </a:t>
            </a:r>
            <a:r>
              <a:rPr sz="1400" b="1">
                <a:solidFill>
                  <a:srgbClr val="141821"/>
                </a:solidFill>
                <a:latin typeface="Calibri"/>
              </a:rPr>
              <a:t>LLM-native tool calling matured. </a:t>
            </a:r>
            <a:r>
              <a:rPr sz="1400">
                <a:solidFill>
                  <a:srgbClr val="141821"/>
                </a:solidFill>
                <a:latin typeface="Calibri"/>
              </a:rPr>
              <a:t>OpenAI, Anthropic, Google, Mistral all ship structured tool calls. Quality and latency now meet enterprise bars.</a:t>
            </a:r>
          </a:p>
          <a:p>
            <a:pPr>
              <a:spcAft>
                <a:spcPts val="1000"/>
              </a:spcAft>
            </a:pPr>
            <a:r>
              <a:rPr sz="1400" b="1">
                <a:solidFill>
                  <a:srgbClr val="1E3A5F"/>
                </a:solidFill>
                <a:latin typeface="Calibri"/>
              </a:rPr>
              <a:t>•  </a:t>
            </a:r>
            <a:r>
              <a:rPr sz="1400" b="1">
                <a:solidFill>
                  <a:srgbClr val="141821"/>
                </a:solidFill>
                <a:latin typeface="Calibri"/>
              </a:rPr>
              <a:t>Three competing protocols emerged. </a:t>
            </a:r>
            <a:r>
              <a:rPr sz="1400">
                <a:solidFill>
                  <a:srgbClr val="141821"/>
                </a:solidFill>
                <a:latin typeface="Calibri"/>
              </a:rPr>
              <a:t>AG-UI from CopilotKit, Hashbrown from Liquid Frontiers, A2UI from a multi-vendor consortium. Each is the leader in a slice.</a:t>
            </a:r>
          </a:p>
          <a:p>
            <a:pPr>
              <a:spcAft>
                <a:spcPts val="1000"/>
              </a:spcAft>
            </a:pPr>
            <a:r>
              <a:rPr sz="1400" b="1">
                <a:solidFill>
                  <a:srgbClr val="1E3A5F"/>
                </a:solidFill>
                <a:latin typeface="Calibri"/>
              </a:rPr>
              <a:t>•  </a:t>
            </a:r>
            <a:r>
              <a:rPr sz="1400" b="1">
                <a:solidFill>
                  <a:srgbClr val="141821"/>
                </a:solidFill>
                <a:latin typeface="Calibri"/>
              </a:rPr>
              <a:t>MCP standardised the server side. </a:t>
            </a:r>
            <a:r>
              <a:rPr sz="1400">
                <a:solidFill>
                  <a:srgbClr val="141821"/>
                </a:solidFill>
                <a:latin typeface="Calibri"/>
              </a:rPr>
              <a:t>Anthropic's Model Context Protocol made tool definitions portable across analyst workstations (Claude Desktop, Cursor, Zed).</a:t>
            </a:r>
          </a:p>
          <a:p>
            <a:pPr>
              <a:spcAft>
                <a:spcPts val="1000"/>
              </a:spcAft>
            </a:pPr>
            <a:r>
              <a:rPr sz="1400" b="1">
                <a:solidFill>
                  <a:srgbClr val="1E3A5F"/>
                </a:solidFill>
                <a:latin typeface="Calibri"/>
              </a:rPr>
              <a:t>•  </a:t>
            </a:r>
            <a:r>
              <a:rPr sz="1400" b="1">
                <a:solidFill>
                  <a:srgbClr val="141821"/>
                </a:solidFill>
                <a:latin typeface="Calibri"/>
              </a:rPr>
              <a:t>Generative UI moved past PoC. </a:t>
            </a:r>
            <a:r>
              <a:rPr sz="1400">
                <a:solidFill>
                  <a:srgbClr val="141821"/>
                </a:solidFill>
                <a:latin typeface="Calibri"/>
              </a:rPr>
              <a:t>LLMs reliably emit JSON specifying widget + props; Angular signals + dynamic component loader make rendering trivial.</a:t>
            </a:r>
          </a:p>
          <a:p>
            <a:pPr>
              <a:spcAft>
                <a:spcPts val="1000"/>
              </a:spcAft>
            </a:pPr>
            <a:r>
              <a:rPr sz="1400" b="1">
                <a:solidFill>
                  <a:srgbClr val="1E3A5F"/>
                </a:solidFill>
                <a:latin typeface="Calibri"/>
              </a:rPr>
              <a:t>•  </a:t>
            </a:r>
            <a:r>
              <a:rPr sz="1400" b="1">
                <a:solidFill>
                  <a:srgbClr val="141821"/>
                </a:solidFill>
                <a:latin typeface="Calibri"/>
              </a:rPr>
              <a:t>Regulated industries are catching up. </a:t>
            </a:r>
            <a:r>
              <a:rPr sz="1400">
                <a:solidFill>
                  <a:srgbClr val="141821"/>
                </a:solidFill>
                <a:latin typeface="Calibri"/>
              </a:rPr>
              <a:t>Legal, healthcare, finance — all need defensible audit trails. The agentic UI substrate has to ship them by default.</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Three protocols,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3566160" cy="4572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AG-UI</a:t>
            </a:r>
          </a:p>
        </p:txBody>
      </p:sp>
      <p:sp>
        <p:nvSpPr>
          <p:cNvPr id="9" name="TextBox 8"/>
          <p:cNvSpPr txBox="1"/>
          <p:nvPr/>
        </p:nvSpPr>
        <p:spPr>
          <a:xfrm>
            <a:off x="868680" y="2194560"/>
            <a:ext cx="3108960" cy="365760"/>
          </a:xfrm>
          <a:prstGeom prst="rect">
            <a:avLst/>
          </a:prstGeom>
          <a:noFill/>
        </p:spPr>
        <p:txBody>
          <a:bodyPr wrap="square" lIns="0" rIns="0" tIns="0" bIns="0" anchor="t">
            <a:spAutoFit/>
          </a:bodyPr>
          <a:lstStyle/>
          <a:p>
            <a:pPr algn="l"/>
            <a:r>
              <a:rPr sz="1100" b="1">
                <a:solidFill>
                  <a:srgbClr val="4F46E5"/>
                </a:solidFill>
                <a:latin typeface="Calibri"/>
              </a:rPr>
              <a:t>By CopilotKit</a:t>
            </a:r>
          </a:p>
        </p:txBody>
      </p:sp>
      <p:sp>
        <p:nvSpPr>
          <p:cNvPr id="10" name="TextBox 9"/>
          <p:cNvSpPr txBox="1"/>
          <p:nvPr/>
        </p:nvSpPr>
        <p:spPr>
          <a:xfrm>
            <a:off x="868680" y="2606040"/>
            <a:ext cx="3108960" cy="2560320"/>
          </a:xfrm>
          <a:prstGeom prst="rect">
            <a:avLst/>
          </a:prstGeom>
          <a:noFill/>
        </p:spPr>
        <p:txBody>
          <a:bodyPr wrap="square" lIns="0" rIns="0" tIns="0" bIns="0">
            <a:spAutoFit/>
          </a:bodyPr>
          <a:lstStyle/>
          <a:p>
            <a:pPr>
              <a:spcAft>
                <a:spcPts val="600"/>
              </a:spcAft>
            </a:pPr>
            <a:r>
              <a:rPr sz="1200" b="1">
                <a:solidFill>
                  <a:srgbClr val="4F46E5"/>
                </a:solidFill>
                <a:latin typeface="Calibri"/>
              </a:rPr>
              <a:t>·  </a:t>
            </a:r>
            <a:r>
              <a:rPr sz="1200">
                <a:solidFill>
                  <a:srgbClr val="141821"/>
                </a:solidFill>
                <a:latin typeface="Calibri"/>
              </a:rPr>
              <a:t>Streaming via SSE</a:t>
            </a:r>
          </a:p>
          <a:p>
            <a:pPr>
              <a:spcAft>
                <a:spcPts val="600"/>
              </a:spcAft>
            </a:pPr>
            <a:r>
              <a:rPr sz="1200" b="1">
                <a:solidFill>
                  <a:srgbClr val="4F46E5"/>
                </a:solidFill>
                <a:latin typeface="Calibri"/>
              </a:rPr>
              <a:t>·  </a:t>
            </a:r>
            <a:r>
              <a:rPr sz="1200">
                <a:solidFill>
                  <a:srgbClr val="141821"/>
                </a:solidFill>
                <a:latin typeface="Calibri"/>
              </a:rPr>
              <a:t>Lifecycle + tool-call events</a:t>
            </a:r>
          </a:p>
          <a:p>
            <a:pPr>
              <a:spcAft>
                <a:spcPts val="600"/>
              </a:spcAft>
            </a:pPr>
            <a:r>
              <a:rPr sz="1200" b="1">
                <a:solidFill>
                  <a:srgbClr val="4F46E5"/>
                </a:solidFill>
                <a:latin typeface="Calibri"/>
              </a:rPr>
              <a:t>·  </a:t>
            </a:r>
            <a:r>
              <a:rPr sz="1200">
                <a:solidFill>
                  <a:srgbClr val="141821"/>
                </a:solidFill>
                <a:latin typeface="Calibri"/>
              </a:rPr>
              <a:t>Generative UI via show-component</a:t>
            </a:r>
          </a:p>
          <a:p>
            <a:pPr>
              <a:spcAft>
                <a:spcPts val="600"/>
              </a:spcAft>
            </a:pPr>
            <a:r>
              <a:rPr sz="1200" b="1">
                <a:solidFill>
                  <a:srgbClr val="4F46E5"/>
                </a:solidFill>
                <a:latin typeface="Calibri"/>
              </a:rPr>
              <a:t>·  </a:t>
            </a:r>
            <a:r>
              <a:rPr sz="1200">
                <a:solidFill>
                  <a:srgbClr val="141821"/>
                </a:solidFill>
                <a:latin typeface="Calibri"/>
              </a:rPr>
              <a:t>Mature client implementation</a:t>
            </a:r>
          </a:p>
          <a:p>
            <a:pPr>
              <a:spcAft>
                <a:spcPts val="600"/>
              </a:spcAft>
            </a:pPr>
            <a:r>
              <a:rPr sz="1200" b="1">
                <a:solidFill>
                  <a:srgbClr val="4F46E5"/>
                </a:solidFill>
                <a:latin typeface="Calibri"/>
              </a:rPr>
              <a:t>·  </a:t>
            </a:r>
            <a:r>
              <a:rPr sz="1200">
                <a:solidFill>
                  <a:srgbClr val="141821"/>
                </a:solidFill>
                <a:latin typeface="Calibri"/>
              </a:rPr>
              <a:t>Best for: server-driven agent flows</a:t>
            </a:r>
          </a:p>
        </p:txBody>
      </p:sp>
      <p:sp>
        <p:nvSpPr>
          <p:cNvPr id="11" name="Rounded Rectangle 10"/>
          <p:cNvSpPr/>
          <p:nvPr/>
        </p:nvSpPr>
        <p:spPr>
          <a:xfrm>
            <a:off x="448056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645920"/>
            <a:ext cx="3566160" cy="457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Hashbrown</a:t>
            </a:r>
          </a:p>
        </p:txBody>
      </p:sp>
      <p:sp>
        <p:nvSpPr>
          <p:cNvPr id="14" name="TextBox 13"/>
          <p:cNvSpPr txBox="1"/>
          <p:nvPr/>
        </p:nvSpPr>
        <p:spPr>
          <a:xfrm>
            <a:off x="4709160" y="2194560"/>
            <a:ext cx="3108960" cy="365760"/>
          </a:xfrm>
          <a:prstGeom prst="rect">
            <a:avLst/>
          </a:prstGeom>
          <a:noFill/>
        </p:spPr>
        <p:txBody>
          <a:bodyPr wrap="square" lIns="0" rIns="0" tIns="0" bIns="0" anchor="t">
            <a:spAutoFit/>
          </a:bodyPr>
          <a:lstStyle/>
          <a:p>
            <a:pPr algn="l"/>
            <a:r>
              <a:rPr sz="1100" b="1">
                <a:solidFill>
                  <a:srgbClr val="059669"/>
                </a:solidFill>
                <a:latin typeface="Calibri"/>
              </a:rPr>
              <a:t>By Liquid Frontiers</a:t>
            </a:r>
          </a:p>
        </p:txBody>
      </p:sp>
      <p:sp>
        <p:nvSpPr>
          <p:cNvPr id="15" name="TextBox 14"/>
          <p:cNvSpPr txBox="1"/>
          <p:nvPr/>
        </p:nvSpPr>
        <p:spPr>
          <a:xfrm>
            <a:off x="4709160" y="2606040"/>
            <a:ext cx="3108960" cy="2560320"/>
          </a:xfrm>
          <a:prstGeom prst="rect">
            <a:avLst/>
          </a:prstGeom>
          <a:noFill/>
        </p:spPr>
        <p:txBody>
          <a:bodyPr wrap="square" lIns="0" rIns="0" tIns="0" bIns="0">
            <a:spAutoFit/>
          </a:bodyPr>
          <a:lstStyle/>
          <a:p>
            <a:pPr>
              <a:spcAft>
                <a:spcPts val="600"/>
              </a:spcAft>
            </a:pPr>
            <a:r>
              <a:rPr sz="1200" b="1">
                <a:solidFill>
                  <a:srgbClr val="059669"/>
                </a:solidFill>
                <a:latin typeface="Calibri"/>
              </a:rPr>
              <a:t>·  </a:t>
            </a:r>
            <a:r>
              <a:rPr sz="1200">
                <a:solidFill>
                  <a:srgbClr val="141821"/>
                </a:solidFill>
                <a:latin typeface="Calibri"/>
              </a:rPr>
              <a:t>UI-generation streams</a:t>
            </a:r>
          </a:p>
          <a:p>
            <a:pPr>
              <a:spcAft>
                <a:spcPts val="600"/>
              </a:spcAft>
            </a:pPr>
            <a:r>
              <a:rPr sz="1200" b="1">
                <a:solidFill>
                  <a:srgbClr val="059669"/>
                </a:solidFill>
                <a:latin typeface="Calibri"/>
              </a:rPr>
              <a:t>·  </a:t>
            </a:r>
            <a:r>
              <a:rPr sz="1200">
                <a:solidFill>
                  <a:srgbClr val="141821"/>
                </a:solidFill>
                <a:latin typeface="Calibri"/>
              </a:rPr>
              <a:t>Widget + props natively</a:t>
            </a:r>
          </a:p>
          <a:p>
            <a:pPr>
              <a:spcAft>
                <a:spcPts val="600"/>
              </a:spcAft>
            </a:pPr>
            <a:r>
              <a:rPr sz="1200" b="1">
                <a:solidFill>
                  <a:srgbClr val="059669"/>
                </a:solidFill>
                <a:latin typeface="Calibri"/>
              </a:rPr>
              <a:t>·  </a:t>
            </a:r>
            <a:r>
              <a:rPr sz="1200">
                <a:solidFill>
                  <a:srgbClr val="141821"/>
                </a:solidFill>
                <a:latin typeface="Calibri"/>
              </a:rPr>
              <a:t>Multi-provider (OpenAI, Google)</a:t>
            </a:r>
          </a:p>
          <a:p>
            <a:pPr>
              <a:spcAft>
                <a:spcPts val="600"/>
              </a:spcAft>
            </a:pPr>
            <a:r>
              <a:rPr sz="1200" b="1">
                <a:solidFill>
                  <a:srgbClr val="059669"/>
                </a:solidFill>
                <a:latin typeface="Calibri"/>
              </a:rPr>
              <a:t>·  </a:t>
            </a:r>
            <a:r>
              <a:rPr sz="1200">
                <a:solidFill>
                  <a:srgbClr val="141821"/>
                </a:solidFill>
                <a:latin typeface="Calibri"/>
              </a:rPr>
              <a:t>Lighter than AG-UI</a:t>
            </a:r>
          </a:p>
          <a:p>
            <a:pPr>
              <a:spcAft>
                <a:spcPts val="600"/>
              </a:spcAft>
            </a:pPr>
            <a:r>
              <a:rPr sz="1200" b="1">
                <a:solidFill>
                  <a:srgbClr val="059669"/>
                </a:solidFill>
                <a:latin typeface="Calibri"/>
              </a:rPr>
              <a:t>·  </a:t>
            </a:r>
            <a:r>
              <a:rPr sz="1200">
                <a:solidFill>
                  <a:srgbClr val="141821"/>
                </a:solidFill>
                <a:latin typeface="Calibri"/>
              </a:rPr>
              <a:t>Best for: rapid generative-UI demos</a:t>
            </a:r>
          </a:p>
        </p:txBody>
      </p:sp>
      <p:sp>
        <p:nvSpPr>
          <p:cNvPr id="16" name="Rounded Rectangle 15"/>
          <p:cNvSpPr/>
          <p:nvPr/>
        </p:nvSpPr>
        <p:spPr>
          <a:xfrm>
            <a:off x="832104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645920"/>
            <a:ext cx="356616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A2UI</a:t>
            </a:r>
          </a:p>
        </p:txBody>
      </p:sp>
      <p:sp>
        <p:nvSpPr>
          <p:cNvPr id="19" name="TextBox 18"/>
          <p:cNvSpPr txBox="1"/>
          <p:nvPr/>
        </p:nvSpPr>
        <p:spPr>
          <a:xfrm>
            <a:off x="8549640" y="2194560"/>
            <a:ext cx="3108960" cy="365760"/>
          </a:xfrm>
          <a:prstGeom prst="rect">
            <a:avLst/>
          </a:prstGeom>
          <a:noFill/>
        </p:spPr>
        <p:txBody>
          <a:bodyPr wrap="square" lIns="0" rIns="0" tIns="0" bIns="0" anchor="t">
            <a:spAutoFit/>
          </a:bodyPr>
          <a:lstStyle/>
          <a:p>
            <a:pPr algn="l"/>
            <a:r>
              <a:rPr sz="1100" b="1">
                <a:solidFill>
                  <a:srgbClr val="D97706"/>
                </a:solidFill>
                <a:latin typeface="Calibri"/>
              </a:rPr>
              <a:t>By Multi-vendor consortium</a:t>
            </a:r>
          </a:p>
        </p:txBody>
      </p:sp>
      <p:sp>
        <p:nvSpPr>
          <p:cNvPr id="20" name="TextBox 19"/>
          <p:cNvSpPr txBox="1"/>
          <p:nvPr/>
        </p:nvSpPr>
        <p:spPr>
          <a:xfrm>
            <a:off x="8549640" y="2606040"/>
            <a:ext cx="3108960" cy="2560320"/>
          </a:xfrm>
          <a:prstGeom prst="rect">
            <a:avLst/>
          </a:prstGeom>
          <a:noFill/>
        </p:spPr>
        <p:txBody>
          <a:bodyPr wrap="square" lIns="0" rIns="0" tIns="0" bIns="0">
            <a:spAutoFit/>
          </a:bodyPr>
          <a:lstStyle/>
          <a:p>
            <a:pPr>
              <a:spcAft>
                <a:spcPts val="600"/>
              </a:spcAft>
            </a:pPr>
            <a:r>
              <a:rPr sz="1200" b="1">
                <a:solidFill>
                  <a:srgbClr val="D97706"/>
                </a:solidFill>
                <a:latin typeface="Calibri"/>
              </a:rPr>
              <a:t>·  </a:t>
            </a:r>
            <a:r>
              <a:rPr sz="1200">
                <a:solidFill>
                  <a:srgbClr val="141821"/>
                </a:solidFill>
                <a:latin typeface="Calibri"/>
              </a:rPr>
              <a:t>ui-action event class</a:t>
            </a:r>
          </a:p>
          <a:p>
            <a:pPr>
              <a:spcAft>
                <a:spcPts val="600"/>
              </a:spcAft>
            </a:pPr>
            <a:r>
              <a:rPr sz="1200" b="1">
                <a:solidFill>
                  <a:srgbClr val="D97706"/>
                </a:solidFill>
                <a:latin typeface="Calibri"/>
              </a:rPr>
              <a:t>·  </a:t>
            </a:r>
            <a:r>
              <a:rPr sz="1200">
                <a:solidFill>
                  <a:srgbClr val="141821"/>
                </a:solidFill>
                <a:latin typeface="Calibri"/>
              </a:rPr>
              <a:t>Agent drives the whole UI</a:t>
            </a:r>
          </a:p>
          <a:p>
            <a:pPr>
              <a:spcAft>
                <a:spcPts val="600"/>
              </a:spcAft>
            </a:pPr>
            <a:r>
              <a:rPr sz="1200" b="1">
                <a:solidFill>
                  <a:srgbClr val="D97706"/>
                </a:solidFill>
                <a:latin typeface="Calibri"/>
              </a:rPr>
              <a:t>·  </a:t>
            </a:r>
            <a:r>
              <a:rPr sz="1200">
                <a:solidFill>
                  <a:srgbClr val="141821"/>
                </a:solidFill>
                <a:latin typeface="Calibri"/>
              </a:rPr>
              <a:t>Action-driven (not just tool-driven)</a:t>
            </a:r>
          </a:p>
          <a:p>
            <a:pPr>
              <a:spcAft>
                <a:spcPts val="600"/>
              </a:spcAft>
            </a:pPr>
            <a:r>
              <a:rPr sz="1200" b="1">
                <a:solidFill>
                  <a:srgbClr val="D97706"/>
                </a:solidFill>
                <a:latin typeface="Calibri"/>
              </a:rPr>
              <a:t>·  </a:t>
            </a:r>
            <a:r>
              <a:rPr sz="1200">
                <a:solidFill>
                  <a:srgbClr val="141821"/>
                </a:solidFill>
                <a:latin typeface="Calibri"/>
              </a:rPr>
              <a:t>Spec still evolving</a:t>
            </a:r>
          </a:p>
          <a:p>
            <a:pPr>
              <a:spcAft>
                <a:spcPts val="600"/>
              </a:spcAft>
            </a:pPr>
            <a:r>
              <a:rPr sz="1200" b="1">
                <a:solidFill>
                  <a:srgbClr val="D97706"/>
                </a:solidFill>
                <a:latin typeface="Calibri"/>
              </a:rPr>
              <a:t>·  </a:t>
            </a:r>
            <a:r>
              <a:rPr sz="1200">
                <a:solidFill>
                  <a:srgbClr val="141821"/>
                </a:solidFill>
                <a:latin typeface="Calibri"/>
              </a:rPr>
              <a:t>Best for: agent-driven nav + state</a:t>
            </a:r>
          </a:p>
        </p:txBody>
      </p:sp>
      <p:sp>
        <p:nvSpPr>
          <p:cNvPr id="21" name="TextBox 20"/>
          <p:cNvSpPr txBox="1"/>
          <p:nvPr/>
        </p:nvSpPr>
        <p:spPr>
          <a:xfrm>
            <a:off x="640080" y="5669280"/>
            <a:ext cx="10911535" cy="731520"/>
          </a:xfrm>
          <a:prstGeom prst="rect">
            <a:avLst/>
          </a:prstGeom>
          <a:noFill/>
        </p:spPr>
        <p:txBody>
          <a:bodyPr wrap="square" lIns="0" rIns="0" tIns="0" bIns="0" anchor="t">
            <a:spAutoFit/>
          </a:bodyPr>
          <a:lstStyle/>
          <a:p>
            <a:pPr algn="ctr"/>
            <a:r>
              <a:rPr sz="1400" b="1">
                <a:solidFill>
                  <a:srgbClr val="12243D"/>
                </a:solidFill>
                <a:latin typeface="Calibri"/>
              </a:rPr>
              <a:t>@maverick/agentic-ui — one AgenticBackend abstraction; chat shell, registries, and widgets stay protocol-agnostic.</a:t>
            </a:r>
          </a:p>
        </p:txBody>
      </p:sp>
      <p:sp>
        <p:nvSpPr>
          <p:cNvPr id="22" name="Rectangle 2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4" name="TextBox 2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5" name="TextBox 2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protocol for agent ↔ UI communication, originated by CopilotKit.</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Transport-agnostic. </a:t>
            </a:r>
            <a:r>
              <a:rPr sz="1300">
                <a:solidFill>
                  <a:srgbClr val="141821"/>
                </a:solidFill>
                <a:latin typeface="Calibri"/>
              </a:rPr>
              <a:t>SSE in practice; WebSocket and plain HTTP also valid carriers.</a:t>
            </a:r>
          </a:p>
          <a:p>
            <a:pPr>
              <a:spcAft>
                <a:spcPts val="800"/>
              </a:spcAft>
            </a:pPr>
            <a:r>
              <a:rPr sz="1300" b="1">
                <a:solidFill>
                  <a:srgbClr val="1E3A5F"/>
                </a:solidFill>
                <a:latin typeface="Calibri"/>
              </a:rPr>
              <a:t>•  </a:t>
            </a:r>
            <a:r>
              <a:rPr sz="1300" b="1">
                <a:solidFill>
                  <a:srgbClr val="141821"/>
                </a:solidFill>
                <a:latin typeface="Calibri"/>
              </a:rPr>
              <a:t>Message-based. </a:t>
            </a:r>
            <a:r>
              <a:rPr sz="1300">
                <a:solidFill>
                  <a:srgbClr val="141821"/>
                </a:solidFill>
                <a:latin typeface="Calibri"/>
              </a:rPr>
              <a:t>Discrete event types — RUN_STARTED, TEXT_MESSAGE_*, TOOL_CALL_*, RUN_FINISHED — not a free-form stream.</a:t>
            </a:r>
          </a:p>
          <a:p>
            <a:pPr>
              <a:spcAft>
                <a:spcPts val="800"/>
              </a:spcAft>
            </a:pPr>
            <a:r>
              <a:rPr sz="1300" b="1">
                <a:solidFill>
                  <a:srgbClr val="1E3A5F"/>
                </a:solidFill>
                <a:latin typeface="Calibri"/>
              </a:rPr>
              <a:t>•  </a:t>
            </a:r>
            <a:r>
              <a:rPr sz="1300" b="1">
                <a:solidFill>
                  <a:srgbClr val="141821"/>
                </a:solidFill>
                <a:latin typeface="Calibri"/>
              </a:rPr>
              <a:t>Tool-call first-class. </a:t>
            </a:r>
            <a:r>
              <a:rPr sz="1300">
                <a:solidFill>
                  <a:srgbClr val="141821"/>
                </a:solidFill>
                <a:latin typeface="Calibri"/>
              </a:rPr>
              <a:t>Distinguishes server-side tools (run on the agent host) from client-side tools (run in the browser).</a:t>
            </a:r>
          </a:p>
          <a:p>
            <a:pPr>
              <a:spcAft>
                <a:spcPts val="800"/>
              </a:spcAft>
            </a:pPr>
            <a:r>
              <a:rPr sz="1300" b="1">
                <a:solidFill>
                  <a:srgbClr val="1E3A5F"/>
                </a:solidFill>
                <a:latin typeface="Calibri"/>
              </a:rPr>
              <a:t>•  </a:t>
            </a:r>
            <a:r>
              <a:rPr sz="1300" b="1">
                <a:solidFill>
                  <a:srgbClr val="141821"/>
                </a:solidFill>
                <a:latin typeface="Calibri"/>
              </a:rPr>
              <a:t>Generative UI by convention. </a:t>
            </a:r>
            <a:r>
              <a:rPr sz="1300">
                <a:solidFill>
                  <a:srgbClr val="141821"/>
                </a:solidFill>
                <a:latin typeface="Calibri"/>
              </a:rPr>
              <a:t>Reserved show-component tool whose result tells the host which registered widget to render.</a:t>
            </a:r>
          </a:p>
          <a:p>
            <a:pPr>
              <a:spcAft>
                <a:spcPts val="800"/>
              </a:spcAft>
            </a:pPr>
            <a:r>
              <a:rPr sz="1300" b="1">
                <a:solidFill>
                  <a:srgbClr val="1E3A5F"/>
                </a:solidFill>
                <a:latin typeface="Calibri"/>
              </a:rPr>
              <a:t>•  </a:t>
            </a:r>
            <a:r>
              <a:rPr sz="1300" b="1">
                <a:solidFill>
                  <a:srgbClr val="141821"/>
                </a:solidFill>
                <a:latin typeface="Calibri"/>
              </a:rPr>
              <a:t>Reference implementation. </a:t>
            </a:r>
            <a:r>
              <a:rPr sz="1300">
                <a:solidFill>
                  <a:srgbClr val="141821"/>
                </a:solidFill>
                <a:latin typeface="Calibri"/>
              </a:rPr>
              <a:t>@ag-ui/client — the runUntilSettled loop + HttpAgent SSE adapter — is the canonical client.</a:t>
            </a:r>
          </a:p>
          <a:p>
            <a:pPr>
              <a:spcAft>
                <a:spcPts val="800"/>
              </a:spcAft>
            </a:pPr>
            <a:r>
              <a:rPr sz="1300" b="1">
                <a:solidFill>
                  <a:srgbClr val="1E3A5F"/>
                </a:solidFill>
                <a:latin typeface="Calibri"/>
              </a:rPr>
              <a:t>•  </a:t>
            </a:r>
            <a:r>
              <a:rPr sz="1300" b="1">
                <a:solidFill>
                  <a:srgbClr val="141821"/>
                </a:solidFill>
                <a:latin typeface="Calibri"/>
              </a:rPr>
              <a:t>Adoption. </a:t>
            </a:r>
            <a:r>
              <a:rPr sz="1300">
                <a:solidFill>
                  <a:srgbClr val="141821"/>
                </a:solidFill>
                <a:latin typeface="Calibri"/>
              </a:rPr>
              <a:t>CopilotKit, AG-UI Studio, multiple Mastra-based agent backends, several Angular and React reference apps.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Event timeline — one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100" b="0">
                <a:solidFill>
                  <a:srgbClr val="6B7380"/>
                </a:solidFill>
                <a:latin typeface="Calibri"/>
              </a:rPr>
              <a:t>Time flows left → right. Pills are the events on the wire; vertical position groups them by class.</a:t>
            </a:r>
          </a:p>
        </p:txBody>
      </p:sp>
      <p:cxnSp>
        <p:nvCxnSpPr>
          <p:cNvPr id="7" name="Connector 6"/>
          <p:cNvCxnSpPr/>
          <p:nvPr/>
        </p:nvCxnSpPr>
        <p:spPr>
          <a:xfrm>
            <a:off x="822960" y="5852160"/>
            <a:ext cx="10545775" cy="1"/>
          </a:xfrm>
          <a:prstGeom prst="line">
            <a:avLst/>
          </a:prstGeom>
          <a:ln w="15240">
            <a:solidFill>
              <a:srgbClr val="E3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371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0 ms</a:t>
            </a:r>
          </a:p>
        </p:txBody>
      </p:sp>
      <p:sp>
        <p:nvSpPr>
          <p:cNvPr id="10" name="Rectangle 9"/>
          <p:cNvSpPr/>
          <p:nvPr/>
        </p:nvSpPr>
        <p:spPr>
          <a:xfrm>
            <a:off x="3657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1.2 s</a:t>
            </a:r>
          </a:p>
        </p:txBody>
      </p:sp>
      <p:sp>
        <p:nvSpPr>
          <p:cNvPr id="12" name="Rectangle 11"/>
          <p:cNvSpPr/>
          <p:nvPr/>
        </p:nvSpPr>
        <p:spPr>
          <a:xfrm>
            <a:off x="73152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3.4 s</a:t>
            </a:r>
          </a:p>
        </p:txBody>
      </p:sp>
      <p:sp>
        <p:nvSpPr>
          <p:cNvPr id="14" name="Rectangle 13"/>
          <p:cNvSpPr/>
          <p:nvPr/>
        </p:nvSpPr>
        <p:spPr>
          <a:xfrm>
            <a:off x="109728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5.1 s</a:t>
            </a:r>
          </a:p>
        </p:txBody>
      </p:sp>
      <p:sp>
        <p:nvSpPr>
          <p:cNvPr id="16" name="TextBox 15"/>
          <p:cNvSpPr txBox="1"/>
          <p:nvPr/>
        </p:nvSpPr>
        <p:spPr>
          <a:xfrm>
            <a:off x="640080" y="2057400"/>
            <a:ext cx="1463040" cy="274320"/>
          </a:xfrm>
          <a:prstGeom prst="rect">
            <a:avLst/>
          </a:prstGeom>
          <a:noFill/>
        </p:spPr>
        <p:txBody>
          <a:bodyPr wrap="square" lIns="0" rIns="0" tIns="0" bIns="0" anchor="t">
            <a:spAutoFit/>
          </a:bodyPr>
          <a:lstStyle/>
          <a:p>
            <a:pPr algn="l"/>
            <a:r>
              <a:rPr sz="900" b="1">
                <a:solidFill>
                  <a:srgbClr val="1E3A5F"/>
                </a:solidFill>
                <a:latin typeface="Calibri"/>
              </a:rPr>
              <a:t>LIFECYCLE</a:t>
            </a:r>
          </a:p>
        </p:txBody>
      </p:sp>
      <p:sp>
        <p:nvSpPr>
          <p:cNvPr id="17" name="Rounded Rectangle 16"/>
          <p:cNvSpPr/>
          <p:nvPr/>
        </p:nvSpPr>
        <p:spPr>
          <a:xfrm>
            <a:off x="137160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RUN_STARTED</a:t>
            </a:r>
          </a:p>
        </p:txBody>
      </p:sp>
      <p:sp>
        <p:nvSpPr>
          <p:cNvPr id="19" name="Rounded Rectangle 18"/>
          <p:cNvSpPr/>
          <p:nvPr/>
        </p:nvSpPr>
        <p:spPr>
          <a:xfrm>
            <a:off x="1042416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RUN_FINISHED</a:t>
            </a:r>
          </a:p>
        </p:txBody>
      </p:sp>
      <p:sp>
        <p:nvSpPr>
          <p:cNvPr id="21" name="TextBox 20"/>
          <p:cNvSpPr txBox="1"/>
          <p:nvPr/>
        </p:nvSpPr>
        <p:spPr>
          <a:xfrm>
            <a:off x="640080" y="2697480"/>
            <a:ext cx="1463040" cy="274320"/>
          </a:xfrm>
          <a:prstGeom prst="rect">
            <a:avLst/>
          </a:prstGeom>
          <a:noFill/>
        </p:spPr>
        <p:txBody>
          <a:bodyPr wrap="square" lIns="0" rIns="0" tIns="0" bIns="0" anchor="t">
            <a:spAutoFit/>
          </a:bodyPr>
          <a:lstStyle/>
          <a:p>
            <a:pPr algn="l"/>
            <a:r>
              <a:rPr sz="900" b="1">
                <a:solidFill>
                  <a:srgbClr val="356B88"/>
                </a:solidFill>
                <a:latin typeface="Calibri"/>
              </a:rPr>
              <a:t>TEXT</a:t>
            </a:r>
          </a:p>
        </p:txBody>
      </p:sp>
      <p:sp>
        <p:nvSpPr>
          <p:cNvPr id="22" name="Rounded Rectangle 21"/>
          <p:cNvSpPr/>
          <p:nvPr/>
        </p:nvSpPr>
        <p:spPr>
          <a:xfrm>
            <a:off x="18288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MESSAGE_START</a:t>
            </a:r>
          </a:p>
        </p:txBody>
      </p:sp>
      <p:sp>
        <p:nvSpPr>
          <p:cNvPr id="24" name="Rounded Rectangle 23"/>
          <p:cNvSpPr/>
          <p:nvPr/>
        </p:nvSpPr>
        <p:spPr>
          <a:xfrm>
            <a:off x="329184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6" name="Rounded Rectangle 25"/>
          <p:cNvSpPr/>
          <p:nvPr/>
        </p:nvSpPr>
        <p:spPr>
          <a:xfrm>
            <a:off x="365760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8" name="Rounded Rectangle 27"/>
          <p:cNvSpPr/>
          <p:nvPr/>
        </p:nvSpPr>
        <p:spPr>
          <a:xfrm>
            <a:off x="402336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2336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0" name="Rounded Rectangle 29"/>
          <p:cNvSpPr/>
          <p:nvPr/>
        </p:nvSpPr>
        <p:spPr>
          <a:xfrm>
            <a:off x="438912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2" name="Rounded Rectangle 31"/>
          <p:cNvSpPr/>
          <p:nvPr/>
        </p:nvSpPr>
        <p:spPr>
          <a:xfrm>
            <a:off x="50292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MESSAGE_END</a:t>
            </a:r>
          </a:p>
        </p:txBody>
      </p:sp>
      <p:sp>
        <p:nvSpPr>
          <p:cNvPr id="34" name="TextBox 33"/>
          <p:cNvSpPr txBox="1"/>
          <p:nvPr/>
        </p:nvSpPr>
        <p:spPr>
          <a:xfrm>
            <a:off x="640080" y="3337560"/>
            <a:ext cx="1463040" cy="274320"/>
          </a:xfrm>
          <a:prstGeom prst="rect">
            <a:avLst/>
          </a:prstGeom>
          <a:noFill/>
        </p:spPr>
        <p:txBody>
          <a:bodyPr wrap="square" lIns="0" rIns="0" tIns="0" bIns="0" anchor="t">
            <a:spAutoFit/>
          </a:bodyPr>
          <a:lstStyle/>
          <a:p>
            <a:pPr algn="l"/>
            <a:r>
              <a:rPr sz="900" b="1">
                <a:solidFill>
                  <a:srgbClr val="2F6F4F"/>
                </a:solidFill>
                <a:latin typeface="Calibri"/>
              </a:rPr>
              <a:t>TOOL CALL</a:t>
            </a:r>
          </a:p>
        </p:txBody>
      </p:sp>
      <p:sp>
        <p:nvSpPr>
          <p:cNvPr id="35" name="Rounded Rectangle 34"/>
          <p:cNvSpPr/>
          <p:nvPr/>
        </p:nvSpPr>
        <p:spPr>
          <a:xfrm>
            <a:off x="640080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CALL_START</a:t>
            </a:r>
          </a:p>
        </p:txBody>
      </p:sp>
      <p:sp>
        <p:nvSpPr>
          <p:cNvPr id="37" name="Rounded Rectangle 36"/>
          <p:cNvSpPr/>
          <p:nvPr/>
        </p:nvSpPr>
        <p:spPr>
          <a:xfrm>
            <a:off x="7863840" y="3383280"/>
            <a:ext cx="9144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3383280"/>
            <a:ext cx="914400" cy="292608"/>
          </a:xfrm>
          <a:prstGeom prst="rect">
            <a:avLst/>
          </a:prstGeom>
          <a:noFill/>
        </p:spPr>
        <p:txBody>
          <a:bodyPr wrap="none" lIns="0" rIns="0" tIns="0" bIns="0" anchor="ctr">
            <a:spAutoFit/>
          </a:bodyPr>
          <a:lstStyle/>
          <a:p>
            <a:pPr algn="ctr"/>
            <a:r>
              <a:rPr sz="900" b="1">
                <a:solidFill>
                  <a:srgbClr val="FFFFFF"/>
                </a:solidFill>
                <a:latin typeface="Menlo"/>
              </a:rPr>
              <a:t>ARGS</a:t>
            </a:r>
          </a:p>
        </p:txBody>
      </p:sp>
      <p:sp>
        <p:nvSpPr>
          <p:cNvPr id="39" name="Rounded Rectangle 38"/>
          <p:cNvSpPr/>
          <p:nvPr/>
        </p:nvSpPr>
        <p:spPr>
          <a:xfrm>
            <a:off x="8869680" y="3383280"/>
            <a:ext cx="128016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3383280"/>
            <a:ext cx="1280160" cy="292608"/>
          </a:xfrm>
          <a:prstGeom prst="rect">
            <a:avLst/>
          </a:prstGeom>
          <a:noFill/>
        </p:spPr>
        <p:txBody>
          <a:bodyPr wrap="none" lIns="0" rIns="0" tIns="0" bIns="0" anchor="ctr">
            <a:spAutoFit/>
          </a:bodyPr>
          <a:lstStyle/>
          <a:p>
            <a:pPr algn="ctr"/>
            <a:r>
              <a:rPr sz="900" b="1">
                <a:solidFill>
                  <a:srgbClr val="FFFFFF"/>
                </a:solidFill>
                <a:latin typeface="Menlo"/>
              </a:rPr>
              <a:t>CALL_END</a:t>
            </a:r>
          </a:p>
        </p:txBody>
      </p:sp>
      <p:sp>
        <p:nvSpPr>
          <p:cNvPr id="41" name="Rounded Rectangle 40"/>
          <p:cNvSpPr/>
          <p:nvPr/>
        </p:nvSpPr>
        <p:spPr>
          <a:xfrm>
            <a:off x="1024128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RESULT</a:t>
            </a:r>
          </a:p>
        </p:txBody>
      </p:sp>
      <p:sp>
        <p:nvSpPr>
          <p:cNvPr id="43" name="TextBox 42"/>
          <p:cNvSpPr txBox="1"/>
          <p:nvPr/>
        </p:nvSpPr>
        <p:spPr>
          <a:xfrm>
            <a:off x="640080" y="3977640"/>
            <a:ext cx="1463040" cy="274320"/>
          </a:xfrm>
          <a:prstGeom prst="rect">
            <a:avLst/>
          </a:prstGeom>
          <a:noFill/>
        </p:spPr>
        <p:txBody>
          <a:bodyPr wrap="square" lIns="0" rIns="0" tIns="0" bIns="0" anchor="t">
            <a:spAutoFit/>
          </a:bodyPr>
          <a:lstStyle/>
          <a:p>
            <a:pPr algn="l"/>
            <a:r>
              <a:rPr sz="900" b="1">
                <a:solidFill>
                  <a:srgbClr val="C48221"/>
                </a:solidFill>
                <a:latin typeface="Calibri"/>
              </a:rPr>
              <a:t>GENERATIVE UI</a:t>
            </a:r>
          </a:p>
        </p:txBody>
      </p:sp>
      <p:sp>
        <p:nvSpPr>
          <p:cNvPr id="44" name="Rounded Rectangle 43"/>
          <p:cNvSpPr/>
          <p:nvPr/>
        </p:nvSpPr>
        <p:spPr>
          <a:xfrm>
            <a:off x="10149840" y="4023360"/>
            <a:ext cx="155448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49840" y="4023360"/>
            <a:ext cx="1554480" cy="292608"/>
          </a:xfrm>
          <a:prstGeom prst="rect">
            <a:avLst/>
          </a:prstGeom>
          <a:noFill/>
        </p:spPr>
        <p:txBody>
          <a:bodyPr wrap="none" lIns="0" rIns="0" tIns="0" bIns="0" anchor="ctr">
            <a:spAutoFit/>
          </a:bodyPr>
          <a:lstStyle/>
          <a:p>
            <a:pPr algn="ctr"/>
            <a:r>
              <a:rPr sz="900" b="1">
                <a:solidFill>
                  <a:srgbClr val="FFFFFF"/>
                </a:solidFill>
                <a:latin typeface="Menlo"/>
              </a:rPr>
              <a:t>WIDGET_RENDER</a:t>
            </a:r>
          </a:p>
        </p:txBody>
      </p:sp>
      <p:sp>
        <p:nvSpPr>
          <p:cNvPr id="46" name="TextBox 45"/>
          <p:cNvSpPr txBox="1"/>
          <p:nvPr/>
        </p:nvSpPr>
        <p:spPr>
          <a:xfrm>
            <a:off x="640080" y="4617720"/>
            <a:ext cx="1463040" cy="274320"/>
          </a:xfrm>
          <a:prstGeom prst="rect">
            <a:avLst/>
          </a:prstGeom>
          <a:noFill/>
        </p:spPr>
        <p:txBody>
          <a:bodyPr wrap="square" lIns="0" rIns="0" tIns="0" bIns="0" anchor="t">
            <a:spAutoFit/>
          </a:bodyPr>
          <a:lstStyle/>
          <a:p>
            <a:pPr algn="l"/>
            <a:r>
              <a:rPr sz="900" b="1">
                <a:solidFill>
                  <a:srgbClr val="356B88"/>
                </a:solidFill>
                <a:latin typeface="Calibri"/>
              </a:rPr>
              <a:t>POST-TOOL TEXT</a:t>
            </a:r>
          </a:p>
        </p:txBody>
      </p:sp>
      <p:sp>
        <p:nvSpPr>
          <p:cNvPr id="47" name="Rounded Rectangle 46"/>
          <p:cNvSpPr/>
          <p:nvPr/>
        </p:nvSpPr>
        <p:spPr>
          <a:xfrm>
            <a:off x="10698480" y="4663440"/>
            <a:ext cx="109728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0" y="4663440"/>
            <a:ext cx="1097280" cy="292608"/>
          </a:xfrm>
          <a:prstGeom prst="rect">
            <a:avLst/>
          </a:prstGeom>
          <a:noFill/>
        </p:spPr>
        <p:txBody>
          <a:bodyPr wrap="none" lIns="0" rIns="0" tIns="0" bIns="0" anchor="ctr">
            <a:spAutoFit/>
          </a:bodyPr>
          <a:lstStyle/>
          <a:p>
            <a:pPr algn="ctr"/>
            <a:r>
              <a:rPr sz="900" b="1">
                <a:solidFill>
                  <a:srgbClr val="FFFFFF"/>
                </a:solidFill>
                <a:latin typeface="Menlo"/>
              </a:rPr>
              <a:t>MESSAGE</a:t>
            </a:r>
          </a:p>
        </p:txBody>
      </p:sp>
      <p:cxnSp>
        <p:nvCxnSpPr>
          <p:cNvPr id="49" name="Connector 48"/>
          <p:cNvCxnSpPr/>
          <p:nvPr/>
        </p:nvCxnSpPr>
        <p:spPr>
          <a:xfrm>
            <a:off x="1371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657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3152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9728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 y="6400800"/>
            <a:ext cx="10911535" cy="365760"/>
          </a:xfrm>
          <a:prstGeom prst="rect">
            <a:avLst/>
          </a:prstGeom>
          <a:noFill/>
        </p:spPr>
        <p:txBody>
          <a:bodyPr wrap="square" lIns="0" rIns="0" tIns="0" bIns="0" anchor="t">
            <a:spAutoFit/>
          </a:bodyPr>
          <a:lstStyle/>
          <a:p>
            <a:pPr algn="ctr"/>
            <a:r>
              <a:rPr sz="1100" b="1">
                <a:solidFill>
                  <a:srgbClr val="6B7380"/>
                </a:solidFill>
                <a:latin typeface="Calibri"/>
              </a:rPr>
              <a:t>Adapter @maverick/agentic-ui/ag-ui maps each event 1:1 onto the AgenticEvent union.</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Capabilities &amp; where it fits</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457200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4952847" cy="365760"/>
          </a:xfrm>
          <a:prstGeom prst="rect">
            <a:avLst/>
          </a:prstGeom>
          <a:noFill/>
        </p:spPr>
        <p:txBody>
          <a:bodyPr wrap="square" lIns="0" rIns="0" tIns="0" bIns="0" anchor="t">
            <a:spAutoFit/>
          </a:bodyPr>
          <a:lstStyle/>
          <a:p>
            <a:pPr algn="l"/>
            <a:r>
              <a:rPr sz="1500" b="1">
                <a:solidFill>
                  <a:srgbClr val="2F6F4F"/>
                </a:solidFill>
                <a:latin typeface="Calibri"/>
              </a:rPr>
              <a:t>Strengths</a:t>
            </a:r>
          </a:p>
        </p:txBody>
      </p:sp>
      <p:sp>
        <p:nvSpPr>
          <p:cNvPr id="8" name="TextBox 7"/>
          <p:cNvSpPr txBox="1"/>
          <p:nvPr/>
        </p:nvSpPr>
        <p:spPr>
          <a:xfrm>
            <a:off x="868680" y="2194560"/>
            <a:ext cx="4952847" cy="402336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Cleanest event model of the three</a:t>
            </a:r>
          </a:p>
          <a:p>
            <a:pPr>
              <a:spcAft>
                <a:spcPts val="600"/>
              </a:spcAft>
            </a:pPr>
            <a:r>
              <a:rPr sz="1200" b="1">
                <a:solidFill>
                  <a:srgbClr val="2F6F4F"/>
                </a:solidFill>
                <a:latin typeface="Calibri"/>
              </a:rPr>
              <a:t>•  </a:t>
            </a:r>
            <a:r>
              <a:rPr sz="1200">
                <a:solidFill>
                  <a:srgbClr val="141821"/>
                </a:solidFill>
                <a:latin typeface="Calibri"/>
              </a:rPr>
              <a:t>Server-side tool execution baked in</a:t>
            </a:r>
          </a:p>
          <a:p>
            <a:pPr>
              <a:spcAft>
                <a:spcPts val="600"/>
              </a:spcAft>
            </a:pPr>
            <a:r>
              <a:rPr sz="1200" b="1">
                <a:solidFill>
                  <a:srgbClr val="2F6F4F"/>
                </a:solidFill>
                <a:latin typeface="Calibri"/>
              </a:rPr>
              <a:t>•  </a:t>
            </a:r>
            <a:r>
              <a:rPr sz="1200">
                <a:solidFill>
                  <a:srgbClr val="141821"/>
                </a:solidFill>
                <a:latin typeface="Calibri"/>
              </a:rPr>
              <a:t>SSE — proxies and CDNs handle it natively</a:t>
            </a:r>
          </a:p>
          <a:p>
            <a:pPr>
              <a:spcAft>
                <a:spcPts val="600"/>
              </a:spcAft>
            </a:pPr>
            <a:r>
              <a:rPr sz="1200" b="1">
                <a:solidFill>
                  <a:srgbClr val="2F6F4F"/>
                </a:solidFill>
                <a:latin typeface="Calibri"/>
              </a:rPr>
              <a:t>•  </a:t>
            </a:r>
            <a:r>
              <a:rPr sz="1200">
                <a:solidFill>
                  <a:srgbClr val="141821"/>
                </a:solidFill>
                <a:latin typeface="Calibri"/>
              </a:rPr>
              <a:t>Mature CopilotKit + Mastra ecosystem</a:t>
            </a:r>
          </a:p>
          <a:p>
            <a:pPr>
              <a:spcAft>
                <a:spcPts val="600"/>
              </a:spcAft>
            </a:pPr>
            <a:r>
              <a:rPr sz="1200" b="1">
                <a:solidFill>
                  <a:srgbClr val="2F6F4F"/>
                </a:solidFill>
                <a:latin typeface="Calibri"/>
              </a:rPr>
              <a:t>•  </a:t>
            </a:r>
            <a:r>
              <a:rPr sz="1200">
                <a:solidFill>
                  <a:srgbClr val="141821"/>
                </a:solidFill>
                <a:latin typeface="Calibri"/>
              </a:rPr>
              <a:t>Trace-friendly: each event is a structured record</a:t>
            </a:r>
          </a:p>
          <a:p>
            <a:pPr>
              <a:spcAft>
                <a:spcPts val="600"/>
              </a:spcAft>
            </a:pPr>
            <a:r>
              <a:rPr sz="1200" b="1">
                <a:solidFill>
                  <a:srgbClr val="2F6F4F"/>
                </a:solidFill>
                <a:latin typeface="Calibri"/>
              </a:rPr>
              <a:t>•  </a:t>
            </a:r>
            <a:r>
              <a:rPr sz="1200">
                <a:solidFill>
                  <a:srgbClr val="141821"/>
                </a:solidFill>
                <a:latin typeface="Calibri"/>
              </a:rPr>
              <a:t>Best fit for compliance / audit / regulated domains</a:t>
            </a:r>
          </a:p>
        </p:txBody>
      </p:sp>
      <p:sp>
        <p:nvSpPr>
          <p:cNvPr id="9" name="Rounded Rectangle 8"/>
          <p:cNvSpPr/>
          <p:nvPr/>
        </p:nvSpPr>
        <p:spPr>
          <a:xfrm>
            <a:off x="6233007"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3007" y="1554480"/>
            <a:ext cx="54864" cy="457200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691640"/>
            <a:ext cx="4952847" cy="365760"/>
          </a:xfrm>
          <a:prstGeom prst="rect">
            <a:avLst/>
          </a:prstGeom>
          <a:noFill/>
        </p:spPr>
        <p:txBody>
          <a:bodyPr wrap="square" lIns="0" rIns="0" tIns="0" bIns="0" anchor="t">
            <a:spAutoFit/>
          </a:bodyPr>
          <a:lstStyle/>
          <a:p>
            <a:pPr algn="l"/>
            <a:r>
              <a:rPr sz="1500" b="1">
                <a:solidFill>
                  <a:srgbClr val="C48221"/>
                </a:solidFill>
                <a:latin typeface="Calibri"/>
              </a:rPr>
              <a:t>Trade-offs / gaps</a:t>
            </a:r>
          </a:p>
        </p:txBody>
      </p:sp>
      <p:sp>
        <p:nvSpPr>
          <p:cNvPr id="12" name="TextBox 11"/>
          <p:cNvSpPr txBox="1"/>
          <p:nvPr/>
        </p:nvSpPr>
        <p:spPr>
          <a:xfrm>
            <a:off x="6461607" y="2194560"/>
            <a:ext cx="4952847" cy="4023360"/>
          </a:xfrm>
          <a:prstGeom prst="rect">
            <a:avLst/>
          </a:prstGeom>
          <a:noFill/>
        </p:spPr>
        <p:txBody>
          <a:bodyPr wrap="square" lIns="0" rIns="0" tIns="0" bIns="0">
            <a:spAutoFit/>
          </a:bodyPr>
          <a:lstStyle/>
          <a:p>
            <a:pPr>
              <a:spcAft>
                <a:spcPts val="600"/>
              </a:spcAft>
            </a:pPr>
            <a:r>
              <a:rPr sz="1200" b="1">
                <a:solidFill>
                  <a:srgbClr val="C48221"/>
                </a:solidFill>
                <a:latin typeface="Calibri"/>
              </a:rPr>
              <a:t>•  </a:t>
            </a:r>
            <a:r>
              <a:rPr sz="1200">
                <a:solidFill>
                  <a:srgbClr val="141821"/>
                </a:solidFill>
                <a:latin typeface="Calibri"/>
              </a:rPr>
              <a:t>Heavier than Hashbrown — more events to handle</a:t>
            </a:r>
          </a:p>
          <a:p>
            <a:pPr>
              <a:spcAft>
                <a:spcPts val="600"/>
              </a:spcAft>
            </a:pPr>
            <a:r>
              <a:rPr sz="1200" b="1">
                <a:solidFill>
                  <a:srgbClr val="C48221"/>
                </a:solidFill>
                <a:latin typeface="Calibri"/>
              </a:rPr>
              <a:t>•  </a:t>
            </a:r>
            <a:r>
              <a:rPr sz="1200">
                <a:solidFill>
                  <a:srgbClr val="141821"/>
                </a:solidFill>
                <a:latin typeface="Calibri"/>
              </a:rPr>
              <a:t>ui-action / agent-driven nav not in core spec</a:t>
            </a:r>
          </a:p>
          <a:p>
            <a:pPr>
              <a:spcAft>
                <a:spcPts val="600"/>
              </a:spcAft>
            </a:pPr>
            <a:r>
              <a:rPr sz="1200" b="1">
                <a:solidFill>
                  <a:srgbClr val="C48221"/>
                </a:solidFill>
                <a:latin typeface="Calibri"/>
              </a:rPr>
              <a:t>•  </a:t>
            </a:r>
            <a:r>
              <a:rPr sz="1200">
                <a:solidFill>
                  <a:srgbClr val="141821"/>
                </a:solidFill>
                <a:latin typeface="Calibri"/>
              </a:rPr>
              <a:t>Generative UI is via convention, not a first-class event</a:t>
            </a:r>
          </a:p>
          <a:p>
            <a:pPr>
              <a:spcAft>
                <a:spcPts val="600"/>
              </a:spcAft>
            </a:pPr>
            <a:r>
              <a:rPr sz="1200" b="1">
                <a:solidFill>
                  <a:srgbClr val="C48221"/>
                </a:solidFill>
                <a:latin typeface="Calibri"/>
              </a:rPr>
              <a:t>•  </a:t>
            </a:r>
            <a:r>
              <a:rPr sz="1200">
                <a:solidFill>
                  <a:srgbClr val="141821"/>
                </a:solidFill>
                <a:latin typeface="Calibri"/>
              </a:rPr>
              <a:t>No standard form schema — apps roll their own</a:t>
            </a:r>
          </a:p>
          <a:p>
            <a:pPr>
              <a:spcAft>
                <a:spcPts val="600"/>
              </a:spcAft>
            </a:pPr>
            <a:r>
              <a:rPr sz="1200" b="1">
                <a:solidFill>
                  <a:srgbClr val="C48221"/>
                </a:solidFill>
                <a:latin typeface="Calibri"/>
              </a:rPr>
              <a:t>•  </a:t>
            </a:r>
            <a:r>
              <a:rPr sz="1200">
                <a:solidFill>
                  <a:srgbClr val="141821"/>
                </a:solidFill>
                <a:latin typeface="Calibri"/>
              </a:rPr>
              <a:t>Per-protocol adapter still required (we provide one)</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framework from Liquid Frontiers focused on generative UI and tool-calling.</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UI-generation native. </a:t>
            </a:r>
            <a:r>
              <a:rPr sz="1300">
                <a:solidFill>
                  <a:srgbClr val="141821"/>
                </a:solidFill>
                <a:latin typeface="Calibri"/>
              </a:rPr>
              <a:t>Hashbrown's streams emit component + props directly — no show-component shim required.</a:t>
            </a:r>
          </a:p>
          <a:p>
            <a:pPr>
              <a:spcAft>
                <a:spcPts val="800"/>
              </a:spcAft>
            </a:pPr>
            <a:r>
              <a:rPr sz="1300" b="1">
                <a:solidFill>
                  <a:srgbClr val="1E3A5F"/>
                </a:solidFill>
                <a:latin typeface="Calibri"/>
              </a:rPr>
              <a:t>•  </a:t>
            </a:r>
            <a:r>
              <a:rPr sz="1300" b="1">
                <a:solidFill>
                  <a:srgbClr val="141821"/>
                </a:solidFill>
                <a:latin typeface="Calibri"/>
              </a:rPr>
              <a:t>Multi-provider out of the box. </a:t>
            </a:r>
            <a:r>
              <a:rPr sz="1300">
                <a:solidFill>
                  <a:srgbClr val="141821"/>
                </a:solidFill>
                <a:latin typeface="Calibri"/>
              </a:rPr>
              <a:t>OpenAI, Google, and Anthropic — swap providers via a config flag.</a:t>
            </a:r>
          </a:p>
          <a:p>
            <a:pPr>
              <a:spcAft>
                <a:spcPts val="800"/>
              </a:spcAft>
            </a:pPr>
            <a:r>
              <a:rPr sz="1300" b="1">
                <a:solidFill>
                  <a:srgbClr val="1E3A5F"/>
                </a:solidFill>
                <a:latin typeface="Calibri"/>
              </a:rPr>
              <a:t>•  </a:t>
            </a:r>
            <a:r>
              <a:rPr sz="1300" b="1">
                <a:solidFill>
                  <a:srgbClr val="141821"/>
                </a:solidFill>
                <a:latin typeface="Calibri"/>
              </a:rPr>
              <a:t>Smaller surface than AG-UI. </a:t>
            </a:r>
            <a:r>
              <a:rPr sz="1300">
                <a:solidFill>
                  <a:srgbClr val="141821"/>
                </a:solidFill>
                <a:latin typeface="Calibri"/>
              </a:rPr>
              <a:t>Fewer event types; lifecycle is implicit in stream open/close.</a:t>
            </a:r>
          </a:p>
          <a:p>
            <a:pPr>
              <a:spcAft>
                <a:spcPts val="800"/>
              </a:spcAft>
            </a:pPr>
            <a:r>
              <a:rPr sz="1300" b="1">
                <a:solidFill>
                  <a:srgbClr val="1E3A5F"/>
                </a:solidFill>
                <a:latin typeface="Calibri"/>
              </a:rPr>
              <a:t>•  </a:t>
            </a:r>
            <a:r>
              <a:rPr sz="1300" b="1">
                <a:solidFill>
                  <a:srgbClr val="141821"/>
                </a:solidFill>
                <a:latin typeface="Calibri"/>
              </a:rPr>
              <a:t>React-first heritage. </a:t>
            </a:r>
            <a:r>
              <a:rPr sz="1300">
                <a:solidFill>
                  <a:srgbClr val="141821"/>
                </a:solidFill>
                <a:latin typeface="Calibri"/>
              </a:rPr>
              <a:t>Original target was React; Angular adapter is recent. Our wrapper makes it idiomatic for either.</a:t>
            </a:r>
          </a:p>
          <a:p>
            <a:pPr>
              <a:spcAft>
                <a:spcPts val="800"/>
              </a:spcAft>
            </a:pPr>
            <a:r>
              <a:rPr sz="1300" b="1">
                <a:solidFill>
                  <a:srgbClr val="1E3A5F"/>
                </a:solidFill>
                <a:latin typeface="Calibri"/>
              </a:rPr>
              <a:t>•  </a:t>
            </a:r>
            <a:r>
              <a:rPr sz="1300" b="1">
                <a:solidFill>
                  <a:srgbClr val="141821"/>
                </a:solidFill>
                <a:latin typeface="Calibri"/>
              </a:rPr>
              <a:t>Schema-driven UI generation. </a:t>
            </a:r>
            <a:r>
              <a:rPr sz="1300">
                <a:solidFill>
                  <a:srgbClr val="141821"/>
                </a:solidFill>
                <a:latin typeface="Calibri"/>
              </a:rPr>
              <a:t>Zod-based component schemas anchor the LLM's structured output.</a:t>
            </a:r>
          </a:p>
          <a:p>
            <a:pPr>
              <a:spcAft>
                <a:spcPts val="800"/>
              </a:spcAft>
            </a:pPr>
            <a:r>
              <a:rPr sz="1300" b="1">
                <a:solidFill>
                  <a:srgbClr val="1E3A5F"/>
                </a:solidFill>
                <a:latin typeface="Calibri"/>
              </a:rPr>
              <a:t>•  </a:t>
            </a:r>
            <a:r>
              <a:rPr sz="1300" b="1">
                <a:solidFill>
                  <a:srgbClr val="141821"/>
                </a:solidFill>
                <a:latin typeface="Calibri"/>
              </a:rPr>
              <a:t>Best fit. </a:t>
            </a:r>
            <a:r>
              <a:rPr sz="1300">
                <a:solidFill>
                  <a:srgbClr val="141821"/>
                </a:solidFill>
                <a:latin typeface="Calibri"/>
              </a:rPr>
              <a:t>Rapid prototypes, demo-heavy generative UI, multi-LLM A/B comparisons.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Features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9164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10512"/>
            <a:ext cx="14630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10512"/>
            <a:ext cx="1463040" cy="292608"/>
          </a:xfrm>
          <a:prstGeom prst="rect">
            <a:avLst/>
          </a:prstGeom>
          <a:noFill/>
        </p:spPr>
        <p:txBody>
          <a:bodyPr wrap="none" lIns="0" rIns="0" tIns="0" bIns="0" anchor="ctr">
            <a:spAutoFit/>
          </a:bodyPr>
          <a:lstStyle/>
          <a:p>
            <a:pPr algn="ctr"/>
            <a:r>
              <a:rPr sz="1100" b="1">
                <a:solidFill>
                  <a:srgbClr val="FFFFFF"/>
                </a:solidFill>
                <a:latin typeface="Calibri"/>
              </a:rPr>
              <a:t>ui-stream</a:t>
            </a:r>
          </a:p>
        </p:txBody>
      </p:sp>
      <p:sp>
        <p:nvSpPr>
          <p:cNvPr id="9" name="TextBox 8"/>
          <p:cNvSpPr txBox="1"/>
          <p:nvPr/>
        </p:nvSpPr>
        <p:spPr>
          <a:xfrm>
            <a:off x="2468880" y="1856232"/>
            <a:ext cx="8899855" cy="365760"/>
          </a:xfrm>
          <a:prstGeom prst="rect">
            <a:avLst/>
          </a:prstGeom>
          <a:noFill/>
        </p:spPr>
        <p:txBody>
          <a:bodyPr wrap="square" lIns="0" rIns="0" tIns="0" bIns="0" anchor="t">
            <a:spAutoFit/>
          </a:bodyPr>
          <a:lstStyle/>
          <a:p>
            <a:pPr algn="l"/>
            <a:r>
              <a:rPr sz="1300" b="0">
                <a:solidFill>
                  <a:srgbClr val="363D49"/>
                </a:solidFill>
                <a:latin typeface="Calibri"/>
              </a:rPr>
              <a:t>Emits widget + props natively — no shim</a:t>
            </a:r>
          </a:p>
        </p:txBody>
      </p:sp>
      <p:sp>
        <p:nvSpPr>
          <p:cNvPr id="10" name="Rounded Rectangle 9"/>
          <p:cNvSpPr/>
          <p:nvPr/>
        </p:nvSpPr>
        <p:spPr>
          <a:xfrm>
            <a:off x="640080" y="2368296"/>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2487168"/>
            <a:ext cx="14630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87168"/>
            <a:ext cx="1463040" cy="292608"/>
          </a:xfrm>
          <a:prstGeom prst="rect">
            <a:avLst/>
          </a:prstGeom>
          <a:noFill/>
        </p:spPr>
        <p:txBody>
          <a:bodyPr wrap="none" lIns="0" rIns="0" tIns="0" bIns="0" anchor="ctr">
            <a:spAutoFit/>
          </a:bodyPr>
          <a:lstStyle/>
          <a:p>
            <a:pPr algn="ctr"/>
            <a:r>
              <a:rPr sz="1100" b="1">
                <a:solidFill>
                  <a:srgbClr val="FFFFFF"/>
                </a:solidFill>
                <a:latin typeface="Calibri"/>
              </a:rPr>
              <a:t>text-stream</a:t>
            </a:r>
          </a:p>
        </p:txBody>
      </p:sp>
      <p:sp>
        <p:nvSpPr>
          <p:cNvPr id="13" name="TextBox 12"/>
          <p:cNvSpPr txBox="1"/>
          <p:nvPr/>
        </p:nvSpPr>
        <p:spPr>
          <a:xfrm>
            <a:off x="2468880" y="2532888"/>
            <a:ext cx="8899855" cy="365760"/>
          </a:xfrm>
          <a:prstGeom prst="rect">
            <a:avLst/>
          </a:prstGeom>
          <a:noFill/>
        </p:spPr>
        <p:txBody>
          <a:bodyPr wrap="square" lIns="0" rIns="0" tIns="0" bIns="0" anchor="t">
            <a:spAutoFit/>
          </a:bodyPr>
          <a:lstStyle/>
          <a:p>
            <a:pPr algn="l"/>
            <a:r>
              <a:rPr sz="1300" b="0">
                <a:solidFill>
                  <a:srgbClr val="363D49"/>
                </a:solidFill>
                <a:latin typeface="Calibri"/>
              </a:rPr>
              <a:t>Token-level text deltas</a:t>
            </a:r>
          </a:p>
        </p:txBody>
      </p:sp>
      <p:sp>
        <p:nvSpPr>
          <p:cNvPr id="14" name="Rounded Rectangle 13"/>
          <p:cNvSpPr/>
          <p:nvPr/>
        </p:nvSpPr>
        <p:spPr>
          <a:xfrm>
            <a:off x="640080" y="3044952"/>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3163824"/>
            <a:ext cx="14630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63824"/>
            <a:ext cx="1463040" cy="292608"/>
          </a:xfrm>
          <a:prstGeom prst="rect">
            <a:avLst/>
          </a:prstGeom>
          <a:noFill/>
        </p:spPr>
        <p:txBody>
          <a:bodyPr wrap="none" lIns="0" rIns="0" tIns="0" bIns="0" anchor="ctr">
            <a:spAutoFit/>
          </a:bodyPr>
          <a:lstStyle/>
          <a:p>
            <a:pPr algn="ctr"/>
            <a:r>
              <a:rPr sz="1100" b="1">
                <a:solidFill>
                  <a:srgbClr val="FFFFFF"/>
                </a:solidFill>
                <a:latin typeface="Calibri"/>
              </a:rPr>
              <a:t>tool-stream</a:t>
            </a:r>
          </a:p>
        </p:txBody>
      </p:sp>
      <p:sp>
        <p:nvSpPr>
          <p:cNvPr id="17" name="TextBox 16"/>
          <p:cNvSpPr txBox="1"/>
          <p:nvPr/>
        </p:nvSpPr>
        <p:spPr>
          <a:xfrm>
            <a:off x="2468880" y="3209544"/>
            <a:ext cx="8899855" cy="365760"/>
          </a:xfrm>
          <a:prstGeom prst="rect">
            <a:avLst/>
          </a:prstGeom>
          <a:noFill/>
        </p:spPr>
        <p:txBody>
          <a:bodyPr wrap="square" lIns="0" rIns="0" tIns="0" bIns="0" anchor="t">
            <a:spAutoFit/>
          </a:bodyPr>
          <a:lstStyle/>
          <a:p>
            <a:pPr algn="l"/>
            <a:r>
              <a:rPr sz="1300" b="0">
                <a:solidFill>
                  <a:srgbClr val="363D49"/>
                </a:solidFill>
                <a:latin typeface="Calibri"/>
              </a:rPr>
              <a:t>Function-call args + results</a:t>
            </a:r>
          </a:p>
        </p:txBody>
      </p:sp>
      <p:sp>
        <p:nvSpPr>
          <p:cNvPr id="18" name="Rounded Rectangle 17"/>
          <p:cNvSpPr/>
          <p:nvPr/>
        </p:nvSpPr>
        <p:spPr>
          <a:xfrm>
            <a:off x="640080" y="3721608"/>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 y="3840480"/>
            <a:ext cx="14630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40480"/>
            <a:ext cx="1463040" cy="292608"/>
          </a:xfrm>
          <a:prstGeom prst="rect">
            <a:avLst/>
          </a:prstGeom>
          <a:noFill/>
        </p:spPr>
        <p:txBody>
          <a:bodyPr wrap="none" lIns="0" rIns="0" tIns="0" bIns="0" anchor="ctr">
            <a:spAutoFit/>
          </a:bodyPr>
          <a:lstStyle/>
          <a:p>
            <a:pPr algn="ctr"/>
            <a:r>
              <a:rPr sz="1100" b="1">
                <a:solidFill>
                  <a:srgbClr val="FFFFFF"/>
                </a:solidFill>
                <a:latin typeface="Calibri"/>
              </a:rPr>
              <a:t>provider-mux</a:t>
            </a:r>
          </a:p>
        </p:txBody>
      </p:sp>
      <p:sp>
        <p:nvSpPr>
          <p:cNvPr id="21" name="TextBox 20"/>
          <p:cNvSpPr txBox="1"/>
          <p:nvPr/>
        </p:nvSpPr>
        <p:spPr>
          <a:xfrm>
            <a:off x="2468880" y="3886200"/>
            <a:ext cx="8899855" cy="365760"/>
          </a:xfrm>
          <a:prstGeom prst="rect">
            <a:avLst/>
          </a:prstGeom>
          <a:noFill/>
        </p:spPr>
        <p:txBody>
          <a:bodyPr wrap="square" lIns="0" rIns="0" tIns="0" bIns="0" anchor="t">
            <a:spAutoFit/>
          </a:bodyPr>
          <a:lstStyle/>
          <a:p>
            <a:pPr algn="l"/>
            <a:r>
              <a:rPr sz="1300" b="0">
                <a:solidFill>
                  <a:srgbClr val="363D49"/>
                </a:solidFill>
                <a:latin typeface="Calibri"/>
              </a:rPr>
              <a:t>Switch OpenAI ↔ Google ↔ Anthropic at runtime</a:t>
            </a:r>
          </a:p>
        </p:txBody>
      </p:sp>
      <p:sp>
        <p:nvSpPr>
          <p:cNvPr id="22" name="Rounded Rectangle 21"/>
          <p:cNvSpPr/>
          <p:nvPr/>
        </p:nvSpPr>
        <p:spPr>
          <a:xfrm>
            <a:off x="640080" y="4398264"/>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517136"/>
            <a:ext cx="14630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17136"/>
            <a:ext cx="1463040" cy="292608"/>
          </a:xfrm>
          <a:prstGeom prst="rect">
            <a:avLst/>
          </a:prstGeom>
          <a:noFill/>
        </p:spPr>
        <p:txBody>
          <a:bodyPr wrap="none" lIns="0" rIns="0" tIns="0" bIns="0" anchor="ctr">
            <a:spAutoFit/>
          </a:bodyPr>
          <a:lstStyle/>
          <a:p>
            <a:pPr algn="ctr"/>
            <a:r>
              <a:rPr sz="1100" b="1">
                <a:solidFill>
                  <a:srgbClr val="FFFFFF"/>
                </a:solidFill>
                <a:latin typeface="Calibri"/>
              </a:rPr>
              <a:t>schema-anchor</a:t>
            </a:r>
          </a:p>
        </p:txBody>
      </p:sp>
      <p:sp>
        <p:nvSpPr>
          <p:cNvPr id="25" name="TextBox 24"/>
          <p:cNvSpPr txBox="1"/>
          <p:nvPr/>
        </p:nvSpPr>
        <p:spPr>
          <a:xfrm>
            <a:off x="2468880" y="4562856"/>
            <a:ext cx="8899855" cy="365760"/>
          </a:xfrm>
          <a:prstGeom prst="rect">
            <a:avLst/>
          </a:prstGeom>
          <a:noFill/>
        </p:spPr>
        <p:txBody>
          <a:bodyPr wrap="square" lIns="0" rIns="0" tIns="0" bIns="0" anchor="t">
            <a:spAutoFit/>
          </a:bodyPr>
          <a:lstStyle/>
          <a:p>
            <a:pPr algn="l"/>
            <a:r>
              <a:rPr sz="1300" b="0">
                <a:solidFill>
                  <a:srgbClr val="363D49"/>
                </a:solidFill>
                <a:latin typeface="Calibri"/>
              </a:rPr>
              <a:t>Zod schemas anchor structured LLM output</a:t>
            </a:r>
          </a:p>
        </p:txBody>
      </p:sp>
      <p:sp>
        <p:nvSpPr>
          <p:cNvPr id="26" name="Rounded Rectangle 25"/>
          <p:cNvSpPr/>
          <p:nvPr/>
        </p:nvSpPr>
        <p:spPr>
          <a:xfrm>
            <a:off x="640080" y="507492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5193792"/>
            <a:ext cx="1463040" cy="292608"/>
          </a:xfrm>
          <a:prstGeom prst="roundRect">
            <a:avLst>
              <a:gd name="adj" fmla="val 50000"/>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93792"/>
            <a:ext cx="1463040" cy="292608"/>
          </a:xfrm>
          <a:prstGeom prst="rect">
            <a:avLst/>
          </a:prstGeom>
          <a:noFill/>
        </p:spPr>
        <p:txBody>
          <a:bodyPr wrap="none" lIns="0" rIns="0" tIns="0" bIns="0" anchor="ctr">
            <a:spAutoFit/>
          </a:bodyPr>
          <a:lstStyle/>
          <a:p>
            <a:pPr algn="ctr"/>
            <a:r>
              <a:rPr sz="1100" b="1">
                <a:solidFill>
                  <a:srgbClr val="FFFFFF"/>
                </a:solidFill>
                <a:latin typeface="Calibri"/>
              </a:rPr>
              <a:t>react-bridge</a:t>
            </a:r>
          </a:p>
        </p:txBody>
      </p:sp>
      <p:sp>
        <p:nvSpPr>
          <p:cNvPr id="29" name="TextBox 28"/>
          <p:cNvSpPr txBox="1"/>
          <p:nvPr/>
        </p:nvSpPr>
        <p:spPr>
          <a:xfrm>
            <a:off x="2468880" y="5239512"/>
            <a:ext cx="8899855" cy="365760"/>
          </a:xfrm>
          <a:prstGeom prst="rect">
            <a:avLst/>
          </a:prstGeom>
          <a:noFill/>
        </p:spPr>
        <p:txBody>
          <a:bodyPr wrap="square" lIns="0" rIns="0" tIns="0" bIns="0" anchor="t">
            <a:spAutoFit/>
          </a:bodyPr>
          <a:lstStyle/>
          <a:p>
            <a:pPr algn="l"/>
            <a:r>
              <a:rPr sz="1300" b="0">
                <a:solidFill>
                  <a:srgbClr val="363D49"/>
                </a:solidFill>
                <a:latin typeface="Calibri"/>
              </a:rPr>
              <a:t>First-class React; Angular via wrapper</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Hashbrown vs AG-UI — when to pick what</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1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2743200" cy="365760"/>
          </a:xfrm>
          <a:prstGeom prst="rect">
            <a:avLst/>
          </a:prstGeom>
          <a:noFill/>
        </p:spPr>
        <p:txBody>
          <a:bodyPr wrap="square" lIns="0" rIns="0" tIns="0" bIns="0" anchor="t">
            <a:spAutoFit/>
          </a:bodyPr>
          <a:lstStyle/>
          <a:p>
            <a:pPr algn="l"/>
            <a:r>
              <a:rPr sz="1100" b="1">
                <a:solidFill>
                  <a:srgbClr val="6B7380"/>
                </a:solidFill>
                <a:latin typeface="Calibri"/>
              </a:rPr>
              <a:t>Dimension</a:t>
            </a:r>
          </a:p>
        </p:txBody>
      </p:sp>
      <p:sp>
        <p:nvSpPr>
          <p:cNvPr id="8" name="TextBox 7"/>
          <p:cNvSpPr txBox="1"/>
          <p:nvPr/>
        </p:nvSpPr>
        <p:spPr>
          <a:xfrm>
            <a:off x="3657600" y="1627632"/>
            <a:ext cx="2743200" cy="365760"/>
          </a:xfrm>
          <a:prstGeom prst="rect">
            <a:avLst/>
          </a:prstGeom>
          <a:noFill/>
        </p:spPr>
        <p:txBody>
          <a:bodyPr wrap="square" lIns="0" rIns="0" tIns="0" bIns="0" anchor="t">
            <a:spAutoFit/>
          </a:bodyPr>
          <a:lstStyle/>
          <a:p>
            <a:pPr algn="l"/>
            <a:r>
              <a:rPr sz="1100" b="1">
                <a:solidFill>
                  <a:srgbClr val="2F6F4F"/>
                </a:solidFill>
                <a:latin typeface="Calibri"/>
              </a:rPr>
              <a:t>Hashbrown</a:t>
            </a:r>
          </a:p>
        </p:txBody>
      </p:sp>
      <p:sp>
        <p:nvSpPr>
          <p:cNvPr id="9" name="TextBox 8"/>
          <p:cNvSpPr txBox="1"/>
          <p:nvPr/>
        </p:nvSpPr>
        <p:spPr>
          <a:xfrm>
            <a:off x="6583680" y="1627632"/>
            <a:ext cx="2743200" cy="365760"/>
          </a:xfrm>
          <a:prstGeom prst="rect">
            <a:avLst/>
          </a:prstGeom>
          <a:noFill/>
        </p:spPr>
        <p:txBody>
          <a:bodyPr wrap="square" lIns="0" rIns="0" tIns="0" bIns="0" anchor="t">
            <a:spAutoFit/>
          </a:bodyPr>
          <a:lstStyle/>
          <a:p>
            <a:pPr algn="l"/>
            <a:r>
              <a:rPr sz="1100" b="1">
                <a:solidFill>
                  <a:srgbClr val="1E3A5F"/>
                </a:solidFill>
                <a:latin typeface="Calibri"/>
              </a:rPr>
              <a:t>AG-UI</a:t>
            </a:r>
          </a:p>
        </p:txBody>
      </p:sp>
      <p:sp>
        <p:nvSpPr>
          <p:cNvPr id="10" name="TextBox 9"/>
          <p:cNvSpPr txBox="1"/>
          <p:nvPr/>
        </p:nvSpPr>
        <p:spPr>
          <a:xfrm>
            <a:off x="9692640" y="1627632"/>
            <a:ext cx="1828800" cy="365760"/>
          </a:xfrm>
          <a:prstGeom prst="rect">
            <a:avLst/>
          </a:prstGeom>
          <a:noFill/>
        </p:spPr>
        <p:txBody>
          <a:bodyPr wrap="square" lIns="0" rIns="0" tIns="0" bIns="0" anchor="t">
            <a:spAutoFit/>
          </a:bodyPr>
          <a:lstStyle/>
          <a:p>
            <a:pPr algn="l"/>
            <a:r>
              <a:rPr sz="1100" b="1">
                <a:solidFill>
                  <a:srgbClr val="141821"/>
                </a:solidFill>
                <a:latin typeface="Calibri"/>
              </a:rPr>
              <a:t>Pick</a:t>
            </a:r>
          </a:p>
        </p:txBody>
      </p:sp>
      <p:sp>
        <p:nvSpPr>
          <p:cNvPr id="11" name="TextBox 10"/>
          <p:cNvSpPr txBox="1"/>
          <p:nvPr/>
        </p:nvSpPr>
        <p:spPr>
          <a:xfrm>
            <a:off x="822960" y="2011680"/>
            <a:ext cx="2743200" cy="457200"/>
          </a:xfrm>
          <a:prstGeom prst="rect">
            <a:avLst/>
          </a:prstGeom>
          <a:noFill/>
        </p:spPr>
        <p:txBody>
          <a:bodyPr wrap="square" lIns="0" rIns="0" tIns="0" bIns="0" anchor="t">
            <a:spAutoFit/>
          </a:bodyPr>
          <a:lstStyle/>
          <a:p>
            <a:pPr algn="l"/>
            <a:r>
              <a:rPr sz="1200" b="1">
                <a:solidFill>
                  <a:srgbClr val="141821"/>
                </a:solidFill>
                <a:latin typeface="Calibri"/>
              </a:rPr>
              <a:t>Lifecycle clarity</a:t>
            </a:r>
          </a:p>
        </p:txBody>
      </p:sp>
      <p:sp>
        <p:nvSpPr>
          <p:cNvPr id="12" name="TextBox 11"/>
          <p:cNvSpPr txBox="1"/>
          <p:nvPr/>
        </p:nvSpPr>
        <p:spPr>
          <a:xfrm>
            <a:off x="3657600" y="2011680"/>
            <a:ext cx="2834640" cy="457200"/>
          </a:xfrm>
          <a:prstGeom prst="rect">
            <a:avLst/>
          </a:prstGeom>
          <a:noFill/>
        </p:spPr>
        <p:txBody>
          <a:bodyPr wrap="square" lIns="0" rIns="0" tIns="0" bIns="0" anchor="t">
            <a:spAutoFit/>
          </a:bodyPr>
          <a:lstStyle/>
          <a:p>
            <a:pPr algn="l"/>
            <a:r>
              <a:rPr sz="1200" b="0">
                <a:solidFill>
                  <a:srgbClr val="363D49"/>
                </a:solidFill>
                <a:latin typeface="Calibri"/>
              </a:rPr>
              <a:t>Implicit (stream open/close)</a:t>
            </a:r>
          </a:p>
        </p:txBody>
      </p:sp>
      <p:sp>
        <p:nvSpPr>
          <p:cNvPr id="13" name="TextBox 12"/>
          <p:cNvSpPr txBox="1"/>
          <p:nvPr/>
        </p:nvSpPr>
        <p:spPr>
          <a:xfrm>
            <a:off x="6583680" y="2011680"/>
            <a:ext cx="3017520" cy="457200"/>
          </a:xfrm>
          <a:prstGeom prst="rect">
            <a:avLst/>
          </a:prstGeom>
          <a:noFill/>
        </p:spPr>
        <p:txBody>
          <a:bodyPr wrap="square" lIns="0" rIns="0" tIns="0" bIns="0" anchor="t">
            <a:spAutoFit/>
          </a:bodyPr>
          <a:lstStyle/>
          <a:p>
            <a:pPr algn="l"/>
            <a:r>
              <a:rPr sz="1200" b="0">
                <a:solidFill>
                  <a:srgbClr val="363D49"/>
                </a:solidFill>
                <a:latin typeface="Calibri"/>
              </a:rPr>
              <a:t>Explicit (RUN_STARTED/FINISHED)</a:t>
            </a:r>
          </a:p>
        </p:txBody>
      </p:sp>
      <p:sp>
        <p:nvSpPr>
          <p:cNvPr id="14" name="Rounded Rectangle 13"/>
          <p:cNvSpPr/>
          <p:nvPr/>
        </p:nvSpPr>
        <p:spPr>
          <a:xfrm>
            <a:off x="9692640" y="205740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205740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16" name="TextBox 15"/>
          <p:cNvSpPr txBox="1"/>
          <p:nvPr/>
        </p:nvSpPr>
        <p:spPr>
          <a:xfrm>
            <a:off x="822960" y="2615184"/>
            <a:ext cx="2743200" cy="457200"/>
          </a:xfrm>
          <a:prstGeom prst="rect">
            <a:avLst/>
          </a:prstGeom>
          <a:noFill/>
        </p:spPr>
        <p:txBody>
          <a:bodyPr wrap="square" lIns="0" rIns="0" tIns="0" bIns="0" anchor="t">
            <a:spAutoFit/>
          </a:bodyPr>
          <a:lstStyle/>
          <a:p>
            <a:pPr algn="l"/>
            <a:r>
              <a:rPr sz="1200" b="1">
                <a:solidFill>
                  <a:srgbClr val="141821"/>
                </a:solidFill>
                <a:latin typeface="Calibri"/>
              </a:rPr>
              <a:t>Generative UI</a:t>
            </a:r>
          </a:p>
        </p:txBody>
      </p:sp>
      <p:sp>
        <p:nvSpPr>
          <p:cNvPr id="17" name="TextBox 16"/>
          <p:cNvSpPr txBox="1"/>
          <p:nvPr/>
        </p:nvSpPr>
        <p:spPr>
          <a:xfrm>
            <a:off x="3657600" y="2615184"/>
            <a:ext cx="2834640" cy="457200"/>
          </a:xfrm>
          <a:prstGeom prst="rect">
            <a:avLst/>
          </a:prstGeom>
          <a:noFill/>
        </p:spPr>
        <p:txBody>
          <a:bodyPr wrap="square" lIns="0" rIns="0" tIns="0" bIns="0" anchor="t">
            <a:spAutoFit/>
          </a:bodyPr>
          <a:lstStyle/>
          <a:p>
            <a:pPr algn="l"/>
            <a:r>
              <a:rPr sz="1200" b="0">
                <a:solidFill>
                  <a:srgbClr val="363D49"/>
                </a:solidFill>
                <a:latin typeface="Calibri"/>
              </a:rPr>
              <a:t>Native (UI-stream)</a:t>
            </a:r>
          </a:p>
        </p:txBody>
      </p:sp>
      <p:sp>
        <p:nvSpPr>
          <p:cNvPr id="18" name="TextBox 17"/>
          <p:cNvSpPr txBox="1"/>
          <p:nvPr/>
        </p:nvSpPr>
        <p:spPr>
          <a:xfrm>
            <a:off x="6583680" y="2615184"/>
            <a:ext cx="3017520" cy="457200"/>
          </a:xfrm>
          <a:prstGeom prst="rect">
            <a:avLst/>
          </a:prstGeom>
          <a:noFill/>
        </p:spPr>
        <p:txBody>
          <a:bodyPr wrap="square" lIns="0" rIns="0" tIns="0" bIns="0" anchor="t">
            <a:spAutoFit/>
          </a:bodyPr>
          <a:lstStyle/>
          <a:p>
            <a:pPr algn="l"/>
            <a:r>
              <a:rPr sz="1200" b="0">
                <a:solidFill>
                  <a:srgbClr val="363D49"/>
                </a:solidFill>
                <a:latin typeface="Calibri"/>
              </a:rPr>
              <a:t>Convention (show-component)</a:t>
            </a:r>
          </a:p>
        </p:txBody>
      </p:sp>
      <p:sp>
        <p:nvSpPr>
          <p:cNvPr id="19" name="Rounded Rectangle 18"/>
          <p:cNvSpPr/>
          <p:nvPr/>
        </p:nvSpPr>
        <p:spPr>
          <a:xfrm>
            <a:off x="9692640" y="2660904"/>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2660904"/>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21" name="TextBox 20"/>
          <p:cNvSpPr txBox="1"/>
          <p:nvPr/>
        </p:nvSpPr>
        <p:spPr>
          <a:xfrm>
            <a:off x="822960" y="3218688"/>
            <a:ext cx="2743200" cy="457200"/>
          </a:xfrm>
          <a:prstGeom prst="rect">
            <a:avLst/>
          </a:prstGeom>
          <a:noFill/>
        </p:spPr>
        <p:txBody>
          <a:bodyPr wrap="square" lIns="0" rIns="0" tIns="0" bIns="0" anchor="t">
            <a:spAutoFit/>
          </a:bodyPr>
          <a:lstStyle/>
          <a:p>
            <a:pPr algn="l"/>
            <a:r>
              <a:rPr sz="1200" b="1">
                <a:solidFill>
                  <a:srgbClr val="141821"/>
                </a:solidFill>
                <a:latin typeface="Calibri"/>
              </a:rPr>
              <a:t>Audit-grade logging</a:t>
            </a:r>
          </a:p>
        </p:txBody>
      </p:sp>
      <p:sp>
        <p:nvSpPr>
          <p:cNvPr id="22" name="TextBox 21"/>
          <p:cNvSpPr txBox="1"/>
          <p:nvPr/>
        </p:nvSpPr>
        <p:spPr>
          <a:xfrm>
            <a:off x="3657600" y="3218688"/>
            <a:ext cx="2834640" cy="457200"/>
          </a:xfrm>
          <a:prstGeom prst="rect">
            <a:avLst/>
          </a:prstGeom>
          <a:noFill/>
        </p:spPr>
        <p:txBody>
          <a:bodyPr wrap="square" lIns="0" rIns="0" tIns="0" bIns="0" anchor="t">
            <a:spAutoFit/>
          </a:bodyPr>
          <a:lstStyle/>
          <a:p>
            <a:pPr algn="l"/>
            <a:r>
              <a:rPr sz="1200" b="0">
                <a:solidFill>
                  <a:srgbClr val="363D49"/>
                </a:solidFill>
                <a:latin typeface="Calibri"/>
              </a:rPr>
              <a:t>Needs work — synth lifecycle</a:t>
            </a:r>
          </a:p>
        </p:txBody>
      </p:sp>
      <p:sp>
        <p:nvSpPr>
          <p:cNvPr id="23" name="TextBox 22"/>
          <p:cNvSpPr txBox="1"/>
          <p:nvPr/>
        </p:nvSpPr>
        <p:spPr>
          <a:xfrm>
            <a:off x="6583680" y="3218688"/>
            <a:ext cx="3017520" cy="457200"/>
          </a:xfrm>
          <a:prstGeom prst="rect">
            <a:avLst/>
          </a:prstGeom>
          <a:noFill/>
        </p:spPr>
        <p:txBody>
          <a:bodyPr wrap="square" lIns="0" rIns="0" tIns="0" bIns="0" anchor="t">
            <a:spAutoFit/>
          </a:bodyPr>
          <a:lstStyle/>
          <a:p>
            <a:pPr algn="l"/>
            <a:r>
              <a:rPr sz="1200" b="0">
                <a:solidFill>
                  <a:srgbClr val="363D49"/>
                </a:solidFill>
                <a:latin typeface="Calibri"/>
              </a:rPr>
              <a:t>Drop-in — events are records</a:t>
            </a:r>
          </a:p>
        </p:txBody>
      </p:sp>
      <p:sp>
        <p:nvSpPr>
          <p:cNvPr id="24" name="Rounded Rectangle 23"/>
          <p:cNvSpPr/>
          <p:nvPr/>
        </p:nvSpPr>
        <p:spPr>
          <a:xfrm>
            <a:off x="9692640" y="3264408"/>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3264408"/>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26" name="TextBox 25"/>
          <p:cNvSpPr txBox="1"/>
          <p:nvPr/>
        </p:nvSpPr>
        <p:spPr>
          <a:xfrm>
            <a:off x="822960" y="3822192"/>
            <a:ext cx="2743200" cy="457200"/>
          </a:xfrm>
          <a:prstGeom prst="rect">
            <a:avLst/>
          </a:prstGeom>
          <a:noFill/>
        </p:spPr>
        <p:txBody>
          <a:bodyPr wrap="square" lIns="0" rIns="0" tIns="0" bIns="0" anchor="t">
            <a:spAutoFit/>
          </a:bodyPr>
          <a:lstStyle/>
          <a:p>
            <a:pPr algn="l"/>
            <a:r>
              <a:rPr sz="1200" b="1">
                <a:solidFill>
                  <a:srgbClr val="141821"/>
                </a:solidFill>
                <a:latin typeface="Calibri"/>
              </a:rPr>
              <a:t>Time-to-first-prompt</a:t>
            </a:r>
          </a:p>
        </p:txBody>
      </p:sp>
      <p:sp>
        <p:nvSpPr>
          <p:cNvPr id="27" name="TextBox 26"/>
          <p:cNvSpPr txBox="1"/>
          <p:nvPr/>
        </p:nvSpPr>
        <p:spPr>
          <a:xfrm>
            <a:off x="3657600" y="3822192"/>
            <a:ext cx="2834640" cy="457200"/>
          </a:xfrm>
          <a:prstGeom prst="rect">
            <a:avLst/>
          </a:prstGeom>
          <a:noFill/>
        </p:spPr>
        <p:txBody>
          <a:bodyPr wrap="square" lIns="0" rIns="0" tIns="0" bIns="0" anchor="t">
            <a:spAutoFit/>
          </a:bodyPr>
          <a:lstStyle/>
          <a:p>
            <a:pPr algn="l"/>
            <a:r>
              <a:rPr sz="1200" b="0">
                <a:solidFill>
                  <a:srgbClr val="363D49"/>
                </a:solidFill>
                <a:latin typeface="Calibri"/>
              </a:rPr>
              <a:t>Hours</a:t>
            </a:r>
          </a:p>
        </p:txBody>
      </p:sp>
      <p:sp>
        <p:nvSpPr>
          <p:cNvPr id="28" name="TextBox 27"/>
          <p:cNvSpPr txBox="1"/>
          <p:nvPr/>
        </p:nvSpPr>
        <p:spPr>
          <a:xfrm>
            <a:off x="6583680" y="3822192"/>
            <a:ext cx="3017520" cy="457200"/>
          </a:xfrm>
          <a:prstGeom prst="rect">
            <a:avLst/>
          </a:prstGeom>
          <a:noFill/>
        </p:spPr>
        <p:txBody>
          <a:bodyPr wrap="square" lIns="0" rIns="0" tIns="0" bIns="0" anchor="t">
            <a:spAutoFit/>
          </a:bodyPr>
          <a:lstStyle/>
          <a:p>
            <a:pPr algn="l"/>
            <a:r>
              <a:rPr sz="1200" b="0">
                <a:solidFill>
                  <a:srgbClr val="363D49"/>
                </a:solidFill>
                <a:latin typeface="Calibri"/>
              </a:rPr>
              <a:t>Day or two</a:t>
            </a:r>
          </a:p>
        </p:txBody>
      </p:sp>
      <p:sp>
        <p:nvSpPr>
          <p:cNvPr id="29" name="Rounded Rectangle 28"/>
          <p:cNvSpPr/>
          <p:nvPr/>
        </p:nvSpPr>
        <p:spPr>
          <a:xfrm>
            <a:off x="9692640" y="3867912"/>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0" y="3867912"/>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1" name="TextBox 30"/>
          <p:cNvSpPr txBox="1"/>
          <p:nvPr/>
        </p:nvSpPr>
        <p:spPr>
          <a:xfrm>
            <a:off x="822960" y="4425696"/>
            <a:ext cx="2743200" cy="457200"/>
          </a:xfrm>
          <a:prstGeom prst="rect">
            <a:avLst/>
          </a:prstGeom>
          <a:noFill/>
        </p:spPr>
        <p:txBody>
          <a:bodyPr wrap="square" lIns="0" rIns="0" tIns="0" bIns="0" anchor="t">
            <a:spAutoFit/>
          </a:bodyPr>
          <a:lstStyle/>
          <a:p>
            <a:pPr algn="l"/>
            <a:r>
              <a:rPr sz="1200" b="1">
                <a:solidFill>
                  <a:srgbClr val="141821"/>
                </a:solidFill>
                <a:latin typeface="Calibri"/>
              </a:rPr>
              <a:t>Multi-provider</a:t>
            </a:r>
          </a:p>
        </p:txBody>
      </p:sp>
      <p:sp>
        <p:nvSpPr>
          <p:cNvPr id="32" name="TextBox 31"/>
          <p:cNvSpPr txBox="1"/>
          <p:nvPr/>
        </p:nvSpPr>
        <p:spPr>
          <a:xfrm>
            <a:off x="3657600" y="4425696"/>
            <a:ext cx="2834640" cy="457200"/>
          </a:xfrm>
          <a:prstGeom prst="rect">
            <a:avLst/>
          </a:prstGeom>
          <a:noFill/>
        </p:spPr>
        <p:txBody>
          <a:bodyPr wrap="square" lIns="0" rIns="0" tIns="0" bIns="0" anchor="t">
            <a:spAutoFit/>
          </a:bodyPr>
          <a:lstStyle/>
          <a:p>
            <a:pPr algn="l"/>
            <a:r>
              <a:rPr sz="1200" b="0">
                <a:solidFill>
                  <a:srgbClr val="363D49"/>
                </a:solidFill>
                <a:latin typeface="Calibri"/>
              </a:rPr>
              <a:t>Built in</a:t>
            </a:r>
          </a:p>
        </p:txBody>
      </p:sp>
      <p:sp>
        <p:nvSpPr>
          <p:cNvPr id="33" name="TextBox 32"/>
          <p:cNvSpPr txBox="1"/>
          <p:nvPr/>
        </p:nvSpPr>
        <p:spPr>
          <a:xfrm>
            <a:off x="6583680" y="4425696"/>
            <a:ext cx="3017520" cy="457200"/>
          </a:xfrm>
          <a:prstGeom prst="rect">
            <a:avLst/>
          </a:prstGeom>
          <a:noFill/>
        </p:spPr>
        <p:txBody>
          <a:bodyPr wrap="square" lIns="0" rIns="0" tIns="0" bIns="0" anchor="t">
            <a:spAutoFit/>
          </a:bodyPr>
          <a:lstStyle/>
          <a:p>
            <a:pPr algn="l"/>
            <a:r>
              <a:rPr sz="1200" b="0">
                <a:solidFill>
                  <a:srgbClr val="363D49"/>
                </a:solidFill>
                <a:latin typeface="Calibri"/>
              </a:rPr>
              <a:t>Adapter per provider</a:t>
            </a:r>
          </a:p>
        </p:txBody>
      </p:sp>
      <p:sp>
        <p:nvSpPr>
          <p:cNvPr id="34" name="Rounded Rectangle 33"/>
          <p:cNvSpPr/>
          <p:nvPr/>
        </p:nvSpPr>
        <p:spPr>
          <a:xfrm>
            <a:off x="9692640" y="4471416"/>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4471416"/>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6" name="TextBox 35"/>
          <p:cNvSpPr txBox="1"/>
          <p:nvPr/>
        </p:nvSpPr>
        <p:spPr>
          <a:xfrm>
            <a:off x="822960" y="5029200"/>
            <a:ext cx="2743200" cy="457200"/>
          </a:xfrm>
          <a:prstGeom prst="rect">
            <a:avLst/>
          </a:prstGeom>
          <a:noFill/>
        </p:spPr>
        <p:txBody>
          <a:bodyPr wrap="square" lIns="0" rIns="0" tIns="0" bIns="0" anchor="t">
            <a:spAutoFit/>
          </a:bodyPr>
          <a:lstStyle/>
          <a:p>
            <a:pPr algn="l"/>
            <a:r>
              <a:rPr sz="1200" b="1">
                <a:solidFill>
                  <a:srgbClr val="141821"/>
                </a:solidFill>
                <a:latin typeface="Calibri"/>
              </a:rPr>
              <a:t>Server-side tools</a:t>
            </a:r>
          </a:p>
        </p:txBody>
      </p:sp>
      <p:sp>
        <p:nvSpPr>
          <p:cNvPr id="37" name="TextBox 36"/>
          <p:cNvSpPr txBox="1"/>
          <p:nvPr/>
        </p:nvSpPr>
        <p:spPr>
          <a:xfrm>
            <a:off x="3657600" y="5029200"/>
            <a:ext cx="2834640" cy="457200"/>
          </a:xfrm>
          <a:prstGeom prst="rect">
            <a:avLst/>
          </a:prstGeom>
          <a:noFill/>
        </p:spPr>
        <p:txBody>
          <a:bodyPr wrap="square" lIns="0" rIns="0" tIns="0" bIns="0" anchor="t">
            <a:spAutoFit/>
          </a:bodyPr>
          <a:lstStyle/>
          <a:p>
            <a:pPr algn="l"/>
            <a:r>
              <a:rPr sz="1200" b="0">
                <a:solidFill>
                  <a:srgbClr val="363D49"/>
                </a:solidFill>
                <a:latin typeface="Calibri"/>
              </a:rPr>
              <a:t>Adapter needed</a:t>
            </a:r>
          </a:p>
        </p:txBody>
      </p:sp>
      <p:sp>
        <p:nvSpPr>
          <p:cNvPr id="38" name="TextBox 37"/>
          <p:cNvSpPr txBox="1"/>
          <p:nvPr/>
        </p:nvSpPr>
        <p:spPr>
          <a:xfrm>
            <a:off x="6583680" y="5029200"/>
            <a:ext cx="3017520" cy="457200"/>
          </a:xfrm>
          <a:prstGeom prst="rect">
            <a:avLst/>
          </a:prstGeom>
          <a:noFill/>
        </p:spPr>
        <p:txBody>
          <a:bodyPr wrap="square" lIns="0" rIns="0" tIns="0" bIns="0" anchor="t">
            <a:spAutoFit/>
          </a:bodyPr>
          <a:lstStyle/>
          <a:p>
            <a:pPr algn="l"/>
            <a:r>
              <a:rPr sz="1200" b="0">
                <a:solidFill>
                  <a:srgbClr val="363D49"/>
                </a:solidFill>
                <a:latin typeface="Calibri"/>
              </a:rPr>
              <a:t>First-class</a:t>
            </a:r>
          </a:p>
        </p:txBody>
      </p:sp>
      <p:sp>
        <p:nvSpPr>
          <p:cNvPr id="39" name="Rounded Rectangle 38"/>
          <p:cNvSpPr/>
          <p:nvPr/>
        </p:nvSpPr>
        <p:spPr>
          <a:xfrm>
            <a:off x="9692640" y="507492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07492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41" name="TextBox 40"/>
          <p:cNvSpPr txBox="1"/>
          <p:nvPr/>
        </p:nvSpPr>
        <p:spPr>
          <a:xfrm>
            <a:off x="822960" y="5632704"/>
            <a:ext cx="2743200" cy="457200"/>
          </a:xfrm>
          <a:prstGeom prst="rect">
            <a:avLst/>
          </a:prstGeom>
          <a:noFill/>
        </p:spPr>
        <p:txBody>
          <a:bodyPr wrap="square" lIns="0" rIns="0" tIns="0" bIns="0" anchor="t">
            <a:spAutoFit/>
          </a:bodyPr>
          <a:lstStyle/>
          <a:p>
            <a:pPr algn="l"/>
            <a:r>
              <a:rPr sz="1200" b="1">
                <a:solidFill>
                  <a:srgbClr val="141821"/>
                </a:solidFill>
                <a:latin typeface="Calibri"/>
              </a:rPr>
              <a:t>Spec stability</a:t>
            </a:r>
          </a:p>
        </p:txBody>
      </p:sp>
      <p:sp>
        <p:nvSpPr>
          <p:cNvPr id="42" name="TextBox 41"/>
          <p:cNvSpPr txBox="1"/>
          <p:nvPr/>
        </p:nvSpPr>
        <p:spPr>
          <a:xfrm>
            <a:off x="3657600" y="5632704"/>
            <a:ext cx="2834640" cy="457200"/>
          </a:xfrm>
          <a:prstGeom prst="rect">
            <a:avLst/>
          </a:prstGeom>
          <a:noFill/>
        </p:spPr>
        <p:txBody>
          <a:bodyPr wrap="square" lIns="0" rIns="0" tIns="0" bIns="0" anchor="t">
            <a:spAutoFit/>
          </a:bodyPr>
          <a:lstStyle/>
          <a:p>
            <a:pPr algn="l"/>
            <a:r>
              <a:rPr sz="1200" b="0">
                <a:solidFill>
                  <a:srgbClr val="363D49"/>
                </a:solidFill>
                <a:latin typeface="Calibri"/>
              </a:rPr>
              <a:t>Smaller surface · stable</a:t>
            </a:r>
          </a:p>
        </p:txBody>
      </p:sp>
      <p:sp>
        <p:nvSpPr>
          <p:cNvPr id="43" name="TextBox 42"/>
          <p:cNvSpPr txBox="1"/>
          <p:nvPr/>
        </p:nvSpPr>
        <p:spPr>
          <a:xfrm>
            <a:off x="6583680" y="5632704"/>
            <a:ext cx="3017520" cy="457200"/>
          </a:xfrm>
          <a:prstGeom prst="rect">
            <a:avLst/>
          </a:prstGeom>
          <a:noFill/>
        </p:spPr>
        <p:txBody>
          <a:bodyPr wrap="square" lIns="0" rIns="0" tIns="0" bIns="0" anchor="t">
            <a:spAutoFit/>
          </a:bodyPr>
          <a:lstStyle/>
          <a:p>
            <a:pPr algn="l"/>
            <a:r>
              <a:rPr sz="1200" b="0">
                <a:solidFill>
                  <a:srgbClr val="363D49"/>
                </a:solidFill>
                <a:latin typeface="Calibri"/>
              </a:rPr>
              <a:t>Larger surface · stable</a:t>
            </a:r>
          </a:p>
        </p:txBody>
      </p:sp>
      <p:sp>
        <p:nvSpPr>
          <p:cNvPr id="44" name="Rounded Rectangle 43"/>
          <p:cNvSpPr/>
          <p:nvPr/>
        </p:nvSpPr>
        <p:spPr>
          <a:xfrm>
            <a:off x="9692640" y="5678424"/>
            <a:ext cx="1371600" cy="292608"/>
          </a:xfrm>
          <a:prstGeom prst="roundRect">
            <a:avLst>
              <a:gd name="adj" fmla="val 50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5678424"/>
            <a:ext cx="1371600" cy="292608"/>
          </a:xfrm>
          <a:prstGeom prst="rect">
            <a:avLst/>
          </a:prstGeom>
          <a:noFill/>
        </p:spPr>
        <p:txBody>
          <a:bodyPr wrap="none" lIns="0" rIns="0" tIns="0" bIns="0" anchor="ctr">
            <a:spAutoFit/>
          </a:bodyPr>
          <a:lstStyle/>
          <a:p>
            <a:pPr algn="ctr"/>
            <a:r>
              <a:rPr sz="1000" b="1">
                <a:solidFill>
                  <a:srgbClr val="6B7380"/>
                </a:solidFill>
                <a:latin typeface="Calibri"/>
              </a:rPr>
              <a:t>Tie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02–03 · PROTOCOLS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AG-UI vs Hashbrown — when and where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10911535" cy="777240"/>
          </a:xfrm>
          <a:prstGeom prst="roundRect">
            <a:avLst>
              <a:gd name="adj" fmla="val 2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45720" cy="7772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1828800" cy="274320"/>
          </a:xfrm>
          <a:prstGeom prst="rect">
            <a:avLst/>
          </a:prstGeom>
          <a:noFill/>
        </p:spPr>
        <p:txBody>
          <a:bodyPr wrap="square" lIns="0" rIns="0" tIns="0" bIns="0" anchor="t">
            <a:spAutoFit/>
          </a:bodyPr>
          <a:lstStyle/>
          <a:p>
            <a:pPr algn="l"/>
            <a:r>
              <a:rPr sz="900" b="1">
                <a:solidFill>
                  <a:srgbClr val="1E3A5F"/>
                </a:solidFill>
                <a:latin typeface="Calibri"/>
              </a:rPr>
              <a:t>THIS DEMO USES</a:t>
            </a:r>
          </a:p>
        </p:txBody>
      </p:sp>
      <p:sp>
        <p:nvSpPr>
          <p:cNvPr id="9" name="TextBox 8"/>
          <p:cNvSpPr txBox="1"/>
          <p:nvPr/>
        </p:nvSpPr>
        <p:spPr>
          <a:xfrm>
            <a:off x="868680" y="1993392"/>
            <a:ext cx="10058400" cy="457200"/>
          </a:xfrm>
          <a:prstGeom prst="rect">
            <a:avLst/>
          </a:prstGeom>
          <a:noFill/>
        </p:spPr>
        <p:txBody>
          <a:bodyPr wrap="square" lIns="0" rIns="0" tIns="0" bIns="0" anchor="t">
            <a:spAutoFit/>
          </a:bodyPr>
          <a:lstStyle/>
          <a:p>
            <a:pPr algn="l"/>
            <a:r>
              <a:rPr sz="1400" b="0">
                <a:solidFill>
                  <a:srgbClr val="141821"/>
                </a:solidFill>
                <a:latin typeface="Calibri"/>
              </a:rPr>
              <a:t>AG-UI for the eDiscovery reference — picked for streaming SSE, explicit lifecycle events, and audit-grade event records.</a:t>
            </a:r>
          </a:p>
        </p:txBody>
      </p:sp>
      <p:sp>
        <p:nvSpPr>
          <p:cNvPr id="10" name="Rounded Rectangle 9"/>
          <p:cNvSpPr/>
          <p:nvPr/>
        </p:nvSpPr>
        <p:spPr>
          <a:xfrm>
            <a:off x="640080"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45720" cy="3291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34640"/>
            <a:ext cx="2743200" cy="274320"/>
          </a:xfrm>
          <a:prstGeom prst="rect">
            <a:avLst/>
          </a:prstGeom>
          <a:noFill/>
        </p:spPr>
        <p:txBody>
          <a:bodyPr wrap="square" lIns="0" rIns="0" tIns="0" bIns="0" anchor="t">
            <a:spAutoFit/>
          </a:bodyPr>
          <a:lstStyle/>
          <a:p>
            <a:pPr algn="l"/>
            <a:r>
              <a:rPr sz="1800" b="1">
                <a:solidFill>
                  <a:srgbClr val="1E3A5F"/>
                </a:solidFill>
                <a:latin typeface="Calibri"/>
              </a:rPr>
              <a:t>AG-UI</a:t>
            </a:r>
          </a:p>
        </p:txBody>
      </p:sp>
      <p:sp>
        <p:nvSpPr>
          <p:cNvPr id="13" name="TextBox 12"/>
          <p:cNvSpPr txBox="1"/>
          <p:nvPr/>
        </p:nvSpPr>
        <p:spPr>
          <a:xfrm>
            <a:off x="868680"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CopilotKit · streaming · lifecycle-typed</a:t>
            </a:r>
          </a:p>
        </p:txBody>
      </p:sp>
      <p:sp>
        <p:nvSpPr>
          <p:cNvPr id="14" name="TextBox 13"/>
          <p:cNvSpPr txBox="1"/>
          <p:nvPr/>
        </p:nvSpPr>
        <p:spPr>
          <a:xfrm>
            <a:off x="868680" y="3566160"/>
            <a:ext cx="4815687" cy="274320"/>
          </a:xfrm>
          <a:prstGeom prst="rect">
            <a:avLst/>
          </a:prstGeom>
          <a:noFill/>
        </p:spPr>
        <p:txBody>
          <a:bodyPr wrap="square" lIns="0" rIns="0" tIns="0" bIns="0" anchor="t">
            <a:spAutoFit/>
          </a:bodyPr>
          <a:lstStyle/>
          <a:p>
            <a:pPr algn="l"/>
            <a:r>
              <a:rPr sz="900" b="1">
                <a:solidFill>
                  <a:srgbClr val="1E3A5F"/>
                </a:solidFill>
                <a:latin typeface="Calibri"/>
              </a:rPr>
              <a:t>PICK WHEN…</a:t>
            </a:r>
          </a:p>
        </p:txBody>
      </p:sp>
      <p:sp>
        <p:nvSpPr>
          <p:cNvPr id="15" name="TextBox 14"/>
          <p:cNvSpPr txBox="1"/>
          <p:nvPr/>
        </p:nvSpPr>
        <p:spPr>
          <a:xfrm>
            <a:off x="868680" y="3840480"/>
            <a:ext cx="4815687" cy="210312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Audit and compliance bars (legal-tech, healthcare, finance)</a:t>
            </a:r>
          </a:p>
          <a:p>
            <a:pPr>
              <a:spcAft>
                <a:spcPts val="600"/>
              </a:spcAft>
            </a:pPr>
            <a:r>
              <a:rPr sz="1100" b="1">
                <a:solidFill>
                  <a:srgbClr val="1E3A5F"/>
                </a:solidFill>
                <a:latin typeface="Calibri"/>
              </a:rPr>
              <a:t>•  </a:t>
            </a:r>
            <a:r>
              <a:rPr sz="1100">
                <a:solidFill>
                  <a:srgbClr val="141821"/>
                </a:solidFill>
                <a:latin typeface="Calibri"/>
              </a:rPr>
              <a:t>Server-side tool catalog managed by a separate team</a:t>
            </a:r>
          </a:p>
          <a:p>
            <a:pPr>
              <a:spcAft>
                <a:spcPts val="600"/>
              </a:spcAft>
            </a:pPr>
            <a:r>
              <a:rPr sz="1100" b="1">
                <a:solidFill>
                  <a:srgbClr val="1E3A5F"/>
                </a:solidFill>
                <a:latin typeface="Calibri"/>
              </a:rPr>
              <a:t>•  </a:t>
            </a:r>
            <a:r>
              <a:rPr sz="1100">
                <a:solidFill>
                  <a:srgbClr val="141821"/>
                </a:solidFill>
                <a:latin typeface="Calibri"/>
              </a:rPr>
              <a:t>Mature multi-agent orchestrator (sticky routing)</a:t>
            </a:r>
          </a:p>
          <a:p>
            <a:pPr>
              <a:spcAft>
                <a:spcPts val="600"/>
              </a:spcAft>
            </a:pPr>
            <a:r>
              <a:rPr sz="1100" b="1">
                <a:solidFill>
                  <a:srgbClr val="1E3A5F"/>
                </a:solidFill>
                <a:latin typeface="Calibri"/>
              </a:rPr>
              <a:t>•  </a:t>
            </a:r>
            <a:r>
              <a:rPr sz="1100">
                <a:solidFill>
                  <a:srgbClr val="141821"/>
                </a:solidFill>
                <a:latin typeface="Calibri"/>
              </a:rPr>
              <a:t>SSE traverses your existing CDN / proxy stack</a:t>
            </a:r>
          </a:p>
          <a:p>
            <a:pPr>
              <a:spcAft>
                <a:spcPts val="600"/>
              </a:spcAft>
            </a:pPr>
            <a:r>
              <a:rPr sz="1100" b="1">
                <a:solidFill>
                  <a:srgbClr val="1E3A5F"/>
                </a:solidFill>
                <a:latin typeface="Calibri"/>
              </a:rPr>
              <a:t>•  </a:t>
            </a:r>
            <a:r>
              <a:rPr sz="1100">
                <a:solidFill>
                  <a:srgbClr val="141821"/>
                </a:solidFill>
                <a:latin typeface="Calibri"/>
              </a:rPr>
              <a:t>Need to trace runs end-to-end through OTel</a:t>
            </a:r>
          </a:p>
        </p:txBody>
      </p:sp>
      <p:sp>
        <p:nvSpPr>
          <p:cNvPr id="16" name="Rounded Rectangle 15"/>
          <p:cNvSpPr/>
          <p:nvPr/>
        </p:nvSpPr>
        <p:spPr>
          <a:xfrm>
            <a:off x="6278727"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2697480"/>
            <a:ext cx="45720" cy="3291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834640"/>
            <a:ext cx="2743200" cy="274320"/>
          </a:xfrm>
          <a:prstGeom prst="rect">
            <a:avLst/>
          </a:prstGeom>
          <a:noFill/>
        </p:spPr>
        <p:txBody>
          <a:bodyPr wrap="square" lIns="0" rIns="0" tIns="0" bIns="0" anchor="t">
            <a:spAutoFit/>
          </a:bodyPr>
          <a:lstStyle/>
          <a:p>
            <a:pPr algn="l"/>
            <a:r>
              <a:rPr sz="1800" b="1">
                <a:solidFill>
                  <a:srgbClr val="C48221"/>
                </a:solidFill>
                <a:latin typeface="Calibri"/>
              </a:rPr>
              <a:t>HASHBROWN</a:t>
            </a:r>
          </a:p>
        </p:txBody>
      </p:sp>
      <p:sp>
        <p:nvSpPr>
          <p:cNvPr id="19" name="TextBox 18"/>
          <p:cNvSpPr txBox="1"/>
          <p:nvPr/>
        </p:nvSpPr>
        <p:spPr>
          <a:xfrm>
            <a:off x="6507327"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Liquid Frontiers · ui-stream native · multi-provider</a:t>
            </a:r>
          </a:p>
        </p:txBody>
      </p:sp>
      <p:sp>
        <p:nvSpPr>
          <p:cNvPr id="20" name="TextBox 19"/>
          <p:cNvSpPr txBox="1"/>
          <p:nvPr/>
        </p:nvSpPr>
        <p:spPr>
          <a:xfrm>
            <a:off x="6507327" y="3566160"/>
            <a:ext cx="4815687" cy="274320"/>
          </a:xfrm>
          <a:prstGeom prst="rect">
            <a:avLst/>
          </a:prstGeom>
          <a:noFill/>
        </p:spPr>
        <p:txBody>
          <a:bodyPr wrap="square" lIns="0" rIns="0" tIns="0" bIns="0" anchor="t">
            <a:spAutoFit/>
          </a:bodyPr>
          <a:lstStyle/>
          <a:p>
            <a:pPr algn="l"/>
            <a:r>
              <a:rPr sz="900" b="1">
                <a:solidFill>
                  <a:srgbClr val="C48221"/>
                </a:solidFill>
                <a:latin typeface="Calibri"/>
              </a:rPr>
              <a:t>PICK WHEN…</a:t>
            </a:r>
          </a:p>
        </p:txBody>
      </p:sp>
      <p:sp>
        <p:nvSpPr>
          <p:cNvPr id="21" name="TextBox 20"/>
          <p:cNvSpPr txBox="1"/>
          <p:nvPr/>
        </p:nvSpPr>
        <p:spPr>
          <a:xfrm>
            <a:off x="6507327" y="3840480"/>
            <a:ext cx="4815687" cy="2103120"/>
          </a:xfrm>
          <a:prstGeom prst="rect">
            <a:avLst/>
          </a:prstGeom>
          <a:noFill/>
        </p:spPr>
        <p:txBody>
          <a:bodyPr wrap="square" lIns="0" rIns="0" tIns="0" bIns="0">
            <a:spAutoFit/>
          </a:bodyPr>
          <a:lstStyle/>
          <a:p>
            <a:pPr>
              <a:spcAft>
                <a:spcPts val="600"/>
              </a:spcAft>
            </a:pPr>
            <a:r>
              <a:rPr sz="1100" b="1">
                <a:solidFill>
                  <a:srgbClr val="C48221"/>
                </a:solidFill>
                <a:latin typeface="Calibri"/>
              </a:rPr>
              <a:t>•  </a:t>
            </a:r>
            <a:r>
              <a:rPr sz="1100">
                <a:solidFill>
                  <a:srgbClr val="141821"/>
                </a:solidFill>
                <a:latin typeface="Calibri"/>
              </a:rPr>
              <a:t>Rapid prototyping — generative UI in a day</a:t>
            </a:r>
          </a:p>
          <a:p>
            <a:pPr>
              <a:spcAft>
                <a:spcPts val="600"/>
              </a:spcAft>
            </a:pPr>
            <a:r>
              <a:rPr sz="1100" b="1">
                <a:solidFill>
                  <a:srgbClr val="C48221"/>
                </a:solidFill>
                <a:latin typeface="Calibri"/>
              </a:rPr>
              <a:t>•  </a:t>
            </a:r>
            <a:r>
              <a:rPr sz="1100">
                <a:solidFill>
                  <a:srgbClr val="141821"/>
                </a:solidFill>
                <a:latin typeface="Calibri"/>
              </a:rPr>
              <a:t>Multi-provider eval (OpenAI / Anthropic / Google switch)</a:t>
            </a:r>
          </a:p>
          <a:p>
            <a:pPr>
              <a:spcAft>
                <a:spcPts val="600"/>
              </a:spcAft>
            </a:pPr>
            <a:r>
              <a:rPr sz="1100" b="1">
                <a:solidFill>
                  <a:srgbClr val="C48221"/>
                </a:solidFill>
                <a:latin typeface="Calibri"/>
              </a:rPr>
              <a:t>•  </a:t>
            </a:r>
            <a:r>
              <a:rPr sz="1100">
                <a:solidFill>
                  <a:srgbClr val="141821"/>
                </a:solidFill>
                <a:latin typeface="Calibri"/>
              </a:rPr>
              <a:t>UI-generation is the dominant agent output (not tool calls)</a:t>
            </a:r>
          </a:p>
          <a:p>
            <a:pPr>
              <a:spcAft>
                <a:spcPts val="600"/>
              </a:spcAft>
            </a:pPr>
            <a:r>
              <a:rPr sz="1100" b="1">
                <a:solidFill>
                  <a:srgbClr val="C48221"/>
                </a:solidFill>
                <a:latin typeface="Calibri"/>
              </a:rPr>
              <a:t>•  </a:t>
            </a:r>
            <a:r>
              <a:rPr sz="1100">
                <a:solidFill>
                  <a:srgbClr val="141821"/>
                </a:solidFill>
                <a:latin typeface="Calibri"/>
              </a:rPr>
              <a:t>Lighter event surface — fewer adapter checks</a:t>
            </a:r>
          </a:p>
          <a:p>
            <a:pPr>
              <a:spcAft>
                <a:spcPts val="600"/>
              </a:spcAft>
            </a:pPr>
            <a:r>
              <a:rPr sz="1100" b="1">
                <a:solidFill>
                  <a:srgbClr val="C48221"/>
                </a:solidFill>
                <a:latin typeface="Calibri"/>
              </a:rPr>
              <a:t>•  </a:t>
            </a:r>
            <a:r>
              <a:rPr sz="1100">
                <a:solidFill>
                  <a:srgbClr val="141821"/>
                </a:solidFill>
                <a:latin typeface="Calibri"/>
              </a:rPr>
              <a:t>Audit grade can be deferred to a later sprint</a:t>
            </a:r>
          </a:p>
        </p:txBody>
      </p:sp>
      <p:sp>
        <p:nvSpPr>
          <p:cNvPr id="22" name="TextBox 21"/>
          <p:cNvSpPr txBox="1"/>
          <p:nvPr/>
        </p:nvSpPr>
        <p:spPr>
          <a:xfrm>
            <a:off x="640080" y="6080760"/>
            <a:ext cx="10911535" cy="274320"/>
          </a:xfrm>
          <a:prstGeom prst="rect">
            <a:avLst/>
          </a:prstGeom>
          <a:noFill/>
        </p:spPr>
        <p:txBody>
          <a:bodyPr wrap="square" lIns="0" rIns="0" tIns="0" bIns="0" anchor="t">
            <a:spAutoFit/>
          </a:bodyPr>
          <a:lstStyle/>
          <a:p>
            <a:pPr algn="ctr"/>
            <a:r>
              <a:rPr sz="1100" b="1">
                <a:solidFill>
                  <a:srgbClr val="1E3A5F"/>
                </a:solidFill>
                <a:latin typeface="Calibri"/>
              </a:rPr>
              <a:t>Both implement the same `AgenticBackend` interface — swapping protocols leaves the chat shell, registries, and widgets untouched.</a:t>
            </a:r>
          </a:p>
        </p:txBody>
      </p:sp>
      <p:sp>
        <p:nvSpPr>
          <p:cNvPr id="23" name="Rectangle 2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Protocols</a:t>
            </a:r>
          </a:p>
        </p:txBody>
      </p:sp>
      <p:sp>
        <p:nvSpPr>
          <p:cNvPr id="25" name="TextBox 2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6" name="TextBox 2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4 · A2UI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Agent-driven UI — ui-action as a class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A2UI lifts the agent from 'calls tools' to 'drives the whole UI'.</a:t>
            </a:r>
          </a:p>
        </p:txBody>
      </p:sp>
      <p:sp>
        <p:nvSpPr>
          <p:cNvPr id="7" name="TextBox 6"/>
          <p:cNvSpPr txBox="1"/>
          <p:nvPr/>
        </p:nvSpPr>
        <p:spPr>
          <a:xfrm>
            <a:off x="640080" y="2194560"/>
            <a:ext cx="10911535" cy="365760"/>
          </a:xfrm>
          <a:prstGeom prst="rect">
            <a:avLst/>
          </a:prstGeom>
          <a:noFill/>
        </p:spPr>
        <p:txBody>
          <a:bodyPr wrap="square" lIns="0" rIns="0" tIns="0" bIns="0" anchor="t">
            <a:spAutoFit/>
          </a:bodyPr>
          <a:lstStyle/>
          <a:p>
            <a:pPr algn="l"/>
            <a:r>
              <a:rPr sz="1400" b="1">
                <a:solidFill>
                  <a:srgbClr val="C48221"/>
                </a:solidFill>
                <a:latin typeface="Calibri"/>
              </a:rPr>
              <a:t>Distinguishing event class</a:t>
            </a:r>
          </a:p>
        </p:txBody>
      </p:sp>
      <p:sp>
        <p:nvSpPr>
          <p:cNvPr id="8" name="Rectangle 7"/>
          <p:cNvSpPr/>
          <p:nvPr/>
        </p:nvSpPr>
        <p:spPr>
          <a:xfrm>
            <a:off x="640080" y="2606040"/>
            <a:ext cx="109115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97480"/>
            <a:ext cx="10637215" cy="1280160"/>
          </a:xfrm>
          <a:prstGeom prst="rect">
            <a:avLst/>
          </a:prstGeom>
          <a:noFill/>
        </p:spPr>
        <p:txBody>
          <a:bodyPr wrap="square" lIns="0" rIns="0" tIns="0" bIns="0">
            <a:spAutoFit/>
          </a:bodyPr>
          <a:lstStyle/>
          <a:p>
            <a:pPr>
              <a:spcAft>
                <a:spcPts val="0"/>
              </a:spcAft>
            </a:pPr>
            <a:r>
              <a:rPr sz="1100">
                <a:solidFill>
                  <a:srgbClr val="E2E8F0"/>
                </a:solidFill>
                <a:latin typeface="Menlo"/>
              </a:rPr>
              <a:t>{ type: 'ui-action',</a:t>
            </a:r>
          </a:p>
          <a:p>
            <a:pPr>
              <a:spcAft>
                <a:spcPts val="0"/>
              </a:spcAft>
            </a:pPr>
            <a:r>
              <a:rPr sz="1100">
                <a:solidFill>
                  <a:srgbClr val="E2E8F0"/>
                </a:solidFill>
                <a:latin typeface="Menlo"/>
              </a:rPr>
              <a:t>  actionId: 'a-7f2e',</a:t>
            </a:r>
          </a:p>
          <a:p>
            <a:pPr>
              <a:spcAft>
                <a:spcPts val="0"/>
              </a:spcAft>
            </a:pPr>
            <a:r>
              <a:rPr sz="1100">
                <a:solidFill>
                  <a:srgbClr val="E2E8F0"/>
                </a:solidFill>
                <a:latin typeface="Menlo"/>
              </a:rPr>
              <a:t>  op: 'navigate',          // or 'applyTag', 'fillForm', 'openDrawer', …</a:t>
            </a:r>
          </a:p>
          <a:p>
            <a:pPr>
              <a:spcAft>
                <a:spcPts val="0"/>
              </a:spcAft>
            </a:pPr>
            <a:r>
              <a:rPr sz="1100">
                <a:solidFill>
                  <a:srgbClr val="E2E8F0"/>
                </a:solidFill>
                <a:latin typeface="Menlo"/>
              </a:rPr>
              <a:t>  payload: { path: '/documents', queryParams: { id: 'DOC-1234' } } }</a:t>
            </a:r>
          </a:p>
        </p:txBody>
      </p:sp>
      <p:sp>
        <p:nvSpPr>
          <p:cNvPr id="10" name="TextBox 9"/>
          <p:cNvSpPr txBox="1"/>
          <p:nvPr/>
        </p:nvSpPr>
        <p:spPr>
          <a:xfrm>
            <a:off x="640080" y="4297680"/>
            <a:ext cx="10911535" cy="365760"/>
          </a:xfrm>
          <a:prstGeom prst="rect">
            <a:avLst/>
          </a:prstGeom>
          <a:noFill/>
        </p:spPr>
        <p:txBody>
          <a:bodyPr wrap="square" lIns="0" rIns="0" tIns="0" bIns="0" anchor="t">
            <a:spAutoFit/>
          </a:bodyPr>
          <a:lstStyle/>
          <a:p>
            <a:pPr algn="l"/>
            <a:r>
              <a:rPr sz="1400" b="1">
                <a:solidFill>
                  <a:srgbClr val="1E3A5F"/>
                </a:solidFill>
                <a:latin typeface="Calibri"/>
              </a:rPr>
              <a:t>Where it shines</a:t>
            </a:r>
          </a:p>
        </p:txBody>
      </p:sp>
      <p:sp>
        <p:nvSpPr>
          <p:cNvPr id="11" name="TextBox 10"/>
          <p:cNvSpPr txBox="1"/>
          <p:nvPr/>
        </p:nvSpPr>
        <p:spPr>
          <a:xfrm>
            <a:off x="640080" y="4709160"/>
            <a:ext cx="10911535" cy="18288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a:solidFill>
                  <a:srgbClr val="141821"/>
                </a:solidFill>
                <a:latin typeface="Calibri"/>
              </a:rPr>
              <a:t>Agent navigates to a route after a tool call settles</a:t>
            </a:r>
          </a:p>
          <a:p>
            <a:pPr>
              <a:spcAft>
                <a:spcPts val="600"/>
              </a:spcAft>
            </a:pPr>
            <a:r>
              <a:rPr sz="1300" b="1">
                <a:solidFill>
                  <a:srgbClr val="1E3A5F"/>
                </a:solidFill>
                <a:latin typeface="Calibri"/>
              </a:rPr>
              <a:t>•  </a:t>
            </a:r>
            <a:r>
              <a:rPr sz="1300">
                <a:solidFill>
                  <a:srgbClr val="141821"/>
                </a:solidFill>
                <a:latin typeface="Calibri"/>
              </a:rPr>
              <a:t>Form-fill flows where the agent populates fields the user verifies</a:t>
            </a:r>
          </a:p>
          <a:p>
            <a:pPr>
              <a:spcAft>
                <a:spcPts val="600"/>
              </a:spcAft>
            </a:pPr>
            <a:r>
              <a:rPr sz="1300" b="1">
                <a:solidFill>
                  <a:srgbClr val="1E3A5F"/>
                </a:solidFill>
                <a:latin typeface="Calibri"/>
              </a:rPr>
              <a:t>•  </a:t>
            </a:r>
            <a:r>
              <a:rPr sz="1300">
                <a:solidFill>
                  <a:srgbClr val="141821"/>
                </a:solidFill>
                <a:latin typeface="Calibri"/>
              </a:rPr>
              <a:t>State mutations dispatched into NgRx / Redux without a separate tool</a:t>
            </a:r>
          </a:p>
          <a:p>
            <a:pPr>
              <a:spcAft>
                <a:spcPts val="600"/>
              </a:spcAft>
            </a:pPr>
            <a:r>
              <a:rPr sz="1300" b="1">
                <a:solidFill>
                  <a:srgbClr val="1E3A5F"/>
                </a:solidFill>
                <a:latin typeface="Calibri"/>
              </a:rPr>
              <a:t>•  </a:t>
            </a:r>
            <a:r>
              <a:rPr sz="1300">
                <a:solidFill>
                  <a:srgbClr val="141821"/>
                </a:solidFill>
                <a:latin typeface="Calibri"/>
              </a:rPr>
              <a:t>Cross-MFE coordination — one remote raises an action a different remote handles</a:t>
            </a:r>
          </a:p>
        </p:txBody>
      </p:sp>
      <p:sp>
        <p:nvSpPr>
          <p:cNvPr id="12" name="Rectangle 1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4 · A2UI</a:t>
            </a:r>
          </a:p>
        </p:txBody>
      </p:sp>
      <p:sp>
        <p:nvSpPr>
          <p:cNvPr id="14" name="TextBox 1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5" name="TextBox 1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a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Three protocols, four bundlers, two MFE runtimes, and an MCP transport — that's not a library, that's a forklift.</a:t>
            </a:r>
          </a:p>
        </p:txBody>
      </p:sp>
      <p:sp>
        <p:nvSpPr>
          <p:cNvPr id="7" name="Rounded Rectangle 6"/>
          <p:cNvSpPr/>
          <p:nvPr/>
        </p:nvSpPr>
        <p:spPr>
          <a:xfrm>
            <a:off x="640080" y="2286000"/>
            <a:ext cx="5486400" cy="402336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29200" cy="365760"/>
          </a:xfrm>
          <a:prstGeom prst="rect">
            <a:avLst/>
          </a:prstGeom>
          <a:noFill/>
        </p:spPr>
        <p:txBody>
          <a:bodyPr wrap="square" lIns="0" rIns="0" tIns="0" bIns="0" anchor="t">
            <a:spAutoFit/>
          </a:bodyPr>
          <a:lstStyle/>
          <a:p>
            <a:pPr algn="l"/>
            <a:r>
              <a:rPr sz="1400" b="1">
                <a:solidFill>
                  <a:srgbClr val="A8332A"/>
                </a:solidFill>
                <a:latin typeface="Calibri"/>
              </a:rPr>
              <a:t>What you'd build without it</a:t>
            </a:r>
          </a:p>
        </p:txBody>
      </p:sp>
      <p:sp>
        <p:nvSpPr>
          <p:cNvPr id="9" name="TextBox 8"/>
          <p:cNvSpPr txBox="1"/>
          <p:nvPr/>
        </p:nvSpPr>
        <p:spPr>
          <a:xfrm>
            <a:off x="868680" y="2880360"/>
            <a:ext cx="5029200" cy="3200400"/>
          </a:xfrm>
          <a:prstGeom prst="rect">
            <a:avLst/>
          </a:prstGeom>
          <a:noFill/>
        </p:spPr>
        <p:txBody>
          <a:bodyPr wrap="square" lIns="0" rIns="0" tIns="0" bIns="0">
            <a:spAutoFit/>
          </a:bodyPr>
          <a:lstStyle/>
          <a:p>
            <a:pPr>
              <a:spcAft>
                <a:spcPts val="600"/>
              </a:spcAft>
            </a:pPr>
            <a:r>
              <a:rPr sz="1200" b="1">
                <a:solidFill>
                  <a:srgbClr val="A8332A"/>
                </a:solidFill>
                <a:latin typeface="Calibri"/>
              </a:rPr>
              <a:t>✗  </a:t>
            </a:r>
            <a:r>
              <a:rPr sz="1200">
                <a:solidFill>
                  <a:srgbClr val="141821"/>
                </a:solidFill>
                <a:latin typeface="Calibri"/>
              </a:rPr>
              <a:t>Per-protocol chat shell, three times</a:t>
            </a:r>
          </a:p>
          <a:p>
            <a:pPr>
              <a:spcAft>
                <a:spcPts val="600"/>
              </a:spcAft>
            </a:pPr>
            <a:r>
              <a:rPr sz="1200" b="1">
                <a:solidFill>
                  <a:srgbClr val="A8332A"/>
                </a:solidFill>
                <a:latin typeface="Calibri"/>
              </a:rPr>
              <a:t>✗  </a:t>
            </a:r>
            <a:r>
              <a:rPr sz="1200">
                <a:solidFill>
                  <a:srgbClr val="141821"/>
                </a:solidFill>
                <a:latin typeface="Calibri"/>
              </a:rPr>
              <a:t>Hand-rolled tool registry, ad hoc per app</a:t>
            </a:r>
          </a:p>
          <a:p>
            <a:pPr>
              <a:spcAft>
                <a:spcPts val="600"/>
              </a:spcAft>
            </a:pPr>
            <a:r>
              <a:rPr sz="1200" b="1">
                <a:solidFill>
                  <a:srgbClr val="A8332A"/>
                </a:solidFill>
                <a:latin typeface="Calibri"/>
              </a:rPr>
              <a:t>✗  </a:t>
            </a:r>
            <a:r>
              <a:rPr sz="1200">
                <a:solidFill>
                  <a:srgbClr val="141821"/>
                </a:solidFill>
                <a:latin typeface="Calibri"/>
              </a:rPr>
              <a:t>Bespoke MFE federation glue for each remote</a:t>
            </a:r>
          </a:p>
          <a:p>
            <a:pPr>
              <a:spcAft>
                <a:spcPts val="600"/>
              </a:spcAft>
            </a:pPr>
            <a:r>
              <a:rPr sz="1200" b="1">
                <a:solidFill>
                  <a:srgbClr val="A8332A"/>
                </a:solidFill>
                <a:latin typeface="Calibri"/>
              </a:rPr>
              <a:t>✗  </a:t>
            </a:r>
            <a:r>
              <a:rPr sz="1200">
                <a:solidFill>
                  <a:srgbClr val="141821"/>
                </a:solidFill>
                <a:latin typeface="Calibri"/>
              </a:rPr>
              <a:t>MCP server scaffolding from scratch</a:t>
            </a:r>
          </a:p>
          <a:p>
            <a:pPr>
              <a:spcAft>
                <a:spcPts val="600"/>
              </a:spcAft>
            </a:pPr>
            <a:r>
              <a:rPr sz="1200" b="1">
                <a:solidFill>
                  <a:srgbClr val="A8332A"/>
                </a:solidFill>
                <a:latin typeface="Calibri"/>
              </a:rPr>
              <a:t>✗  </a:t>
            </a:r>
            <a:r>
              <a:rPr sz="1200">
                <a:solidFill>
                  <a:srgbClr val="141821"/>
                </a:solidFill>
                <a:latin typeface="Calibri"/>
              </a:rPr>
              <a:t>Telemetry stitched in late, never quite consistent</a:t>
            </a:r>
          </a:p>
          <a:p>
            <a:pPr>
              <a:spcAft>
                <a:spcPts val="600"/>
              </a:spcAft>
            </a:pPr>
            <a:r>
              <a:rPr sz="1200" b="1">
                <a:solidFill>
                  <a:srgbClr val="A8332A"/>
                </a:solidFill>
                <a:latin typeface="Calibri"/>
              </a:rPr>
              <a:t>✗  </a:t>
            </a:r>
            <a:r>
              <a:rPr sz="1200">
                <a:solidFill>
                  <a:srgbClr val="141821"/>
                </a:solidFill>
                <a:latin typeface="Calibri"/>
              </a:rPr>
              <a:t>Schematics: none — every team retypes the bootstrap</a:t>
            </a:r>
          </a:p>
        </p:txBody>
      </p:sp>
      <p:sp>
        <p:nvSpPr>
          <p:cNvPr id="10" name="Rounded Rectangle 9"/>
          <p:cNvSpPr/>
          <p:nvPr/>
        </p:nvSpPr>
        <p:spPr>
          <a:xfrm>
            <a:off x="6400800" y="2286000"/>
            <a:ext cx="5212080" cy="402336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423160"/>
            <a:ext cx="4754880" cy="365760"/>
          </a:xfrm>
          <a:prstGeom prst="rect">
            <a:avLst/>
          </a:prstGeom>
          <a:noFill/>
        </p:spPr>
        <p:txBody>
          <a:bodyPr wrap="square" lIns="0" rIns="0" tIns="0" bIns="0" anchor="t">
            <a:spAutoFit/>
          </a:bodyPr>
          <a:lstStyle/>
          <a:p>
            <a:pPr algn="l"/>
            <a:r>
              <a:rPr sz="1400" b="1">
                <a:solidFill>
                  <a:srgbClr val="2F6F4F"/>
                </a:solidFill>
                <a:latin typeface="Calibri"/>
              </a:rPr>
              <a:t>What @maverick/agentic-ui ships</a:t>
            </a:r>
          </a:p>
        </p:txBody>
      </p:sp>
      <p:sp>
        <p:nvSpPr>
          <p:cNvPr id="12" name="TextBox 11"/>
          <p:cNvSpPr txBox="1"/>
          <p:nvPr/>
        </p:nvSpPr>
        <p:spPr>
          <a:xfrm>
            <a:off x="6629400" y="2880360"/>
            <a:ext cx="4754880" cy="3200400"/>
          </a:xfrm>
          <a:prstGeom prst="rect">
            <a:avLst/>
          </a:prstGeom>
          <a:noFill/>
        </p:spPr>
        <p:txBody>
          <a:bodyPr wrap="square" lIns="0" rIns="0" tIns="0" bIns="0">
            <a:spAutoFit/>
          </a:bodyPr>
          <a:lstStyle/>
          <a:p>
            <a:pPr>
              <a:spcAft>
                <a:spcPts val="500"/>
              </a:spcAft>
            </a:pPr>
            <a:r>
              <a:rPr sz="1100" b="1">
                <a:solidFill>
                  <a:srgbClr val="2F6F4F"/>
                </a:solidFill>
                <a:latin typeface="Calibri"/>
              </a:rPr>
              <a:t>✓  </a:t>
            </a:r>
            <a:r>
              <a:rPr sz="1100">
                <a:solidFill>
                  <a:srgbClr val="141821"/>
                </a:solidFill>
                <a:latin typeface="Calibri"/>
              </a:rPr>
              <a:t>One AgenticBackend interface — three adapters</a:t>
            </a:r>
          </a:p>
          <a:p>
            <a:pPr>
              <a:spcAft>
                <a:spcPts val="500"/>
              </a:spcAft>
            </a:pPr>
            <a:r>
              <a:rPr sz="1100" b="1">
                <a:solidFill>
                  <a:srgbClr val="2F6F4F"/>
                </a:solidFill>
                <a:latin typeface="Calibri"/>
              </a:rPr>
              <a:t>✓  </a:t>
            </a:r>
            <a:r>
              <a:rPr sz="1100">
                <a:solidFill>
                  <a:srgbClr val="141821"/>
                </a:solidFill>
                <a:latin typeface="Calibri"/>
              </a:rPr>
              <a:t>13 typed registries, one base class, signal-backed</a:t>
            </a:r>
          </a:p>
          <a:p>
            <a:pPr>
              <a:spcAft>
                <a:spcPts val="500"/>
              </a:spcAft>
            </a:pPr>
            <a:r>
              <a:rPr sz="1100" b="1">
                <a:solidFill>
                  <a:srgbClr val="2F6F4F"/>
                </a:solidFill>
                <a:latin typeface="Calibri"/>
              </a:rPr>
              <a:t>✓  </a:t>
            </a:r>
            <a:r>
              <a:rPr sz="1100">
                <a:solidFill>
                  <a:srgbClr val="141821"/>
                </a:solidFill>
                <a:latin typeface="Calibri"/>
              </a:rPr>
              <a:t>Per-persona scope policy on every registry (1.1)</a:t>
            </a:r>
          </a:p>
          <a:p>
            <a:pPr>
              <a:spcAft>
                <a:spcPts val="500"/>
              </a:spcAft>
            </a:pPr>
            <a:r>
              <a:rPr sz="1100" b="1">
                <a:solidFill>
                  <a:srgbClr val="2F6F4F"/>
                </a:solidFill>
                <a:latin typeface="Calibri"/>
              </a:rPr>
              <a:t>✓  </a:t>
            </a:r>
            <a:r>
              <a:rPr sz="1100">
                <a:solidFill>
                  <a:srgbClr val="141821"/>
                </a:solidFill>
                <a:latin typeface="Calibri"/>
              </a:rPr>
              <a:t>Native + Module Federation, both first-class</a:t>
            </a:r>
          </a:p>
          <a:p>
            <a:pPr>
              <a:spcAft>
                <a:spcPts val="500"/>
              </a:spcAft>
            </a:pPr>
            <a:r>
              <a:rPr sz="1100" b="1">
                <a:solidFill>
                  <a:srgbClr val="2F6F4F"/>
                </a:solidFill>
                <a:latin typeface="Calibri"/>
              </a:rPr>
              <a:t>✓  </a:t>
            </a:r>
            <a:r>
              <a:rPr sz="1100">
                <a:solidFill>
                  <a:srgbClr val="141821"/>
                </a:solidFill>
                <a:latin typeface="Calibri"/>
              </a:rPr>
              <a:t>@maverick/agentic-ui-mcp wraps tools as MCP</a:t>
            </a:r>
          </a:p>
          <a:p>
            <a:pPr>
              <a:spcAft>
                <a:spcPts val="500"/>
              </a:spcAft>
            </a:pPr>
            <a:r>
              <a:rPr sz="1100" b="1">
                <a:solidFill>
                  <a:srgbClr val="2F6F4F"/>
                </a:solidFill>
                <a:latin typeface="Calibri"/>
              </a:rPr>
              <a:t>✓  </a:t>
            </a:r>
            <a:r>
              <a:rPr sz="1100">
                <a:solidFill>
                  <a:srgbClr val="141821"/>
                </a:solidFill>
                <a:latin typeface="Calibri"/>
              </a:rPr>
              <a:t>OTel-instrumented from M1; default no-op</a:t>
            </a:r>
          </a:p>
          <a:p>
            <a:pPr>
              <a:spcAft>
                <a:spcPts val="500"/>
              </a:spcAft>
            </a:pPr>
            <a:r>
              <a:rPr sz="1100" b="1">
                <a:solidFill>
                  <a:srgbClr val="2F6F4F"/>
                </a:solidFill>
                <a:latin typeface="Calibri"/>
              </a:rPr>
              <a:t>✓  </a:t>
            </a:r>
            <a:r>
              <a:rPr sz="1100">
                <a:solidFill>
                  <a:srgbClr val="141821"/>
                </a:solidFill>
                <a:latin typeface="Calibri"/>
              </a:rPr>
              <a:t>ng add scaffolds an entire app in one command</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Problem statement — six axes that compound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Each row pairs an architectural pain point with what teams ship without an abstraction (red) vs what this library does (green).</a:t>
            </a:r>
          </a:p>
        </p:txBody>
      </p:sp>
      <p:sp>
        <p:nvSpPr>
          <p:cNvPr id="7" name="Rectangle 6"/>
          <p:cNvSpPr/>
          <p:nvPr/>
        </p:nvSpPr>
        <p:spPr>
          <a:xfrm>
            <a:off x="640080" y="210312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103120"/>
            <a:ext cx="10911535" cy="3657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76272"/>
            <a:ext cx="3657600" cy="274320"/>
          </a:xfrm>
          <a:prstGeom prst="rect">
            <a:avLst/>
          </a:prstGeom>
          <a:noFill/>
        </p:spPr>
        <p:txBody>
          <a:bodyPr wrap="square" lIns="0" rIns="0" tIns="0" bIns="0" anchor="t">
            <a:spAutoFit/>
          </a:bodyPr>
          <a:lstStyle/>
          <a:p>
            <a:pPr algn="l"/>
            <a:r>
              <a:rPr sz="1000" b="1">
                <a:solidFill>
                  <a:srgbClr val="6B7380"/>
                </a:solidFill>
                <a:latin typeface="Calibri"/>
              </a:rPr>
              <a:t>PAIN POINT</a:t>
            </a:r>
          </a:p>
        </p:txBody>
      </p:sp>
      <p:sp>
        <p:nvSpPr>
          <p:cNvPr id="10" name="TextBox 9"/>
          <p:cNvSpPr txBox="1"/>
          <p:nvPr/>
        </p:nvSpPr>
        <p:spPr>
          <a:xfrm>
            <a:off x="4526280"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WITHOUT AN ABSTRACTION</a:t>
            </a:r>
          </a:p>
        </p:txBody>
      </p:sp>
      <p:sp>
        <p:nvSpPr>
          <p:cNvPr id="11" name="TextBox 10"/>
          <p:cNvSpPr txBox="1"/>
          <p:nvPr/>
        </p:nvSpPr>
        <p:spPr>
          <a:xfrm>
            <a:off x="8183879"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 THIS LIBRARY</a:t>
            </a:r>
          </a:p>
        </p:txBody>
      </p:sp>
      <p:sp>
        <p:nvSpPr>
          <p:cNvPr id="12" name="TextBox 11"/>
          <p:cNvSpPr txBox="1"/>
          <p:nvPr/>
        </p:nvSpPr>
        <p:spPr>
          <a:xfrm>
            <a:off x="777240" y="2523744"/>
            <a:ext cx="3657600" cy="292608"/>
          </a:xfrm>
          <a:prstGeom prst="rect">
            <a:avLst/>
          </a:prstGeom>
          <a:noFill/>
        </p:spPr>
        <p:txBody>
          <a:bodyPr wrap="square" lIns="0" rIns="0" tIns="0" bIns="0" anchor="t">
            <a:spAutoFit/>
          </a:bodyPr>
          <a:lstStyle/>
          <a:p>
            <a:pPr algn="l"/>
            <a:r>
              <a:rPr sz="1100" b="1">
                <a:solidFill>
                  <a:srgbClr val="12243D"/>
                </a:solidFill>
                <a:latin typeface="Calibri"/>
              </a:rPr>
              <a:t>1 · Protocol churn</a:t>
            </a:r>
          </a:p>
        </p:txBody>
      </p:sp>
      <p:sp>
        <p:nvSpPr>
          <p:cNvPr id="13" name="TextBox 12"/>
          <p:cNvSpPr txBox="1"/>
          <p:nvPr/>
        </p:nvSpPr>
        <p:spPr>
          <a:xfrm>
            <a:off x="777240" y="2798064"/>
            <a:ext cx="3657600" cy="329184"/>
          </a:xfrm>
          <a:prstGeom prst="rect">
            <a:avLst/>
          </a:prstGeom>
          <a:noFill/>
        </p:spPr>
        <p:txBody>
          <a:bodyPr wrap="square" lIns="0" rIns="0" tIns="0" bIns="0" anchor="t">
            <a:spAutoFit/>
          </a:bodyPr>
          <a:lstStyle/>
          <a:p>
            <a:pPr algn="l"/>
            <a:r>
              <a:rPr sz="900" b="0">
                <a:solidFill>
                  <a:srgbClr val="6B7380"/>
                </a:solidFill>
                <a:latin typeface="Calibri"/>
              </a:rPr>
              <a:t>AG-UI · Hashbrown · A2UI all evolve quarterly</a:t>
            </a:r>
          </a:p>
        </p:txBody>
      </p:sp>
      <p:sp>
        <p:nvSpPr>
          <p:cNvPr id="14" name="TextBox 13"/>
          <p:cNvSpPr txBox="1"/>
          <p:nvPr/>
        </p:nvSpPr>
        <p:spPr>
          <a:xfrm>
            <a:off x="4526280" y="2578608"/>
            <a:ext cx="3566160" cy="502920"/>
          </a:xfrm>
          <a:prstGeom prst="rect">
            <a:avLst/>
          </a:prstGeom>
          <a:noFill/>
        </p:spPr>
        <p:txBody>
          <a:bodyPr wrap="square" lIns="0" rIns="0" tIns="0" bIns="0" anchor="t">
            <a:spAutoFit/>
          </a:bodyPr>
          <a:lstStyle/>
          <a:p>
            <a:pPr algn="l"/>
            <a:r>
              <a:rPr sz="1000" b="0">
                <a:solidFill>
                  <a:srgbClr val="A8332A"/>
                </a:solidFill>
                <a:latin typeface="Calibri"/>
              </a:rPr>
              <a:t>✗ Hand-rolled SSE/NDJSON parser per app · chat-shell rewrites every quarter</a:t>
            </a:r>
          </a:p>
        </p:txBody>
      </p:sp>
      <p:sp>
        <p:nvSpPr>
          <p:cNvPr id="15" name="TextBox 14"/>
          <p:cNvSpPr txBox="1"/>
          <p:nvPr/>
        </p:nvSpPr>
        <p:spPr>
          <a:xfrm>
            <a:off x="8183879" y="2578608"/>
            <a:ext cx="3566160" cy="502920"/>
          </a:xfrm>
          <a:prstGeom prst="rect">
            <a:avLst/>
          </a:prstGeom>
          <a:noFill/>
        </p:spPr>
        <p:txBody>
          <a:bodyPr wrap="square" lIns="0" rIns="0" tIns="0" bIns="0" anchor="t">
            <a:spAutoFit/>
          </a:bodyPr>
          <a:lstStyle/>
          <a:p>
            <a:pPr algn="l"/>
            <a:r>
              <a:rPr sz="1000" b="0">
                <a:solidFill>
                  <a:srgbClr val="2F6F4F"/>
                </a:solidFill>
                <a:latin typeface="Calibri"/>
              </a:rPr>
              <a:t>✓ One AgenticBackend interface · three shipped adapters · swap by config</a:t>
            </a:r>
          </a:p>
        </p:txBody>
      </p:sp>
      <p:sp>
        <p:nvSpPr>
          <p:cNvPr id="16" name="Rectangle 15"/>
          <p:cNvSpPr/>
          <p:nvPr/>
        </p:nvSpPr>
        <p:spPr>
          <a:xfrm>
            <a:off x="644652" y="3127248"/>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82112"/>
            <a:ext cx="3657600" cy="292608"/>
          </a:xfrm>
          <a:prstGeom prst="rect">
            <a:avLst/>
          </a:prstGeom>
          <a:noFill/>
        </p:spPr>
        <p:txBody>
          <a:bodyPr wrap="square" lIns="0" rIns="0" tIns="0" bIns="0" anchor="t">
            <a:spAutoFit/>
          </a:bodyPr>
          <a:lstStyle/>
          <a:p>
            <a:pPr algn="l"/>
            <a:r>
              <a:rPr sz="1100" b="1">
                <a:solidFill>
                  <a:srgbClr val="12243D"/>
                </a:solidFill>
                <a:latin typeface="Calibri"/>
              </a:rPr>
              <a:t>2 · Fan-out</a:t>
            </a:r>
          </a:p>
        </p:txBody>
      </p:sp>
      <p:sp>
        <p:nvSpPr>
          <p:cNvPr id="18" name="TextBox 17"/>
          <p:cNvSpPr txBox="1"/>
          <p:nvPr/>
        </p:nvSpPr>
        <p:spPr>
          <a:xfrm>
            <a:off x="777240" y="3456432"/>
            <a:ext cx="3657600" cy="329184"/>
          </a:xfrm>
          <a:prstGeom prst="rect">
            <a:avLst/>
          </a:prstGeom>
          <a:noFill/>
        </p:spPr>
        <p:txBody>
          <a:bodyPr wrap="square" lIns="0" rIns="0" tIns="0" bIns="0" anchor="t">
            <a:spAutoFit/>
          </a:bodyPr>
          <a:lstStyle/>
          <a:p>
            <a:pPr algn="l"/>
            <a:r>
              <a:rPr sz="900" b="0">
                <a:solidFill>
                  <a:srgbClr val="6B7380"/>
                </a:solidFill>
                <a:latin typeface="Calibri"/>
              </a:rPr>
              <a:t>Tools, components, validation, persistence, telemetry, audit, federation</a:t>
            </a:r>
          </a:p>
        </p:txBody>
      </p:sp>
      <p:sp>
        <p:nvSpPr>
          <p:cNvPr id="19" name="TextBox 18"/>
          <p:cNvSpPr txBox="1"/>
          <p:nvPr/>
        </p:nvSpPr>
        <p:spPr>
          <a:xfrm>
            <a:off x="4526280" y="3236976"/>
            <a:ext cx="3566160" cy="502920"/>
          </a:xfrm>
          <a:prstGeom prst="rect">
            <a:avLst/>
          </a:prstGeom>
          <a:noFill/>
        </p:spPr>
        <p:txBody>
          <a:bodyPr wrap="square" lIns="0" rIns="0" tIns="0" bIns="0" anchor="t">
            <a:spAutoFit/>
          </a:bodyPr>
          <a:lstStyle/>
          <a:p>
            <a:pPr algn="l"/>
            <a:r>
              <a:rPr sz="1000" b="0">
                <a:solidFill>
                  <a:srgbClr val="A8332A"/>
                </a:solidFill>
                <a:latin typeface="Calibri"/>
              </a:rPr>
              <a:t>✗ Each capability bespoke · own conventions · own teardown semantics</a:t>
            </a:r>
          </a:p>
        </p:txBody>
      </p:sp>
      <p:sp>
        <p:nvSpPr>
          <p:cNvPr id="20" name="TextBox 19"/>
          <p:cNvSpPr txBox="1"/>
          <p:nvPr/>
        </p:nvSpPr>
        <p:spPr>
          <a:xfrm>
            <a:off x="8183879" y="3236976"/>
            <a:ext cx="3566160" cy="502920"/>
          </a:xfrm>
          <a:prstGeom prst="rect">
            <a:avLst/>
          </a:prstGeom>
          <a:noFill/>
        </p:spPr>
        <p:txBody>
          <a:bodyPr wrap="square" lIns="0" rIns="0" tIns="0" bIns="0" anchor="t">
            <a:spAutoFit/>
          </a:bodyPr>
          <a:lstStyle/>
          <a:p>
            <a:pPr algn="l"/>
            <a:r>
              <a:rPr sz="1000" b="0">
                <a:solidFill>
                  <a:srgbClr val="2F6F4F"/>
                </a:solidFill>
                <a:latin typeface="Calibri"/>
              </a:rPr>
              <a:t>✓ One Registry&lt;TDef&gt; base class · 13 typed registries · same shape, same primitives</a:t>
            </a:r>
          </a:p>
        </p:txBody>
      </p:sp>
      <p:sp>
        <p:nvSpPr>
          <p:cNvPr id="21" name="TextBox 20"/>
          <p:cNvSpPr txBox="1"/>
          <p:nvPr/>
        </p:nvSpPr>
        <p:spPr>
          <a:xfrm>
            <a:off x="777240" y="3840480"/>
            <a:ext cx="3657600" cy="292608"/>
          </a:xfrm>
          <a:prstGeom prst="rect">
            <a:avLst/>
          </a:prstGeom>
          <a:noFill/>
        </p:spPr>
        <p:txBody>
          <a:bodyPr wrap="square" lIns="0" rIns="0" tIns="0" bIns="0" anchor="t">
            <a:spAutoFit/>
          </a:bodyPr>
          <a:lstStyle/>
          <a:p>
            <a:pPr algn="l"/>
            <a:r>
              <a:rPr sz="1100" b="1">
                <a:solidFill>
                  <a:srgbClr val="12243D"/>
                </a:solidFill>
                <a:latin typeface="Calibri"/>
              </a:rPr>
              <a:t>3 · Generative UI dispatch</a:t>
            </a:r>
          </a:p>
        </p:txBody>
      </p:sp>
      <p:sp>
        <p:nvSpPr>
          <p:cNvPr id="22" name="TextBox 21"/>
          <p:cNvSpPr txBox="1"/>
          <p:nvPr/>
        </p:nvSpPr>
        <p:spPr>
          <a:xfrm>
            <a:off x="777240" y="4114800"/>
            <a:ext cx="3657600" cy="329184"/>
          </a:xfrm>
          <a:prstGeom prst="rect">
            <a:avLst/>
          </a:prstGeom>
          <a:noFill/>
        </p:spPr>
        <p:txBody>
          <a:bodyPr wrap="square" lIns="0" rIns="0" tIns="0" bIns="0" anchor="t">
            <a:spAutoFit/>
          </a:bodyPr>
          <a:lstStyle/>
          <a:p>
            <a:pPr algn="l"/>
            <a:r>
              <a:rPr sz="900" b="0">
                <a:solidFill>
                  <a:srgbClr val="6B7380"/>
                </a:solidFill>
                <a:latin typeface="Calibri"/>
              </a:rPr>
              <a:t>LLM emits a string · resolve to typed component is fiddly</a:t>
            </a:r>
          </a:p>
        </p:txBody>
      </p:sp>
      <p:sp>
        <p:nvSpPr>
          <p:cNvPr id="23" name="TextBox 22"/>
          <p:cNvSpPr txBox="1"/>
          <p:nvPr/>
        </p:nvSpPr>
        <p:spPr>
          <a:xfrm>
            <a:off x="4526280" y="3895344"/>
            <a:ext cx="3566160" cy="502920"/>
          </a:xfrm>
          <a:prstGeom prst="rect">
            <a:avLst/>
          </a:prstGeom>
          <a:noFill/>
        </p:spPr>
        <p:txBody>
          <a:bodyPr wrap="square" lIns="0" rIns="0" tIns="0" bIns="0" anchor="t">
            <a:spAutoFit/>
          </a:bodyPr>
          <a:lstStyle/>
          <a:p>
            <a:pPr algn="l"/>
            <a:r>
              <a:rPr sz="1000" b="0">
                <a:solidFill>
                  <a:srgbClr val="A8332A"/>
                </a:solidFill>
                <a:latin typeface="Calibri"/>
              </a:rPr>
              <a:t>✗ Growing switch · hard imports · no schema validation on props</a:t>
            </a:r>
          </a:p>
        </p:txBody>
      </p:sp>
      <p:sp>
        <p:nvSpPr>
          <p:cNvPr id="24" name="TextBox 23"/>
          <p:cNvSpPr txBox="1"/>
          <p:nvPr/>
        </p:nvSpPr>
        <p:spPr>
          <a:xfrm>
            <a:off x="8183879" y="3895344"/>
            <a:ext cx="3566160" cy="502920"/>
          </a:xfrm>
          <a:prstGeom prst="rect">
            <a:avLst/>
          </a:prstGeom>
          <a:noFill/>
        </p:spPr>
        <p:txBody>
          <a:bodyPr wrap="square" lIns="0" rIns="0" tIns="0" bIns="0" anchor="t">
            <a:spAutoFit/>
          </a:bodyPr>
          <a:lstStyle/>
          <a:p>
            <a:pPr algn="l"/>
            <a:r>
              <a:rPr sz="1000" b="0">
                <a:solidFill>
                  <a:srgbClr val="2F6F4F"/>
                </a:solidFill>
                <a:latin typeface="Calibri"/>
              </a:rPr>
              <a:t>✓ ComponentRegistry.get(name) · Zod-validated props · *ngComponentOutlet mount</a:t>
            </a:r>
          </a:p>
        </p:txBody>
      </p:sp>
      <p:sp>
        <p:nvSpPr>
          <p:cNvPr id="25" name="Rectangle 24"/>
          <p:cNvSpPr/>
          <p:nvPr/>
        </p:nvSpPr>
        <p:spPr>
          <a:xfrm>
            <a:off x="644652" y="4443984"/>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498848"/>
            <a:ext cx="3657600" cy="292608"/>
          </a:xfrm>
          <a:prstGeom prst="rect">
            <a:avLst/>
          </a:prstGeom>
          <a:noFill/>
        </p:spPr>
        <p:txBody>
          <a:bodyPr wrap="square" lIns="0" rIns="0" tIns="0" bIns="0" anchor="t">
            <a:spAutoFit/>
          </a:bodyPr>
          <a:lstStyle/>
          <a:p>
            <a:pPr algn="l"/>
            <a:r>
              <a:rPr sz="1100" b="1">
                <a:solidFill>
                  <a:srgbClr val="12243D"/>
                </a:solidFill>
                <a:latin typeface="Calibri"/>
              </a:rPr>
              <a:t>4 · Microfrontend composition</a:t>
            </a:r>
          </a:p>
        </p:txBody>
      </p:sp>
      <p:sp>
        <p:nvSpPr>
          <p:cNvPr id="27" name="TextBox 26"/>
          <p:cNvSpPr txBox="1"/>
          <p:nvPr/>
        </p:nvSpPr>
        <p:spPr>
          <a:xfrm>
            <a:off x="777240" y="4773168"/>
            <a:ext cx="3657600" cy="329184"/>
          </a:xfrm>
          <a:prstGeom prst="rect">
            <a:avLst/>
          </a:prstGeom>
          <a:noFill/>
        </p:spPr>
        <p:txBody>
          <a:bodyPr wrap="square" lIns="0" rIns="0" tIns="0" bIns="0" anchor="t">
            <a:spAutoFit/>
          </a:bodyPr>
          <a:lstStyle/>
          <a:p>
            <a:pPr algn="l"/>
            <a:r>
              <a:rPr sz="900" b="0">
                <a:solidFill>
                  <a:srgbClr val="6B7380"/>
                </a:solidFill>
                <a:latin typeface="Calibri"/>
              </a:rPr>
              <a:t>Multiple teams · one chat · no host recompile per remote</a:t>
            </a:r>
          </a:p>
        </p:txBody>
      </p:sp>
      <p:sp>
        <p:nvSpPr>
          <p:cNvPr id="28" name="TextBox 27"/>
          <p:cNvSpPr txBox="1"/>
          <p:nvPr/>
        </p:nvSpPr>
        <p:spPr>
          <a:xfrm>
            <a:off x="4526280" y="4553712"/>
            <a:ext cx="3566160" cy="502920"/>
          </a:xfrm>
          <a:prstGeom prst="rect">
            <a:avLst/>
          </a:prstGeom>
          <a:noFill/>
        </p:spPr>
        <p:txBody>
          <a:bodyPr wrap="square" lIns="0" rIns="0" tIns="0" bIns="0" anchor="t">
            <a:spAutoFit/>
          </a:bodyPr>
          <a:lstStyle/>
          <a:p>
            <a:pPr algn="l"/>
            <a:r>
              <a:rPr sz="1000" b="0">
                <a:solidFill>
                  <a:srgbClr val="A8332A"/>
                </a:solidFill>
                <a:latin typeface="Calibri"/>
              </a:rPr>
              <a:t>✗ Static imports · central registration list · every MFE is a host-team PR</a:t>
            </a:r>
          </a:p>
        </p:txBody>
      </p:sp>
      <p:sp>
        <p:nvSpPr>
          <p:cNvPr id="29" name="TextBox 28"/>
          <p:cNvSpPr txBox="1"/>
          <p:nvPr/>
        </p:nvSpPr>
        <p:spPr>
          <a:xfrm>
            <a:off x="8183879" y="4553712"/>
            <a:ext cx="3566160" cy="502920"/>
          </a:xfrm>
          <a:prstGeom prst="rect">
            <a:avLst/>
          </a:prstGeom>
          <a:noFill/>
        </p:spPr>
        <p:txBody>
          <a:bodyPr wrap="square" lIns="0" rIns="0" tIns="0" bIns="0" anchor="t">
            <a:spAutoFit/>
          </a:bodyPr>
          <a:lstStyle/>
          <a:p>
            <a:pPr algn="l"/>
            <a:r>
              <a:rPr sz="1000" b="0">
                <a:solidFill>
                  <a:srgbClr val="2F6F4F"/>
                </a:solidFill>
                <a:latin typeface="Calibri"/>
              </a:rPr>
              <a:t>✓ defineCapabilityModule + Federation · runtime register · removeBySource on unload</a:t>
            </a:r>
          </a:p>
        </p:txBody>
      </p:sp>
      <p:sp>
        <p:nvSpPr>
          <p:cNvPr id="30" name="TextBox 29"/>
          <p:cNvSpPr txBox="1"/>
          <p:nvPr/>
        </p:nvSpPr>
        <p:spPr>
          <a:xfrm>
            <a:off x="777240" y="5157216"/>
            <a:ext cx="3657600" cy="292608"/>
          </a:xfrm>
          <a:prstGeom prst="rect">
            <a:avLst/>
          </a:prstGeom>
          <a:noFill/>
        </p:spPr>
        <p:txBody>
          <a:bodyPr wrap="square" lIns="0" rIns="0" tIns="0" bIns="0" anchor="t">
            <a:spAutoFit/>
          </a:bodyPr>
          <a:lstStyle/>
          <a:p>
            <a:pPr algn="l"/>
            <a:r>
              <a:rPr sz="1100" b="1">
                <a:solidFill>
                  <a:srgbClr val="12243D"/>
                </a:solidFill>
                <a:latin typeface="Calibri"/>
              </a:rPr>
              <a:t>5 · Governance + persona scope</a:t>
            </a:r>
          </a:p>
        </p:txBody>
      </p:sp>
      <p:sp>
        <p:nvSpPr>
          <p:cNvPr id="31" name="TextBox 30"/>
          <p:cNvSpPr txBox="1"/>
          <p:nvPr/>
        </p:nvSpPr>
        <p:spPr>
          <a:xfrm>
            <a:off x="777240" y="5431536"/>
            <a:ext cx="3657600" cy="329184"/>
          </a:xfrm>
          <a:prstGeom prst="rect">
            <a:avLst/>
          </a:prstGeom>
          <a:noFill/>
        </p:spPr>
        <p:txBody>
          <a:bodyPr wrap="square" lIns="0" rIns="0" tIns="0" bIns="0" anchor="t">
            <a:spAutoFit/>
          </a:bodyPr>
          <a:lstStyle/>
          <a:p>
            <a:pPr algn="l"/>
            <a:r>
              <a:rPr sz="900" b="0">
                <a:solidFill>
                  <a:srgbClr val="6B7380"/>
                </a:solidFill>
                <a:latin typeface="Calibri"/>
              </a:rPr>
              <a:t>Regulated domains · per-role tool surfaces</a:t>
            </a:r>
          </a:p>
        </p:txBody>
      </p:sp>
      <p:sp>
        <p:nvSpPr>
          <p:cNvPr id="32" name="TextBox 31"/>
          <p:cNvSpPr txBox="1"/>
          <p:nvPr/>
        </p:nvSpPr>
        <p:spPr>
          <a:xfrm>
            <a:off x="4526280" y="5212080"/>
            <a:ext cx="3566160" cy="502920"/>
          </a:xfrm>
          <a:prstGeom prst="rect">
            <a:avLst/>
          </a:prstGeom>
          <a:noFill/>
        </p:spPr>
        <p:txBody>
          <a:bodyPr wrap="square" lIns="0" rIns="0" tIns="0" bIns="0" anchor="t">
            <a:spAutoFit/>
          </a:bodyPr>
          <a:lstStyle/>
          <a:p>
            <a:pPr algn="l"/>
            <a:r>
              <a:rPr sz="1000" b="0">
                <a:solidFill>
                  <a:srgbClr val="A8332A"/>
                </a:solidFill>
                <a:latin typeface="Calibri"/>
              </a:rPr>
              <a:t>✗ Bolt-on chat-shell filter · remotes don't honour it · per-app audit</a:t>
            </a:r>
          </a:p>
        </p:txBody>
      </p:sp>
      <p:sp>
        <p:nvSpPr>
          <p:cNvPr id="33" name="TextBox 32"/>
          <p:cNvSpPr txBox="1"/>
          <p:nvPr/>
        </p:nvSpPr>
        <p:spPr>
          <a:xfrm>
            <a:off x="8183879" y="5212080"/>
            <a:ext cx="3566160" cy="502920"/>
          </a:xfrm>
          <a:prstGeom prst="rect">
            <a:avLst/>
          </a:prstGeom>
          <a:noFill/>
        </p:spPr>
        <p:txBody>
          <a:bodyPr wrap="square" lIns="0" rIns="0" tIns="0" bIns="0" anchor="t">
            <a:spAutoFit/>
          </a:bodyPr>
          <a:lstStyle/>
          <a:p>
            <a:pPr algn="l"/>
            <a:r>
              <a:rPr sz="1000" b="0">
                <a:solidFill>
                  <a:srgbClr val="2F6F4F"/>
                </a:solidFill>
                <a:latin typeface="Calibri"/>
              </a:rPr>
              <a:t>✓ RegistryBase.setScopePolicy(predicate) · uniform across all 13 registries</a:t>
            </a:r>
          </a:p>
        </p:txBody>
      </p:sp>
      <p:sp>
        <p:nvSpPr>
          <p:cNvPr id="34" name="Rectangle 33"/>
          <p:cNvSpPr/>
          <p:nvPr/>
        </p:nvSpPr>
        <p:spPr>
          <a:xfrm>
            <a:off x="644652" y="5760720"/>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815584"/>
            <a:ext cx="3657600" cy="292608"/>
          </a:xfrm>
          <a:prstGeom prst="rect">
            <a:avLst/>
          </a:prstGeom>
          <a:noFill/>
        </p:spPr>
        <p:txBody>
          <a:bodyPr wrap="square" lIns="0" rIns="0" tIns="0" bIns="0" anchor="t">
            <a:spAutoFit/>
          </a:bodyPr>
          <a:lstStyle/>
          <a:p>
            <a:pPr algn="l"/>
            <a:r>
              <a:rPr sz="1100" b="1">
                <a:solidFill>
                  <a:srgbClr val="12243D"/>
                </a:solidFill>
                <a:latin typeface="Calibri"/>
              </a:rPr>
              <a:t>6 · Observability across SSE</a:t>
            </a:r>
          </a:p>
        </p:txBody>
      </p:sp>
      <p:sp>
        <p:nvSpPr>
          <p:cNvPr id="36" name="TextBox 35"/>
          <p:cNvSpPr txBox="1"/>
          <p:nvPr/>
        </p:nvSpPr>
        <p:spPr>
          <a:xfrm>
            <a:off x="777240" y="6089904"/>
            <a:ext cx="3657600" cy="329184"/>
          </a:xfrm>
          <a:prstGeom prst="rect">
            <a:avLst/>
          </a:prstGeom>
          <a:noFill/>
        </p:spPr>
        <p:txBody>
          <a:bodyPr wrap="square" lIns="0" rIns="0" tIns="0" bIns="0" anchor="t">
            <a:spAutoFit/>
          </a:bodyPr>
          <a:lstStyle/>
          <a:p>
            <a:pPr algn="l"/>
            <a:r>
              <a:rPr sz="900" b="0">
                <a:solidFill>
                  <a:srgbClr val="6B7380"/>
                </a:solidFill>
                <a:latin typeface="Calibri"/>
              </a:rPr>
              <a:t>One trace covering chat → server → LLM → tool → registry</a:t>
            </a:r>
          </a:p>
        </p:txBody>
      </p:sp>
      <p:sp>
        <p:nvSpPr>
          <p:cNvPr id="37" name="TextBox 36"/>
          <p:cNvSpPr txBox="1"/>
          <p:nvPr/>
        </p:nvSpPr>
        <p:spPr>
          <a:xfrm>
            <a:off x="4526280" y="5870448"/>
            <a:ext cx="3566160" cy="502920"/>
          </a:xfrm>
          <a:prstGeom prst="rect">
            <a:avLst/>
          </a:prstGeom>
          <a:noFill/>
        </p:spPr>
        <p:txBody>
          <a:bodyPr wrap="square" lIns="0" rIns="0" tIns="0" bIns="0" anchor="t">
            <a:spAutoFit/>
          </a:bodyPr>
          <a:lstStyle/>
          <a:p>
            <a:pPr algn="l"/>
            <a:r>
              <a:rPr sz="1000" b="0">
                <a:solidFill>
                  <a:srgbClr val="A8332A"/>
                </a:solidFill>
                <a:latin typeface="Calibri"/>
              </a:rPr>
              <a:t>✗ Per-app logs · no client/server correlation · debug = staring at network tab</a:t>
            </a:r>
          </a:p>
        </p:txBody>
      </p:sp>
      <p:sp>
        <p:nvSpPr>
          <p:cNvPr id="38" name="TextBox 37"/>
          <p:cNvSpPr txBox="1"/>
          <p:nvPr/>
        </p:nvSpPr>
        <p:spPr>
          <a:xfrm>
            <a:off x="8183879" y="5870448"/>
            <a:ext cx="3566160" cy="502920"/>
          </a:xfrm>
          <a:prstGeom prst="rect">
            <a:avLst/>
          </a:prstGeom>
          <a:noFill/>
        </p:spPr>
        <p:txBody>
          <a:bodyPr wrap="square" lIns="0" rIns="0" tIns="0" bIns="0" anchor="t">
            <a:spAutoFit/>
          </a:bodyPr>
          <a:lstStyle/>
          <a:p>
            <a:pPr algn="l"/>
            <a:r>
              <a:rPr sz="1000" b="0">
                <a:solidFill>
                  <a:srgbClr val="2F6F4F"/>
                </a:solidFill>
                <a:latin typeface="Calibri"/>
              </a:rPr>
              <a:t>✓ AgenticTelemetrySink · /otel exporter · W3C traceparent across the SSE handshake</a:t>
            </a:r>
          </a:p>
        </p:txBody>
      </p:sp>
      <p:sp>
        <p:nvSpPr>
          <p:cNvPr id="39" name="Rectangle 3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1" name="TextBox 4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2" name="TextBox 4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7772400" cy="45720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3657600" cy="274320"/>
          </a:xfrm>
          <a:prstGeom prst="rect">
            <a:avLst/>
          </a:prstGeom>
          <a:noFill/>
        </p:spPr>
        <p:txBody>
          <a:bodyPr wrap="square" lIns="0" rIns="0" tIns="0" bIns="0" anchor="t">
            <a:spAutoFit/>
          </a:bodyPr>
          <a:lstStyle/>
          <a:p>
            <a:pPr algn="l"/>
            <a:r>
              <a:rPr sz="1000" b="1">
                <a:solidFill>
                  <a:srgbClr val="6B7380"/>
                </a:solidFill>
                <a:latin typeface="Calibri"/>
              </a:rPr>
              <a:t>BROWSER HOST</a:t>
            </a:r>
          </a:p>
        </p:txBody>
      </p:sp>
      <p:sp>
        <p:nvSpPr>
          <p:cNvPr id="8" name="Rounded Rectangle 7"/>
          <p:cNvSpPr/>
          <p:nvPr/>
        </p:nvSpPr>
        <p:spPr>
          <a:xfrm>
            <a:off x="91440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0" name="Rounded Rectangle 9"/>
          <p:cNvSpPr/>
          <p:nvPr/>
        </p:nvSpPr>
        <p:spPr>
          <a:xfrm>
            <a:off x="324612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Sidebar nav</a:t>
            </a:r>
          </a:p>
        </p:txBody>
      </p:sp>
      <p:sp>
        <p:nvSpPr>
          <p:cNvPr id="12" name="Rounded Rectangle 11"/>
          <p:cNvSpPr/>
          <p:nvPr/>
        </p:nvSpPr>
        <p:spPr>
          <a:xfrm>
            <a:off x="557784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Routed pages</a:t>
            </a:r>
          </a:p>
        </p:txBody>
      </p:sp>
      <p:sp>
        <p:nvSpPr>
          <p:cNvPr id="14" name="Rounded Rectangle 13"/>
          <p:cNvSpPr/>
          <p:nvPr/>
        </p:nvSpPr>
        <p:spPr>
          <a:xfrm>
            <a:off x="914400" y="2971800"/>
            <a:ext cx="7223760" cy="1097280"/>
          </a:xfrm>
          <a:prstGeom prst="roundRect">
            <a:avLst>
              <a:gd name="adj" fmla="val 3000"/>
            </a:avLst>
          </a:prstGeom>
          <a:solidFill>
            <a:srgbClr val="ECF1F6"/>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63240"/>
            <a:ext cx="7040880" cy="274320"/>
          </a:xfrm>
          <a:prstGeom prst="rect">
            <a:avLst/>
          </a:prstGeom>
          <a:noFill/>
        </p:spPr>
        <p:txBody>
          <a:bodyPr wrap="square" lIns="0" rIns="0" tIns="0" bIns="0" anchor="t">
            <a:spAutoFit/>
          </a:bodyPr>
          <a:lstStyle/>
          <a:p>
            <a:pPr algn="l"/>
            <a:r>
              <a:rPr sz="1000" b="1">
                <a:solidFill>
                  <a:srgbClr val="12243D"/>
                </a:solidFill>
                <a:latin typeface="Calibri"/>
              </a:rPr>
              <a:t>REGISTRY LAYER · 13 typed registries · signal-backed</a:t>
            </a:r>
          </a:p>
        </p:txBody>
      </p:sp>
      <p:sp>
        <p:nvSpPr>
          <p:cNvPr id="16" name="Rounded Rectangle 15"/>
          <p:cNvSpPr/>
          <p:nvPr/>
        </p:nvSpPr>
        <p:spPr>
          <a:xfrm>
            <a:off x="1005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Tool</a:t>
            </a:r>
          </a:p>
        </p:txBody>
      </p:sp>
      <p:sp>
        <p:nvSpPr>
          <p:cNvPr id="18" name="Rounded Rectangle 17"/>
          <p:cNvSpPr/>
          <p:nvPr/>
        </p:nvSpPr>
        <p:spPr>
          <a:xfrm>
            <a:off x="2148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Component</a:t>
            </a:r>
          </a:p>
        </p:txBody>
      </p:sp>
      <p:sp>
        <p:nvSpPr>
          <p:cNvPr id="20" name="Rounded Rectangle 19"/>
          <p:cNvSpPr/>
          <p:nvPr/>
        </p:nvSpPr>
        <p:spPr>
          <a:xfrm>
            <a:off x="3291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Capability</a:t>
            </a:r>
          </a:p>
        </p:txBody>
      </p:sp>
      <p:sp>
        <p:nvSpPr>
          <p:cNvPr id="22" name="Rounded Rectangle 21"/>
          <p:cNvSpPr/>
          <p:nvPr/>
        </p:nvSpPr>
        <p:spPr>
          <a:xfrm>
            <a:off x="4434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Backend</a:t>
            </a:r>
          </a:p>
        </p:txBody>
      </p:sp>
      <p:sp>
        <p:nvSpPr>
          <p:cNvPr id="24" name="Rounded Rectangle 23"/>
          <p:cNvSpPr/>
          <p:nvPr/>
        </p:nvSpPr>
        <p:spPr>
          <a:xfrm>
            <a:off x="5577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Action</a:t>
            </a:r>
          </a:p>
        </p:txBody>
      </p:sp>
      <p:sp>
        <p:nvSpPr>
          <p:cNvPr id="26" name="Rounded Rectangle 25"/>
          <p:cNvSpPr/>
          <p:nvPr/>
        </p:nvSpPr>
        <p:spPr>
          <a:xfrm>
            <a:off x="6720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Form</a:t>
            </a:r>
          </a:p>
        </p:txBody>
      </p:sp>
      <p:sp>
        <p:nvSpPr>
          <p:cNvPr id="28" name="Rounded Rectangle 27"/>
          <p:cNvSpPr/>
          <p:nvPr/>
        </p:nvSpPr>
        <p:spPr>
          <a:xfrm>
            <a:off x="1005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675888"/>
            <a:ext cx="1097280" cy="256032"/>
          </a:xfrm>
          <a:prstGeom prst="rect">
            <a:avLst/>
          </a:prstGeom>
          <a:noFill/>
        </p:spPr>
        <p:txBody>
          <a:bodyPr wrap="square" lIns="0" rIns="0" tIns="0" bIns="0" anchor="ctr">
            <a:spAutoFit/>
          </a:bodyPr>
          <a:lstStyle/>
          <a:p>
            <a:pPr algn="ctr"/>
            <a:r>
              <a:rPr sz="900" b="1">
                <a:solidFill>
                  <a:srgbClr val="2F6F4F"/>
                </a:solidFill>
                <a:latin typeface="Calibri"/>
              </a:rPr>
              <a:t>Intent</a:t>
            </a:r>
          </a:p>
        </p:txBody>
      </p:sp>
      <p:sp>
        <p:nvSpPr>
          <p:cNvPr id="30" name="Rounded Rectangle 29"/>
          <p:cNvSpPr/>
          <p:nvPr/>
        </p:nvSpPr>
        <p:spPr>
          <a:xfrm>
            <a:off x="2148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DataSource</a:t>
            </a:r>
          </a:p>
        </p:txBody>
      </p:sp>
      <p:sp>
        <p:nvSpPr>
          <p:cNvPr id="32" name="Rounded Rectangle 31"/>
          <p:cNvSpPr/>
          <p:nvPr/>
        </p:nvSpPr>
        <p:spPr>
          <a:xfrm>
            <a:off x="3291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Validation</a:t>
            </a:r>
          </a:p>
        </p:txBody>
      </p:sp>
      <p:sp>
        <p:nvSpPr>
          <p:cNvPr id="34" name="Rounded Rectangle 33"/>
          <p:cNvSpPr/>
          <p:nvPr/>
        </p:nvSpPr>
        <p:spPr>
          <a:xfrm>
            <a:off x="4434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Persistence</a:t>
            </a:r>
          </a:p>
        </p:txBody>
      </p:sp>
      <p:sp>
        <p:nvSpPr>
          <p:cNvPr id="36" name="Rounded Rectangle 35"/>
          <p:cNvSpPr/>
          <p:nvPr/>
        </p:nvSpPr>
        <p:spPr>
          <a:xfrm>
            <a:off x="5577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Layout</a:t>
            </a:r>
          </a:p>
        </p:txBody>
      </p:sp>
      <p:sp>
        <p:nvSpPr>
          <p:cNvPr id="38" name="Rounded Rectangle 37"/>
          <p:cNvSpPr/>
          <p:nvPr/>
        </p:nvSpPr>
        <p:spPr>
          <a:xfrm>
            <a:off x="6720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Schema</a:t>
            </a:r>
          </a:p>
        </p:txBody>
      </p:sp>
      <p:sp>
        <p:nvSpPr>
          <p:cNvPr id="40" name="Rounded Rectangle 39"/>
          <p:cNvSpPr/>
          <p:nvPr/>
        </p:nvSpPr>
        <p:spPr>
          <a:xfrm>
            <a:off x="914400" y="4480560"/>
            <a:ext cx="231648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480560"/>
            <a:ext cx="2316480" cy="45720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42" name="Rounded Rectangle 41"/>
          <p:cNvSpPr/>
          <p:nvPr/>
        </p:nvSpPr>
        <p:spPr>
          <a:xfrm>
            <a:off x="3368040" y="4480560"/>
            <a:ext cx="231648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68040" y="4480560"/>
            <a:ext cx="2316480" cy="45720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44" name="Rounded Rectangle 43"/>
          <p:cNvSpPr/>
          <p:nvPr/>
        </p:nvSpPr>
        <p:spPr>
          <a:xfrm>
            <a:off x="5821680" y="4480560"/>
            <a:ext cx="231648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21680" y="4480560"/>
            <a:ext cx="2316480" cy="45720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46" name="TextBox 45"/>
          <p:cNvSpPr txBox="1"/>
          <p:nvPr/>
        </p:nvSpPr>
        <p:spPr>
          <a:xfrm>
            <a:off x="914400" y="5120640"/>
            <a:ext cx="7223760" cy="365760"/>
          </a:xfrm>
          <a:prstGeom prst="rect">
            <a:avLst/>
          </a:prstGeom>
          <a:noFill/>
        </p:spPr>
        <p:txBody>
          <a:bodyPr wrap="square" lIns="0" rIns="0" tIns="0" bIns="0" anchor="t">
            <a:spAutoFit/>
          </a:bodyPr>
          <a:lstStyle/>
          <a:p>
            <a:pPr algn="ctr"/>
            <a:r>
              <a:rPr sz="900" b="0">
                <a:solidFill>
                  <a:srgbClr val="6B7380"/>
                </a:solidFill>
                <a:latin typeface="Calibri"/>
              </a:rPr>
              <a:t>All pushed events also flow into AgenticTelemetrySink / AgenticLogger.</a:t>
            </a:r>
          </a:p>
        </p:txBody>
      </p:sp>
      <p:sp>
        <p:nvSpPr>
          <p:cNvPr id="47" name="Rounded Rectangle 46"/>
          <p:cNvSpPr/>
          <p:nvPr/>
        </p:nvSpPr>
        <p:spPr>
          <a:xfrm>
            <a:off x="8686800" y="1554480"/>
            <a:ext cx="2864815" cy="14630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1554480"/>
            <a:ext cx="54864" cy="146304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1691640"/>
            <a:ext cx="2590495" cy="274320"/>
          </a:xfrm>
          <a:prstGeom prst="rect">
            <a:avLst/>
          </a:prstGeom>
          <a:noFill/>
        </p:spPr>
        <p:txBody>
          <a:bodyPr wrap="square" lIns="0" rIns="0" tIns="0" bIns="0" anchor="t">
            <a:spAutoFit/>
          </a:bodyPr>
          <a:lstStyle/>
          <a:p>
            <a:pPr algn="l"/>
            <a:r>
              <a:rPr sz="1100" b="1">
                <a:solidFill>
                  <a:srgbClr val="12243D"/>
                </a:solidFill>
                <a:latin typeface="Calibri"/>
              </a:rPr>
              <a:t>Federation runtime</a:t>
            </a:r>
          </a:p>
        </p:txBody>
      </p:sp>
      <p:sp>
        <p:nvSpPr>
          <p:cNvPr id="50" name="TextBox 49"/>
          <p:cNvSpPr txBox="1"/>
          <p:nvPr/>
        </p:nvSpPr>
        <p:spPr>
          <a:xfrm>
            <a:off x="8869680" y="2011680"/>
            <a:ext cx="2590495" cy="914400"/>
          </a:xfrm>
          <a:prstGeom prst="rect">
            <a:avLst/>
          </a:prstGeom>
          <a:noFill/>
        </p:spPr>
        <p:txBody>
          <a:bodyPr wrap="square" lIns="0" rIns="0" tIns="0" bIns="0" anchor="t">
            <a:spAutoFit/>
          </a:bodyPr>
          <a:lstStyle/>
          <a:p>
            <a:pPr algn="l"/>
            <a:r>
              <a:rPr sz="900" b="0">
                <a:solidFill>
                  <a:srgbClr val="363D49"/>
                </a:solidFill>
                <a:latin typeface="Calibri"/>
              </a:rPr>
              <a:t>Native Federation
· esbuild-native
· @angular-architects
Module Federation
· webpack peer</a:t>
            </a:r>
          </a:p>
        </p:txBody>
      </p:sp>
      <p:sp>
        <p:nvSpPr>
          <p:cNvPr id="51" name="Rounded Rectangle 50"/>
          <p:cNvSpPr/>
          <p:nvPr/>
        </p:nvSpPr>
        <p:spPr>
          <a:xfrm>
            <a:off x="8686800" y="3154680"/>
            <a:ext cx="2864815" cy="12801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686800" y="3154680"/>
            <a:ext cx="54864" cy="128016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291840"/>
            <a:ext cx="2590495" cy="274320"/>
          </a:xfrm>
          <a:prstGeom prst="rect">
            <a:avLst/>
          </a:prstGeom>
          <a:noFill/>
        </p:spPr>
        <p:txBody>
          <a:bodyPr wrap="square" lIns="0" rIns="0" tIns="0" bIns="0" anchor="t">
            <a:spAutoFit/>
          </a:bodyPr>
          <a:lstStyle/>
          <a:p>
            <a:pPr algn="l"/>
            <a:r>
              <a:rPr sz="1100" b="1">
                <a:solidFill>
                  <a:srgbClr val="2F6F4F"/>
                </a:solidFill>
                <a:latin typeface="Calibri"/>
              </a:rPr>
              <a:t>Agent server</a:t>
            </a:r>
          </a:p>
        </p:txBody>
      </p:sp>
      <p:sp>
        <p:nvSpPr>
          <p:cNvPr id="54" name="TextBox 53"/>
          <p:cNvSpPr txBox="1"/>
          <p:nvPr/>
        </p:nvSpPr>
        <p:spPr>
          <a:xfrm>
            <a:off x="8869680" y="3611880"/>
            <a:ext cx="2590495" cy="822960"/>
          </a:xfrm>
          <a:prstGeom prst="rect">
            <a:avLst/>
          </a:prstGeom>
          <a:noFill/>
        </p:spPr>
        <p:txBody>
          <a:bodyPr wrap="square" lIns="0" rIns="0" tIns="0" bIns="0" anchor="t">
            <a:spAutoFit/>
          </a:bodyPr>
          <a:lstStyle/>
          <a:p>
            <a:pPr algn="l"/>
            <a:r>
              <a:rPr sz="900" b="0">
                <a:solidFill>
                  <a:srgbClr val="363D49"/>
                </a:solidFill>
                <a:latin typeface="Calibri"/>
              </a:rPr>
              <a:t>Mastra · Gemini · OpenAI
AG-UI SSE route
ThreadStateStore</a:t>
            </a:r>
          </a:p>
        </p:txBody>
      </p:sp>
      <p:sp>
        <p:nvSpPr>
          <p:cNvPr id="55" name="Rounded Rectangle 54"/>
          <p:cNvSpPr/>
          <p:nvPr/>
        </p:nvSpPr>
        <p:spPr>
          <a:xfrm>
            <a:off x="8686800" y="4572000"/>
            <a:ext cx="2864815" cy="10058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686800" y="457200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869680" y="4663440"/>
            <a:ext cx="2590495" cy="274320"/>
          </a:xfrm>
          <a:prstGeom prst="rect">
            <a:avLst/>
          </a:prstGeom>
          <a:noFill/>
        </p:spPr>
        <p:txBody>
          <a:bodyPr wrap="square" lIns="0" rIns="0" tIns="0" bIns="0" anchor="t">
            <a:spAutoFit/>
          </a:bodyPr>
          <a:lstStyle/>
          <a:p>
            <a:pPr algn="l"/>
            <a:r>
              <a:rPr sz="1100" b="1">
                <a:solidFill>
                  <a:srgbClr val="C48221"/>
                </a:solidFill>
                <a:latin typeface="Calibri"/>
              </a:rPr>
              <a:t>MCP server</a:t>
            </a:r>
          </a:p>
        </p:txBody>
      </p:sp>
      <p:sp>
        <p:nvSpPr>
          <p:cNvPr id="58" name="TextBox 57"/>
          <p:cNvSpPr txBox="1"/>
          <p:nvPr/>
        </p:nvSpPr>
        <p:spPr>
          <a:xfrm>
            <a:off x="8869680" y="4956048"/>
            <a:ext cx="2590495" cy="640080"/>
          </a:xfrm>
          <a:prstGeom prst="rect">
            <a:avLst/>
          </a:prstGeom>
          <a:noFill/>
        </p:spPr>
        <p:txBody>
          <a:bodyPr wrap="square" lIns="0" rIns="0" tIns="0" bIns="0" anchor="t">
            <a:spAutoFit/>
          </a:bodyPr>
          <a:lstStyle/>
          <a:p>
            <a:pPr algn="l"/>
            <a:r>
              <a:rPr sz="900" b="0">
                <a:solidFill>
                  <a:srgbClr val="363D49"/>
                </a:solidFill>
                <a:latin typeface="Calibri"/>
              </a:rPr>
              <a:t>Same ToolDef
Claude Desktop / Cursor
Text/html;profile=mcp-app</a:t>
            </a:r>
          </a:p>
        </p:txBody>
      </p:sp>
      <p:cxnSp>
        <p:nvCxnSpPr>
          <p:cNvPr id="59" name="Connector 58"/>
          <p:cNvCxnSpPr/>
          <p:nvPr/>
        </p:nvCxnSpPr>
        <p:spPr>
          <a:xfrm flipV="1">
            <a:off x="3294888.0" y="3794760"/>
            <a:ext cx="5391912.0" cy="9144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979920.0" y="4937760"/>
            <a:ext cx="1706880.0" cy="1371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366760" y="2286000"/>
            <a:ext cx="320040" cy="12344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446520"/>
            <a:ext cx="10911535" cy="274320"/>
          </a:xfrm>
          <a:prstGeom prst="rect">
            <a:avLst/>
          </a:prstGeom>
          <a:noFill/>
        </p:spPr>
        <p:txBody>
          <a:bodyPr wrap="square" lIns="0" rIns="0" tIns="0" bIns="0" anchor="t">
            <a:spAutoFit/>
          </a:bodyPr>
          <a:lstStyle/>
          <a:p>
            <a:pPr algn="ctr"/>
            <a:r>
              <a:rPr sz="1100" b="1">
                <a:solidFill>
                  <a:srgbClr val="12243D"/>
                </a:solidFill>
                <a:latin typeface="Calibri"/>
              </a:rPr>
              <a:t>One library · three protocols · two federation paths · MCP for analyst desktops</a:t>
            </a:r>
          </a:p>
        </p:txBody>
      </p:sp>
      <p:sp>
        <p:nvSpPr>
          <p:cNvPr id="63" name="Rectangle 6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5" name="TextBox 6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6" name="TextBox 6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 — the picture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architecture.png"/>
          <p:cNvPicPr>
            <a:picLocks noChangeAspect="1"/>
          </p:cNvPicPr>
          <p:nvPr/>
        </p:nvPicPr>
        <p:blipFill>
          <a:blip r:embed="rId2"/>
          <a:stretch>
            <a:fillRect/>
          </a:stretch>
        </p:blipFill>
        <p:spPr>
          <a:xfrm>
            <a:off x="4758848" y="1554480"/>
            <a:ext cx="267399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Four bands. Your app at the top, never rewritten. The library in the middle (chat shell + 13 registries + orchestration). Pluggable adapters below — swap by config, not by chat-shell rewrite. Federated remotes at the bottom, contributing tools and widgets at runtime.</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05 · ARCHITECTURE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End-to-end picture — one prompt, all layers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User types a prompt → arrows show every hop until widgets land back in the chat.</a:t>
            </a:r>
          </a:p>
        </p:txBody>
      </p:sp>
      <p:sp>
        <p:nvSpPr>
          <p:cNvPr id="7" name="Rounded Rectangle 6"/>
          <p:cNvSpPr/>
          <p:nvPr/>
        </p:nvSpPr>
        <p:spPr>
          <a:xfrm>
            <a:off x="640080"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BROWSER · ANGULAR HOST</a:t>
            </a:r>
          </a:p>
        </p:txBody>
      </p:sp>
      <p:sp>
        <p:nvSpPr>
          <p:cNvPr id="9" name="Rounded Rectangle 8"/>
          <p:cNvSpPr/>
          <p:nvPr/>
        </p:nvSpPr>
        <p:spPr>
          <a:xfrm>
            <a:off x="1005840" y="2697480"/>
            <a:ext cx="2814218" cy="411480"/>
          </a:xfrm>
          <a:prstGeom prst="roundRect">
            <a:avLst>
              <a:gd name="adj" fmla="val 8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97480"/>
            <a:ext cx="2814218" cy="411480"/>
          </a:xfrm>
          <a:prstGeom prst="rect">
            <a:avLst/>
          </a:prstGeom>
          <a:noFill/>
        </p:spPr>
        <p:txBody>
          <a:bodyPr wrap="square" lIns="0" rIns="0" tIns="0" bIns="0" anchor="ctr">
            <a:spAutoFit/>
          </a:bodyPr>
          <a:lstStyle/>
          <a:p>
            <a:pPr algn="ctr"/>
            <a:r>
              <a:rPr sz="1100" b="1">
                <a:solidFill>
                  <a:srgbClr val="C48221"/>
                </a:solidFill>
                <a:latin typeface="Calibri"/>
              </a:rPr>
              <a:t>User prompt</a:t>
            </a:r>
          </a:p>
        </p:txBody>
      </p:sp>
      <p:sp>
        <p:nvSpPr>
          <p:cNvPr id="11" name="Rounded Rectangle 10"/>
          <p:cNvSpPr/>
          <p:nvPr/>
        </p:nvSpPr>
        <p:spPr>
          <a:xfrm>
            <a:off x="1005840" y="324612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246120"/>
            <a:ext cx="2814218" cy="41148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3" name="Rounded Rectangle 12"/>
          <p:cNvSpPr/>
          <p:nvPr/>
        </p:nvSpPr>
        <p:spPr>
          <a:xfrm>
            <a:off x="1005840" y="379476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94760"/>
            <a:ext cx="2814218" cy="411480"/>
          </a:xfrm>
          <a:prstGeom prst="rect">
            <a:avLst/>
          </a:prstGeom>
          <a:noFill/>
        </p:spPr>
        <p:txBody>
          <a:bodyPr wrap="square" lIns="0" rIns="0" tIns="0" bIns="0" anchor="ctr">
            <a:spAutoFit/>
          </a:bodyPr>
          <a:lstStyle/>
          <a:p>
            <a:pPr algn="ctr"/>
            <a:r>
              <a:rPr sz="1000" b="1">
                <a:solidFill>
                  <a:srgbClr val="FFFFFF"/>
                </a:solidFill>
                <a:latin typeface="Calibri"/>
              </a:rPr>
              <a:t>injectAgenticChat()</a:t>
            </a:r>
          </a:p>
        </p:txBody>
      </p:sp>
      <p:sp>
        <p:nvSpPr>
          <p:cNvPr id="15" name="Rounded Rectangle 14"/>
          <p:cNvSpPr/>
          <p:nvPr/>
        </p:nvSpPr>
        <p:spPr>
          <a:xfrm>
            <a:off x="1005840" y="43434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43400"/>
            <a:ext cx="2814218" cy="411480"/>
          </a:xfrm>
          <a:prstGeom prst="rect">
            <a:avLst/>
          </a:prstGeom>
          <a:noFill/>
        </p:spPr>
        <p:txBody>
          <a:bodyPr wrap="square" lIns="0" rIns="0" tIns="0" bIns="0" anchor="ctr">
            <a:spAutoFit/>
          </a:bodyPr>
          <a:lstStyle/>
          <a:p>
            <a:pPr algn="ctr"/>
            <a:r>
              <a:rPr sz="1000" b="1">
                <a:solidFill>
                  <a:srgbClr val="FFFFFF"/>
                </a:solidFill>
                <a:latin typeface="Calibri"/>
              </a:rPr>
              <a:t>keywordToolFilter (top-12)</a:t>
            </a:r>
          </a:p>
        </p:txBody>
      </p:sp>
      <p:sp>
        <p:nvSpPr>
          <p:cNvPr id="17" name="Rounded Rectangle 16"/>
          <p:cNvSpPr/>
          <p:nvPr/>
        </p:nvSpPr>
        <p:spPr>
          <a:xfrm>
            <a:off x="1005840" y="489204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892040"/>
            <a:ext cx="2814218" cy="411480"/>
          </a:xfrm>
          <a:prstGeom prst="rect">
            <a:avLst/>
          </a:prstGeom>
          <a:noFill/>
        </p:spPr>
        <p:txBody>
          <a:bodyPr wrap="square" lIns="0" rIns="0" tIns="0" bIns="0" anchor="ctr">
            <a:spAutoFit/>
          </a:bodyPr>
          <a:lstStyle/>
          <a:p>
            <a:pPr algn="ctr"/>
            <a:r>
              <a:rPr sz="1000" b="1">
                <a:solidFill>
                  <a:srgbClr val="FFFFFF"/>
                </a:solidFill>
                <a:latin typeface="Calibri"/>
              </a:rPr>
              <a:t>AgUiBackend</a:t>
            </a:r>
          </a:p>
        </p:txBody>
      </p:sp>
      <p:sp>
        <p:nvSpPr>
          <p:cNvPr id="19" name="Rounded Rectangle 18"/>
          <p:cNvSpPr/>
          <p:nvPr/>
        </p:nvSpPr>
        <p:spPr>
          <a:xfrm>
            <a:off x="1005840" y="544068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2814218" cy="411480"/>
          </a:xfrm>
          <a:prstGeom prst="rect">
            <a:avLst/>
          </a:prstGeom>
          <a:noFill/>
        </p:spPr>
        <p:txBody>
          <a:bodyPr wrap="square" lIns="0" rIns="0" tIns="0" bIns="0" anchor="ctr">
            <a:spAutoFit/>
          </a:bodyPr>
          <a:lstStyle/>
          <a:p>
            <a:pPr algn="ctr"/>
            <a:r>
              <a:rPr sz="900" b="1">
                <a:solidFill>
                  <a:srgbClr val="FFFFFF"/>
                </a:solidFill>
                <a:latin typeface="Calibri"/>
              </a:rPr>
              <a:t>ToolRegistry · ComponentRegistry</a:t>
            </a:r>
          </a:p>
        </p:txBody>
      </p:sp>
      <p:sp>
        <p:nvSpPr>
          <p:cNvPr id="21" name="Rounded Rectangle 20"/>
          <p:cNvSpPr/>
          <p:nvPr/>
        </p:nvSpPr>
        <p:spPr>
          <a:xfrm>
            <a:off x="4322978"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0138"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AGENT SERVER · NODE</a:t>
            </a:r>
          </a:p>
        </p:txBody>
      </p:sp>
      <p:sp>
        <p:nvSpPr>
          <p:cNvPr id="23" name="Rounded Rectangle 22"/>
          <p:cNvSpPr/>
          <p:nvPr/>
        </p:nvSpPr>
        <p:spPr>
          <a:xfrm>
            <a:off x="4688738" y="297180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738" y="2971800"/>
            <a:ext cx="2814218" cy="411480"/>
          </a:xfrm>
          <a:prstGeom prst="rect">
            <a:avLst/>
          </a:prstGeom>
          <a:noFill/>
        </p:spPr>
        <p:txBody>
          <a:bodyPr wrap="square" lIns="0" rIns="0" tIns="0" bIns="0" anchor="ctr">
            <a:spAutoFit/>
          </a:bodyPr>
          <a:lstStyle/>
          <a:p>
            <a:pPr algn="ctr"/>
            <a:r>
              <a:rPr sz="1000" b="1">
                <a:solidFill>
                  <a:srgbClr val="FFFFFF"/>
                </a:solidFill>
                <a:latin typeface="Calibri"/>
              </a:rPr>
              <a:t>/agents/coordinator/run</a:t>
            </a:r>
          </a:p>
        </p:txBody>
      </p:sp>
      <p:sp>
        <p:nvSpPr>
          <p:cNvPr id="25" name="Rounded Rectangle 24"/>
          <p:cNvSpPr/>
          <p:nvPr/>
        </p:nvSpPr>
        <p:spPr>
          <a:xfrm>
            <a:off x="4688738" y="35204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520440"/>
            <a:ext cx="2814218" cy="411480"/>
          </a:xfrm>
          <a:prstGeom prst="rect">
            <a:avLst/>
          </a:prstGeom>
          <a:noFill/>
        </p:spPr>
        <p:txBody>
          <a:bodyPr wrap="square" lIns="0" rIns="0" tIns="0" bIns="0" anchor="ctr">
            <a:spAutoFit/>
          </a:bodyPr>
          <a:lstStyle/>
          <a:p>
            <a:pPr algn="ctr"/>
            <a:r>
              <a:rPr sz="1000" b="1">
                <a:solidFill>
                  <a:srgbClr val="FFFFFF"/>
                </a:solidFill>
                <a:latin typeface="Calibri"/>
              </a:rPr>
              <a:t>OrchestratorAgent (router)</a:t>
            </a:r>
          </a:p>
        </p:txBody>
      </p:sp>
      <p:sp>
        <p:nvSpPr>
          <p:cNvPr id="27" name="Rounded Rectangle 26"/>
          <p:cNvSpPr/>
          <p:nvPr/>
        </p:nvSpPr>
        <p:spPr>
          <a:xfrm>
            <a:off x="4688738" y="4069079"/>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4069079"/>
            <a:ext cx="2814218" cy="411480"/>
          </a:xfrm>
          <a:prstGeom prst="rect">
            <a:avLst/>
          </a:prstGeom>
          <a:noFill/>
        </p:spPr>
        <p:txBody>
          <a:bodyPr wrap="square" lIns="0" rIns="0" tIns="0" bIns="0" anchor="ctr">
            <a:spAutoFit/>
          </a:bodyPr>
          <a:lstStyle/>
          <a:p>
            <a:pPr algn="ctr"/>
            <a:r>
              <a:rPr sz="900" b="1">
                <a:solidFill>
                  <a:srgbClr val="FFFFFF"/>
                </a:solidFill>
                <a:latin typeface="Calibri"/>
              </a:rPr>
              <a:t>Specialist (review/production/…)</a:t>
            </a:r>
          </a:p>
        </p:txBody>
      </p:sp>
      <p:sp>
        <p:nvSpPr>
          <p:cNvPr id="29" name="Rounded Rectangle 28"/>
          <p:cNvSpPr/>
          <p:nvPr/>
        </p:nvSpPr>
        <p:spPr>
          <a:xfrm>
            <a:off x="4688738" y="461772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4617720"/>
            <a:ext cx="2814218" cy="411480"/>
          </a:xfrm>
          <a:prstGeom prst="rect">
            <a:avLst/>
          </a:prstGeom>
          <a:noFill/>
        </p:spPr>
        <p:txBody>
          <a:bodyPr wrap="square" lIns="0" rIns="0" tIns="0" bIns="0" anchor="ctr">
            <a:spAutoFit/>
          </a:bodyPr>
          <a:lstStyle/>
          <a:p>
            <a:pPr algn="ctr"/>
            <a:r>
              <a:rPr sz="1000" b="1">
                <a:solidFill>
                  <a:srgbClr val="FFFFFF"/>
                </a:solidFill>
                <a:latin typeface="Calibri"/>
              </a:rPr>
              <a:t>GeminiAgent · system prompt</a:t>
            </a:r>
          </a:p>
        </p:txBody>
      </p:sp>
      <p:sp>
        <p:nvSpPr>
          <p:cNvPr id="31" name="Rounded Rectangle 30"/>
          <p:cNvSpPr/>
          <p:nvPr/>
        </p:nvSpPr>
        <p:spPr>
          <a:xfrm>
            <a:off x="4688738" y="516636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5166360"/>
            <a:ext cx="2814218" cy="411480"/>
          </a:xfrm>
          <a:prstGeom prst="rect">
            <a:avLst/>
          </a:prstGeom>
          <a:noFill/>
        </p:spPr>
        <p:txBody>
          <a:bodyPr wrap="square" lIns="0" rIns="0" tIns="0" bIns="0" anchor="ctr">
            <a:spAutoFit/>
          </a:bodyPr>
          <a:lstStyle/>
          <a:p>
            <a:pPr algn="ctr"/>
            <a:r>
              <a:rPr sz="1000" b="1">
                <a:solidFill>
                  <a:srgbClr val="FFFFFF"/>
                </a:solidFill>
                <a:latin typeface="Calibri"/>
              </a:rPr>
              <a:t>ThreadStateStore (sticky)</a:t>
            </a:r>
          </a:p>
        </p:txBody>
      </p:sp>
      <p:sp>
        <p:nvSpPr>
          <p:cNvPr id="33" name="Rounded Rectangle 32"/>
          <p:cNvSpPr/>
          <p:nvPr/>
        </p:nvSpPr>
        <p:spPr>
          <a:xfrm>
            <a:off x="8005876"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3036"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LLM PROVIDER · GEMINI</a:t>
            </a:r>
          </a:p>
        </p:txBody>
      </p:sp>
      <p:sp>
        <p:nvSpPr>
          <p:cNvPr id="35" name="Rounded Rectangle 34"/>
          <p:cNvSpPr/>
          <p:nvPr/>
        </p:nvSpPr>
        <p:spPr>
          <a:xfrm>
            <a:off x="8371636" y="310896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71636" y="3108960"/>
            <a:ext cx="2814218" cy="411480"/>
          </a:xfrm>
          <a:prstGeom prst="rect">
            <a:avLst/>
          </a:prstGeom>
          <a:noFill/>
        </p:spPr>
        <p:txBody>
          <a:bodyPr wrap="square" lIns="0" rIns="0" tIns="0" bIns="0" anchor="ctr">
            <a:spAutoFit/>
          </a:bodyPr>
          <a:lstStyle/>
          <a:p>
            <a:pPr algn="ctr"/>
            <a:r>
              <a:rPr sz="1100" b="1">
                <a:solidFill>
                  <a:srgbClr val="FFFFFF"/>
                </a:solidFill>
                <a:latin typeface="Calibri"/>
              </a:rPr>
              <a:t>gemini-2.5-flash</a:t>
            </a:r>
          </a:p>
        </p:txBody>
      </p:sp>
      <p:sp>
        <p:nvSpPr>
          <p:cNvPr id="37" name="Rounded Rectangle 36"/>
          <p:cNvSpPr/>
          <p:nvPr/>
        </p:nvSpPr>
        <p:spPr>
          <a:xfrm>
            <a:off x="8371636" y="37490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71636" y="3749040"/>
            <a:ext cx="2814218" cy="411480"/>
          </a:xfrm>
          <a:prstGeom prst="rect">
            <a:avLst/>
          </a:prstGeom>
          <a:noFill/>
        </p:spPr>
        <p:txBody>
          <a:bodyPr wrap="square" lIns="0" rIns="0" tIns="0" bIns="0" anchor="ctr">
            <a:spAutoFit/>
          </a:bodyPr>
          <a:lstStyle/>
          <a:p>
            <a:pPr algn="ctr"/>
            <a:r>
              <a:rPr sz="1000" b="1">
                <a:solidFill>
                  <a:srgbClr val="FFFFFF"/>
                </a:solidFill>
                <a:latin typeface="Calibri"/>
              </a:rPr>
              <a:t>Tool-call schema</a:t>
            </a:r>
          </a:p>
        </p:txBody>
      </p:sp>
      <p:sp>
        <p:nvSpPr>
          <p:cNvPr id="39" name="Rounded Rectangle 38"/>
          <p:cNvSpPr/>
          <p:nvPr/>
        </p:nvSpPr>
        <p:spPr>
          <a:xfrm>
            <a:off x="8371636" y="438912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1636" y="4389120"/>
            <a:ext cx="2814218" cy="411480"/>
          </a:xfrm>
          <a:prstGeom prst="rect">
            <a:avLst/>
          </a:prstGeom>
          <a:noFill/>
        </p:spPr>
        <p:txBody>
          <a:bodyPr wrap="square" lIns="0" rIns="0" tIns="0" bIns="0" anchor="ctr">
            <a:spAutoFit/>
          </a:bodyPr>
          <a:lstStyle/>
          <a:p>
            <a:pPr algn="ctr"/>
            <a:r>
              <a:rPr sz="1000" b="1">
                <a:solidFill>
                  <a:srgbClr val="FFFFFF"/>
                </a:solidFill>
                <a:latin typeface="Calibri"/>
              </a:rPr>
              <a:t>Streamed completion</a:t>
            </a:r>
          </a:p>
        </p:txBody>
      </p:sp>
      <p:sp>
        <p:nvSpPr>
          <p:cNvPr id="41" name="Rounded Rectangle 40"/>
          <p:cNvSpPr/>
          <p:nvPr/>
        </p:nvSpPr>
        <p:spPr>
          <a:xfrm>
            <a:off x="8371636" y="50292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71636" y="5029200"/>
            <a:ext cx="2814218" cy="411480"/>
          </a:xfrm>
          <a:prstGeom prst="rect">
            <a:avLst/>
          </a:prstGeom>
          <a:noFill/>
        </p:spPr>
        <p:txBody>
          <a:bodyPr wrap="square" lIns="0" rIns="0" tIns="0" bIns="0" anchor="ctr">
            <a:spAutoFit/>
          </a:bodyPr>
          <a:lstStyle/>
          <a:p>
            <a:pPr algn="ctr"/>
            <a:r>
              <a:rPr sz="1000" b="1">
                <a:solidFill>
                  <a:srgbClr val="FFFFFF"/>
                </a:solidFill>
                <a:latin typeface="Calibri"/>
              </a:rPr>
              <a:t>Generative-UI components</a:t>
            </a:r>
          </a:p>
        </p:txBody>
      </p:sp>
      <p:cxnSp>
        <p:nvCxnSpPr>
          <p:cNvPr id="43" name="Connector 42"/>
          <p:cNvCxnSpPr/>
          <p:nvPr/>
        </p:nvCxnSpPr>
        <p:spPr>
          <a:xfrm>
            <a:off x="2412949.166666667" y="3108960"/>
            <a:ext cx="1.0" cy="13716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12949.166666667" y="365760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12949.166666667" y="420624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778709.166666667" y="4549140"/>
            <a:ext cx="1.0" cy="891540"/>
          </a:xfrm>
          <a:prstGeom prst="line">
            <a:avLst/>
          </a:prstGeom>
          <a:ln w="12700">
            <a:solidFill>
              <a:srgbClr val="356B88"/>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12949.166666667" y="475488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40098.3333333335" y="3268980"/>
            <a:ext cx="548640.0000000005" cy="18288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95847.500000001" y="3383280"/>
            <a:ext cx="1.0" cy="13716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7.500000001" y="3931920"/>
            <a:ext cx="1.0" cy="137159"/>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95847.500000001" y="4480560"/>
            <a:ext cx="1.0" cy="13716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822996.666666668" y="3177540"/>
            <a:ext cx="548640.0" cy="1645920"/>
          </a:xfrm>
          <a:prstGeom prst="line">
            <a:avLst/>
          </a:prstGeom>
          <a:ln w="254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7822996.666666668" y="4823460"/>
            <a:ext cx="548640.0" cy="41148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140098.3333333335" y="4274820"/>
            <a:ext cx="548640.0000000005" cy="8229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0080" y="6355080"/>
            <a:ext cx="10911535" cy="4114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 y="6473952"/>
            <a:ext cx="1828800" cy="228600"/>
          </a:xfrm>
          <a:prstGeom prst="rect">
            <a:avLst/>
          </a:prstGeom>
          <a:noFill/>
        </p:spPr>
        <p:txBody>
          <a:bodyPr wrap="square" lIns="0" rIns="0" tIns="0" bIns="0" anchor="t">
            <a:spAutoFit/>
          </a:bodyPr>
          <a:lstStyle/>
          <a:p>
            <a:pPr algn="l"/>
            <a:r>
              <a:rPr sz="900" b="1">
                <a:solidFill>
                  <a:srgbClr val="6B7380"/>
                </a:solidFill>
                <a:latin typeface="Calibri"/>
              </a:rPr>
              <a:t>LEGEND</a:t>
            </a:r>
          </a:p>
        </p:txBody>
      </p:sp>
      <p:sp>
        <p:nvSpPr>
          <p:cNvPr id="57" name="Rectangle 56"/>
          <p:cNvSpPr/>
          <p:nvPr/>
        </p:nvSpPr>
        <p:spPr>
          <a:xfrm>
            <a:off x="2011680" y="6556248"/>
            <a:ext cx="4572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6032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Request path</a:t>
            </a:r>
          </a:p>
        </p:txBody>
      </p:sp>
      <p:sp>
        <p:nvSpPr>
          <p:cNvPr id="59" name="Rectangle 58"/>
          <p:cNvSpPr/>
          <p:nvPr/>
        </p:nvSpPr>
        <p:spPr>
          <a:xfrm>
            <a:off x="457200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93776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6636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Response · widgets · text deltas</a:t>
            </a:r>
          </a:p>
        </p:txBody>
      </p:sp>
      <p:sp>
        <p:nvSpPr>
          <p:cNvPr id="63" name="Rectangle 62"/>
          <p:cNvSpPr/>
          <p:nvPr/>
        </p:nvSpPr>
        <p:spPr>
          <a:xfrm>
            <a:off x="822960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41080" y="6473952"/>
            <a:ext cx="2743200" cy="274320"/>
          </a:xfrm>
          <a:prstGeom prst="rect">
            <a:avLst/>
          </a:prstGeom>
          <a:noFill/>
        </p:spPr>
        <p:txBody>
          <a:bodyPr wrap="square" lIns="0" rIns="0" tIns="0" bIns="0" anchor="t">
            <a:spAutoFit/>
          </a:bodyPr>
          <a:lstStyle/>
          <a:p>
            <a:pPr algn="l"/>
            <a:r>
              <a:rPr sz="1000" b="0">
                <a:solidFill>
                  <a:srgbClr val="363D49"/>
                </a:solidFill>
                <a:latin typeface="Calibri"/>
              </a:rPr>
              <a:t>Registry read · DI cross-cut</a:t>
            </a:r>
          </a:p>
        </p:txBody>
      </p:sp>
      <p:sp>
        <p:nvSpPr>
          <p:cNvPr id="66" name="Rectangle 6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8" name="TextBox 6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9" name="TextBox 6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hub &amp; spokes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All 13 implement one Registry&lt;TDef&gt; — same MFE-aware teardown, same signal contract, same conformance test surface, plus setScopePolicy(...) for per-persona filtered reads (1.1).</a:t>
            </a:r>
          </a:p>
        </p:txBody>
      </p:sp>
      <p:sp>
        <p:nvSpPr>
          <p:cNvPr id="7" name="Rounded Rectangle 6"/>
          <p:cNvSpPr/>
          <p:nvPr/>
        </p:nvSpPr>
        <p:spPr>
          <a:xfrm>
            <a:off x="5181447" y="3657600"/>
            <a:ext cx="1828800" cy="91440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81447" y="3657600"/>
            <a:ext cx="1828800" cy="914400"/>
          </a:xfrm>
          <a:prstGeom prst="rect">
            <a:avLst/>
          </a:prstGeom>
          <a:noFill/>
        </p:spPr>
        <p:txBody>
          <a:bodyPr wrap="square" lIns="0" rIns="0" tIns="0" bIns="0" anchor="ctr">
            <a:spAutoFit/>
          </a:bodyPr>
          <a:lstStyle/>
          <a:p>
            <a:pPr algn="ctr"/>
            <a:r>
              <a:rPr sz="1200" b="1">
                <a:solidFill>
                  <a:srgbClr val="F7F7F5"/>
                </a:solidFill>
                <a:latin typeface="Calibri"/>
              </a:rPr>
              <a:t>Registry&lt;TDef&gt;</a:t>
            </a:r>
          </a:p>
        </p:txBody>
      </p:sp>
      <p:sp>
        <p:nvSpPr>
          <p:cNvPr id="9" name="Rounded Rectangle 8"/>
          <p:cNvSpPr/>
          <p:nvPr/>
        </p:nvSpPr>
        <p:spPr>
          <a:xfrm>
            <a:off x="2605229"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5229"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Tool</a:t>
            </a:r>
          </a:p>
        </p:txBody>
      </p:sp>
      <p:cxnSp>
        <p:nvCxnSpPr>
          <p:cNvPr id="11" name="Connector 10"/>
          <p:cNvCxnSpPr/>
          <p:nvPr/>
        </p:nvCxnSpPr>
        <p:spPr>
          <a:xfrm flipH="1" flipV="1">
            <a:off x="3153869.1370904273" y="2880493.52037552"/>
            <a:ext cx="2941978.3629095727" cy="1234306.47962448"/>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924150"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24150"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Component</a:t>
            </a:r>
          </a:p>
        </p:txBody>
      </p:sp>
      <p:cxnSp>
        <p:nvCxnSpPr>
          <p:cNvPr id="14" name="Connector 13"/>
          <p:cNvCxnSpPr/>
          <p:nvPr/>
        </p:nvCxnSpPr>
        <p:spPr>
          <a:xfrm flipH="1" flipV="1">
            <a:off x="4472790.51815008" y="2374471.5350207426"/>
            <a:ext cx="1623056.98184992" cy="1740328.4649792574"/>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47207" y="2029968"/>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07" y="2029968"/>
            <a:ext cx="1097280" cy="329184"/>
          </a:xfrm>
          <a:prstGeom prst="rect">
            <a:avLst/>
          </a:prstGeom>
          <a:noFill/>
        </p:spPr>
        <p:txBody>
          <a:bodyPr wrap="square" lIns="0" rIns="0" tIns="0" bIns="0" anchor="ctr">
            <a:spAutoFit/>
          </a:bodyPr>
          <a:lstStyle/>
          <a:p>
            <a:pPr algn="ctr"/>
            <a:r>
              <a:rPr sz="1100" b="1">
                <a:solidFill>
                  <a:srgbClr val="1E3A5F"/>
                </a:solidFill>
                <a:latin typeface="Calibri"/>
              </a:rPr>
              <a:t>Capability</a:t>
            </a:r>
          </a:p>
        </p:txBody>
      </p:sp>
      <p:cxnSp>
        <p:nvCxnSpPr>
          <p:cNvPr id="17" name="Connector 16"/>
          <p:cNvCxnSpPr/>
          <p:nvPr/>
        </p:nvCxnSpPr>
        <p:spPr>
          <a:xfrm flipH="1" flipV="1">
            <a:off x="6095847.499999999" y="2194560.0"/>
            <a:ext cx="9.313225746154785e-10" cy="1920240.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70264"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0264"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Backend</a:t>
            </a:r>
          </a:p>
        </p:txBody>
      </p:sp>
      <p:cxnSp>
        <p:nvCxnSpPr>
          <p:cNvPr id="20" name="Connector 19"/>
          <p:cNvCxnSpPr/>
          <p:nvPr/>
        </p:nvCxnSpPr>
        <p:spPr>
          <a:xfrm flipV="1">
            <a:off x="6095847.5" y="2374471.5350207435"/>
            <a:ext cx="1074416.9818499219" cy="1740328.4649792565"/>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89185"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9185"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Mfe</a:t>
            </a:r>
          </a:p>
        </p:txBody>
      </p:sp>
      <p:cxnSp>
        <p:nvCxnSpPr>
          <p:cNvPr id="23" name="Connector 22"/>
          <p:cNvCxnSpPr/>
          <p:nvPr/>
        </p:nvCxnSpPr>
        <p:spPr>
          <a:xfrm flipV="1">
            <a:off x="6095847.5" y="2880493.520375519"/>
            <a:ext cx="2393338.362909572" cy="1234306.479624481"/>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56078" y="4606968"/>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6078" y="4606968"/>
            <a:ext cx="1097280" cy="329184"/>
          </a:xfrm>
          <a:prstGeom prst="rect">
            <a:avLst/>
          </a:prstGeom>
          <a:noFill/>
        </p:spPr>
        <p:txBody>
          <a:bodyPr wrap="square" lIns="0" rIns="0" tIns="0" bIns="0" anchor="ctr">
            <a:spAutoFit/>
          </a:bodyPr>
          <a:lstStyle/>
          <a:p>
            <a:pPr algn="ctr"/>
            <a:r>
              <a:rPr sz="1100" b="1">
                <a:solidFill>
                  <a:srgbClr val="2F6F4F"/>
                </a:solidFill>
                <a:latin typeface="Calibri"/>
              </a:rPr>
              <a:t>Action</a:t>
            </a:r>
          </a:p>
        </p:txBody>
      </p:sp>
      <p:cxnSp>
        <p:nvCxnSpPr>
          <p:cNvPr id="26" name="Connector 25"/>
          <p:cNvCxnSpPr/>
          <p:nvPr/>
        </p:nvCxnSpPr>
        <p:spPr>
          <a:xfrm>
            <a:off x="6095847.5" y="4160520"/>
            <a:ext cx="3608870.716275865" cy="611040.760019682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89185" y="518451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9185" y="5184514"/>
            <a:ext cx="1097280" cy="329184"/>
          </a:xfrm>
          <a:prstGeom prst="rect">
            <a:avLst/>
          </a:prstGeom>
          <a:noFill/>
        </p:spPr>
        <p:txBody>
          <a:bodyPr wrap="square" lIns="0" rIns="0" tIns="0" bIns="0" anchor="ctr">
            <a:spAutoFit/>
          </a:bodyPr>
          <a:lstStyle/>
          <a:p>
            <a:pPr algn="ctr"/>
            <a:r>
              <a:rPr sz="1100" b="1">
                <a:solidFill>
                  <a:srgbClr val="2F6F4F"/>
                </a:solidFill>
                <a:latin typeface="Calibri"/>
              </a:rPr>
              <a:t>Intent</a:t>
            </a:r>
          </a:p>
        </p:txBody>
      </p:sp>
      <p:cxnSp>
        <p:nvCxnSpPr>
          <p:cNvPr id="29" name="Connector 28"/>
          <p:cNvCxnSpPr/>
          <p:nvPr/>
        </p:nvCxnSpPr>
        <p:spPr>
          <a:xfrm>
            <a:off x="6095847.5" y="4160520"/>
            <a:ext cx="2941978.362909572" cy="1188586.47962448"/>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467447" y="561318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67447" y="5613184"/>
            <a:ext cx="1097280" cy="329184"/>
          </a:xfrm>
          <a:prstGeom prst="rect">
            <a:avLst/>
          </a:prstGeom>
          <a:noFill/>
        </p:spPr>
        <p:txBody>
          <a:bodyPr wrap="square" lIns="0" rIns="0" tIns="0" bIns="0" anchor="ctr">
            <a:spAutoFit/>
          </a:bodyPr>
          <a:lstStyle/>
          <a:p>
            <a:pPr algn="ctr"/>
            <a:r>
              <a:rPr sz="1100" b="1">
                <a:solidFill>
                  <a:srgbClr val="2F6F4F"/>
                </a:solidFill>
                <a:latin typeface="Calibri"/>
              </a:rPr>
              <a:t>Form</a:t>
            </a:r>
          </a:p>
        </p:txBody>
      </p:sp>
      <p:cxnSp>
        <p:nvCxnSpPr>
          <p:cNvPr id="32" name="Connector 31"/>
          <p:cNvCxnSpPr/>
          <p:nvPr/>
        </p:nvCxnSpPr>
        <p:spPr>
          <a:xfrm>
            <a:off x="6095847.5" y="4160520"/>
            <a:ext cx="1920240.0" cy="1617256.6213630307"/>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214099" y="5841275"/>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4099" y="5841275"/>
            <a:ext cx="1097280" cy="329184"/>
          </a:xfrm>
          <a:prstGeom prst="rect">
            <a:avLst/>
          </a:prstGeom>
          <a:noFill/>
        </p:spPr>
        <p:txBody>
          <a:bodyPr wrap="square" lIns="0" rIns="0" tIns="0" bIns="0" anchor="ctr">
            <a:spAutoFit/>
          </a:bodyPr>
          <a:lstStyle/>
          <a:p>
            <a:pPr algn="ctr"/>
            <a:r>
              <a:rPr sz="1100" b="1">
                <a:solidFill>
                  <a:srgbClr val="2F6F4F"/>
                </a:solidFill>
                <a:latin typeface="Calibri"/>
              </a:rPr>
              <a:t>DataSource</a:t>
            </a:r>
          </a:p>
        </p:txBody>
      </p:sp>
      <p:cxnSp>
        <p:nvCxnSpPr>
          <p:cNvPr id="35" name="Connector 34"/>
          <p:cNvCxnSpPr/>
          <p:nvPr/>
        </p:nvCxnSpPr>
        <p:spPr>
          <a:xfrm>
            <a:off x="6095847.5" y="4160520"/>
            <a:ext cx="666892.353366293" cy="1845347.2396441624"/>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80315" y="5841275"/>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80315" y="5841275"/>
            <a:ext cx="1097280" cy="329184"/>
          </a:xfrm>
          <a:prstGeom prst="rect">
            <a:avLst/>
          </a:prstGeom>
          <a:noFill/>
        </p:spPr>
        <p:txBody>
          <a:bodyPr wrap="square" lIns="0" rIns="0" tIns="0" bIns="0" anchor="ctr">
            <a:spAutoFit/>
          </a:bodyPr>
          <a:lstStyle/>
          <a:p>
            <a:pPr algn="ctr"/>
            <a:r>
              <a:rPr sz="1100" b="1">
                <a:solidFill>
                  <a:srgbClr val="C48221"/>
                </a:solidFill>
                <a:latin typeface="Calibri"/>
              </a:rPr>
              <a:t>Validation</a:t>
            </a:r>
          </a:p>
        </p:txBody>
      </p:sp>
      <p:cxnSp>
        <p:nvCxnSpPr>
          <p:cNvPr id="38" name="Connector 37"/>
          <p:cNvCxnSpPr/>
          <p:nvPr/>
        </p:nvCxnSpPr>
        <p:spPr>
          <a:xfrm flipH="1">
            <a:off x="5428955.146633707" y="4160520"/>
            <a:ext cx="666892.353366293" cy="1845347.2396441624"/>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3626967" y="561318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26967" y="5613184"/>
            <a:ext cx="1097280" cy="329184"/>
          </a:xfrm>
          <a:prstGeom prst="rect">
            <a:avLst/>
          </a:prstGeom>
          <a:noFill/>
        </p:spPr>
        <p:txBody>
          <a:bodyPr wrap="square" lIns="0" rIns="0" tIns="0" bIns="0" anchor="ctr">
            <a:spAutoFit/>
          </a:bodyPr>
          <a:lstStyle/>
          <a:p>
            <a:pPr algn="ctr"/>
            <a:r>
              <a:rPr sz="1100" b="1">
                <a:solidFill>
                  <a:srgbClr val="C48221"/>
                </a:solidFill>
                <a:latin typeface="Calibri"/>
              </a:rPr>
              <a:t>Persistence</a:t>
            </a:r>
          </a:p>
        </p:txBody>
      </p:sp>
      <p:cxnSp>
        <p:nvCxnSpPr>
          <p:cNvPr id="41" name="Connector 40"/>
          <p:cNvCxnSpPr/>
          <p:nvPr/>
        </p:nvCxnSpPr>
        <p:spPr>
          <a:xfrm flipH="1">
            <a:off x="4175607.500000001" y="4160520"/>
            <a:ext cx="1920239.999999999" cy="1617256.6213630307"/>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2605229" y="518451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05229" y="5184514"/>
            <a:ext cx="1097280" cy="329184"/>
          </a:xfrm>
          <a:prstGeom prst="rect">
            <a:avLst/>
          </a:prstGeom>
          <a:noFill/>
        </p:spPr>
        <p:txBody>
          <a:bodyPr wrap="square" lIns="0" rIns="0" tIns="0" bIns="0" anchor="ctr">
            <a:spAutoFit/>
          </a:bodyPr>
          <a:lstStyle/>
          <a:p>
            <a:pPr algn="ctr"/>
            <a:r>
              <a:rPr sz="1100" b="1">
                <a:solidFill>
                  <a:srgbClr val="C48221"/>
                </a:solidFill>
                <a:latin typeface="Calibri"/>
              </a:rPr>
              <a:t>Layout</a:t>
            </a:r>
          </a:p>
        </p:txBody>
      </p:sp>
      <p:cxnSp>
        <p:nvCxnSpPr>
          <p:cNvPr id="44" name="Connector 43"/>
          <p:cNvCxnSpPr/>
          <p:nvPr/>
        </p:nvCxnSpPr>
        <p:spPr>
          <a:xfrm flipH="1">
            <a:off x="3153869.137090428" y="4160520"/>
            <a:ext cx="2941978.362909572" cy="1188586.47962448"/>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938336" y="4606968"/>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38336" y="4606968"/>
            <a:ext cx="1097280" cy="329184"/>
          </a:xfrm>
          <a:prstGeom prst="rect">
            <a:avLst/>
          </a:prstGeom>
          <a:noFill/>
        </p:spPr>
        <p:txBody>
          <a:bodyPr wrap="square" lIns="0" rIns="0" tIns="0" bIns="0" anchor="ctr">
            <a:spAutoFit/>
          </a:bodyPr>
          <a:lstStyle/>
          <a:p>
            <a:pPr algn="ctr"/>
            <a:r>
              <a:rPr sz="1100" b="1">
                <a:solidFill>
                  <a:srgbClr val="C48221"/>
                </a:solidFill>
                <a:latin typeface="Calibri"/>
              </a:rPr>
              <a:t>Schema</a:t>
            </a:r>
          </a:p>
        </p:txBody>
      </p:sp>
      <p:cxnSp>
        <p:nvCxnSpPr>
          <p:cNvPr id="47" name="Connector 46"/>
          <p:cNvCxnSpPr/>
          <p:nvPr/>
        </p:nvCxnSpPr>
        <p:spPr>
          <a:xfrm flipH="1">
            <a:off x="2486976.783724135" y="4160520"/>
            <a:ext cx="3608870.716275865" cy="611040.760019682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40080" y="6291072"/>
            <a:ext cx="164592" cy="164592"/>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6236208"/>
            <a:ext cx="2743200" cy="274320"/>
          </a:xfrm>
          <a:prstGeom prst="rect">
            <a:avLst/>
          </a:prstGeom>
          <a:noFill/>
        </p:spPr>
        <p:txBody>
          <a:bodyPr wrap="square" lIns="0" rIns="0" tIns="0" bIns="0" anchor="t">
            <a:spAutoFit/>
          </a:bodyPr>
          <a:lstStyle/>
          <a:p>
            <a:pPr algn="l"/>
            <a:r>
              <a:rPr sz="1100" b="1">
                <a:solidFill>
                  <a:srgbClr val="1E3A5F"/>
                </a:solidFill>
                <a:latin typeface="Calibri"/>
              </a:rPr>
              <a:t>Core (M1–M3)</a:t>
            </a:r>
          </a:p>
        </p:txBody>
      </p:sp>
      <p:sp>
        <p:nvSpPr>
          <p:cNvPr id="50" name="Rounded Rectangle 49"/>
          <p:cNvSpPr/>
          <p:nvPr/>
        </p:nvSpPr>
        <p:spPr>
          <a:xfrm>
            <a:off x="4114800" y="6291072"/>
            <a:ext cx="164592" cy="164592"/>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6236208"/>
            <a:ext cx="2743200" cy="274320"/>
          </a:xfrm>
          <a:prstGeom prst="rect">
            <a:avLst/>
          </a:prstGeom>
          <a:noFill/>
        </p:spPr>
        <p:txBody>
          <a:bodyPr wrap="square" lIns="0" rIns="0" tIns="0" bIns="0" anchor="t">
            <a:spAutoFit/>
          </a:bodyPr>
          <a:lstStyle/>
          <a:p>
            <a:pPr algn="l"/>
            <a:r>
              <a:rPr sz="1100" b="1">
                <a:solidFill>
                  <a:srgbClr val="2F6F4F"/>
                </a:solidFill>
                <a:latin typeface="Calibri"/>
              </a:rPr>
              <a:t>Extended (M4–M5)</a:t>
            </a:r>
          </a:p>
        </p:txBody>
      </p:sp>
      <p:sp>
        <p:nvSpPr>
          <p:cNvPr id="52" name="Rounded Rectangle 51"/>
          <p:cNvSpPr/>
          <p:nvPr/>
        </p:nvSpPr>
        <p:spPr>
          <a:xfrm>
            <a:off x="7589520" y="6291072"/>
            <a:ext cx="164592" cy="164592"/>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18120" y="6236208"/>
            <a:ext cx="2743200" cy="274320"/>
          </a:xfrm>
          <a:prstGeom prst="rect">
            <a:avLst/>
          </a:prstGeom>
          <a:noFill/>
        </p:spPr>
        <p:txBody>
          <a:bodyPr wrap="square" lIns="0" rIns="0" tIns="0" bIns="0" anchor="t">
            <a:spAutoFit/>
          </a:bodyPr>
          <a:lstStyle/>
          <a:p>
            <a:pPr algn="l"/>
            <a:r>
              <a:rPr sz="1100" b="1">
                <a:solidFill>
                  <a:srgbClr val="C48221"/>
                </a:solidFill>
                <a:latin typeface="Calibri"/>
              </a:rPr>
              <a:t>Seams</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one base · three tiers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stry-tiers.png"/>
          <p:cNvPicPr>
            <a:picLocks noChangeAspect="1"/>
          </p:cNvPicPr>
          <p:nvPr/>
        </p:nvPicPr>
        <p:blipFill>
          <a:blip r:embed="rId2"/>
          <a:stretch>
            <a:fillRect/>
          </a:stretch>
        </p:blipFill>
        <p:spPr>
          <a:xfrm>
            <a:off x="3040651" y="1554480"/>
            <a:ext cx="6110393"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Every registry inherits Registry&lt;TDef&gt; — same register / list / signal / removeBySource / setScopePolicy semantics. Core (5) are required for any agentic UI. Extended (4) lift it to full agent-driven. Seams (4) are interfaces with a thin default; you plug in your own.</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Capability handoff — sequence diagram</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69164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Host shell</a:t>
            </a:r>
          </a:p>
        </p:txBody>
      </p:sp>
      <p:cxnSp>
        <p:nvCxnSpPr>
          <p:cNvPr id="8" name="Connector 7"/>
          <p:cNvCxnSpPr/>
          <p:nvPr/>
        </p:nvCxnSpPr>
        <p:spPr>
          <a:xfrm>
            <a:off x="155448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71800" y="169164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MfeRegistry</a:t>
            </a:r>
          </a:p>
        </p:txBody>
      </p:sp>
      <p:cxnSp>
        <p:nvCxnSpPr>
          <p:cNvPr id="11" name="Connector 10"/>
          <p:cNvCxnSpPr/>
          <p:nvPr/>
        </p:nvCxnSpPr>
        <p:spPr>
          <a:xfrm>
            <a:off x="365760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66360" y="169164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Federation</a:t>
            </a:r>
          </a:p>
        </p:txBody>
      </p:sp>
      <p:cxnSp>
        <p:nvCxnSpPr>
          <p:cNvPr id="14" name="Connector 13"/>
          <p:cNvCxnSpPr/>
          <p:nvPr/>
        </p:nvCxnSpPr>
        <p:spPr>
          <a:xfrm>
            <a:off x="5852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0920" y="1691640"/>
            <a:ext cx="1371600" cy="457200"/>
          </a:xfrm>
          <a:prstGeom prst="roundRect">
            <a:avLst>
              <a:gd name="adj" fmla="val 2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Remote</a:t>
            </a:r>
          </a:p>
        </p:txBody>
      </p:sp>
      <p:cxnSp>
        <p:nvCxnSpPr>
          <p:cNvPr id="17" name="Connector 16"/>
          <p:cNvCxnSpPr/>
          <p:nvPr/>
        </p:nvCxnSpPr>
        <p:spPr>
          <a:xfrm>
            <a:off x="804672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738360" y="169164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38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Registries</a:t>
            </a:r>
          </a:p>
        </p:txBody>
      </p:sp>
      <p:cxnSp>
        <p:nvCxnSpPr>
          <p:cNvPr id="20" name="Connector 19"/>
          <p:cNvCxnSpPr/>
          <p:nvPr/>
        </p:nvCxnSpPr>
        <p:spPr>
          <a:xfrm>
            <a:off x="10424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2423160"/>
            <a:ext cx="21031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130552"/>
            <a:ext cx="3657600" cy="274320"/>
          </a:xfrm>
          <a:prstGeom prst="rect">
            <a:avLst/>
          </a:prstGeom>
          <a:noFill/>
        </p:spPr>
        <p:txBody>
          <a:bodyPr wrap="square" lIns="0" rIns="0" tIns="0" bIns="0" anchor="t">
            <a:spAutoFit/>
          </a:bodyPr>
          <a:lstStyle/>
          <a:p>
            <a:pPr algn="ctr"/>
            <a:r>
              <a:rPr sz="900" b="1">
                <a:solidFill>
                  <a:srgbClr val="1E3A5F"/>
                </a:solidFill>
                <a:latin typeface="Calibri"/>
              </a:rPr>
              <a:t>discover(env)</a:t>
            </a:r>
          </a:p>
        </p:txBody>
      </p:sp>
      <p:cxnSp>
        <p:nvCxnSpPr>
          <p:cNvPr id="23" name="Connector 22"/>
          <p:cNvCxnSpPr/>
          <p:nvPr/>
        </p:nvCxnSpPr>
        <p:spPr>
          <a:xfrm flipH="1">
            <a:off x="1554480" y="2788920"/>
            <a:ext cx="2103120" cy="1"/>
          </a:xfrm>
          <a:prstGeom prst="line">
            <a:avLst/>
          </a:prstGeom>
          <a:ln w="1524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496312"/>
            <a:ext cx="3657600" cy="274320"/>
          </a:xfrm>
          <a:prstGeom prst="rect">
            <a:avLst/>
          </a:prstGeom>
          <a:noFill/>
        </p:spPr>
        <p:txBody>
          <a:bodyPr wrap="square" lIns="0" rIns="0" tIns="0" bIns="0" anchor="t">
            <a:spAutoFit/>
          </a:bodyPr>
          <a:lstStyle/>
          <a:p>
            <a:pPr algn="ctr"/>
            <a:r>
              <a:rPr sz="900" b="1">
                <a:solidFill>
                  <a:srgbClr val="356B88"/>
                </a:solidFill>
                <a:latin typeface="Calibri"/>
              </a:rPr>
              <a:t>RemoteSpec[]</a:t>
            </a:r>
          </a:p>
        </p:txBody>
      </p:sp>
      <p:cxnSp>
        <p:nvCxnSpPr>
          <p:cNvPr id="25" name="Connector 24"/>
          <p:cNvCxnSpPr/>
          <p:nvPr/>
        </p:nvCxnSpPr>
        <p:spPr>
          <a:xfrm>
            <a:off x="1554480" y="3246120"/>
            <a:ext cx="429768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20" y="2953512"/>
            <a:ext cx="3657600" cy="274320"/>
          </a:xfrm>
          <a:prstGeom prst="rect">
            <a:avLst/>
          </a:prstGeom>
          <a:noFill/>
        </p:spPr>
        <p:txBody>
          <a:bodyPr wrap="square" lIns="0" rIns="0" tIns="0" bIns="0" anchor="t">
            <a:spAutoFit/>
          </a:bodyPr>
          <a:lstStyle/>
          <a:p>
            <a:pPr algn="ctr"/>
            <a:r>
              <a:rPr sz="900" b="1">
                <a:solidFill>
                  <a:srgbClr val="12243D"/>
                </a:solidFill>
                <a:latin typeface="Calibri"/>
              </a:rPr>
              <a:t>loadRemoteCapabilities({remote, loader})</a:t>
            </a:r>
          </a:p>
        </p:txBody>
      </p:sp>
      <p:cxnSp>
        <p:nvCxnSpPr>
          <p:cNvPr id="27" name="Connector 26"/>
          <p:cNvCxnSpPr/>
          <p:nvPr/>
        </p:nvCxnSpPr>
        <p:spPr>
          <a:xfrm>
            <a:off x="5852160" y="3611880"/>
            <a:ext cx="219456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120640" y="3319272"/>
            <a:ext cx="3657600" cy="274320"/>
          </a:xfrm>
          <a:prstGeom prst="rect">
            <a:avLst/>
          </a:prstGeom>
          <a:noFill/>
        </p:spPr>
        <p:txBody>
          <a:bodyPr wrap="square" lIns="0" rIns="0" tIns="0" bIns="0" anchor="t">
            <a:spAutoFit/>
          </a:bodyPr>
          <a:lstStyle/>
          <a:p>
            <a:pPr algn="ctr"/>
            <a:r>
              <a:rPr sz="900" b="1">
                <a:solidFill>
                  <a:srgbClr val="12243D"/>
                </a:solidFill>
                <a:latin typeface="Calibri"/>
              </a:rPr>
              <a:t>import './Capability'</a:t>
            </a:r>
          </a:p>
        </p:txBody>
      </p:sp>
      <p:cxnSp>
        <p:nvCxnSpPr>
          <p:cNvPr id="29" name="Connector 28"/>
          <p:cNvCxnSpPr/>
          <p:nvPr/>
        </p:nvCxnSpPr>
        <p:spPr>
          <a:xfrm>
            <a:off x="8046720" y="3977639"/>
            <a:ext cx="2377440" cy="1"/>
          </a:xfrm>
          <a:prstGeom prst="line">
            <a:avLst/>
          </a:prstGeom>
          <a:ln w="1524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3685031"/>
            <a:ext cx="3657600" cy="274320"/>
          </a:xfrm>
          <a:prstGeom prst="rect">
            <a:avLst/>
          </a:prstGeom>
          <a:noFill/>
        </p:spPr>
        <p:txBody>
          <a:bodyPr wrap="square" lIns="0" rIns="0" tIns="0" bIns="0" anchor="t">
            <a:spAutoFit/>
          </a:bodyPr>
          <a:lstStyle/>
          <a:p>
            <a:pPr algn="ctr"/>
            <a:r>
              <a:rPr sz="900" b="1">
                <a:solidFill>
                  <a:srgbClr val="2F6F4F"/>
                </a:solidFill>
                <a:latin typeface="Calibri"/>
              </a:rPr>
              <a:t>module.apply(injector)</a:t>
            </a:r>
          </a:p>
        </p:txBody>
      </p:sp>
      <p:cxnSp>
        <p:nvCxnSpPr>
          <p:cNvPr id="31" name="Connector 30"/>
          <p:cNvCxnSpPr/>
          <p:nvPr/>
        </p:nvCxnSpPr>
        <p:spPr>
          <a:xfrm>
            <a:off x="10424160" y="4434840"/>
            <a:ext cx="54864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972800" y="4434840"/>
            <a:ext cx="1" cy="18288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0469880" y="4617720"/>
            <a:ext cx="50292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064240" y="4389120"/>
            <a:ext cx="2743200" cy="274320"/>
          </a:xfrm>
          <a:prstGeom prst="rect">
            <a:avLst/>
          </a:prstGeom>
          <a:noFill/>
        </p:spPr>
        <p:txBody>
          <a:bodyPr wrap="square" lIns="0" rIns="0" tIns="0" bIns="0" anchor="t">
            <a:spAutoFit/>
          </a:bodyPr>
          <a:lstStyle/>
          <a:p>
            <a:pPr algn="l"/>
            <a:r>
              <a:rPr sz="900" b="1">
                <a:solidFill>
                  <a:srgbClr val="C48221"/>
                </a:solidFill>
                <a:latin typeface="Calibri"/>
              </a:rPr>
              <a:t>registerAll(tools, components)</a:t>
            </a:r>
          </a:p>
        </p:txBody>
      </p:sp>
      <p:cxnSp>
        <p:nvCxnSpPr>
          <p:cNvPr id="35" name="Connector 34"/>
          <p:cNvCxnSpPr/>
          <p:nvPr/>
        </p:nvCxnSpPr>
        <p:spPr>
          <a:xfrm>
            <a:off x="1554480" y="4892040"/>
            <a:ext cx="886968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160520" y="4599432"/>
            <a:ext cx="3657600" cy="274320"/>
          </a:xfrm>
          <a:prstGeom prst="rect">
            <a:avLst/>
          </a:prstGeom>
          <a:noFill/>
        </p:spPr>
        <p:txBody>
          <a:bodyPr wrap="square" lIns="0" rIns="0" tIns="0" bIns="0" anchor="t">
            <a:spAutoFit/>
          </a:bodyPr>
          <a:lstStyle/>
          <a:p>
            <a:pPr algn="ctr"/>
            <a:r>
              <a:rPr sz="900" b="1">
                <a:solidFill>
                  <a:srgbClr val="1E3A5F"/>
                </a:solidFill>
                <a:latin typeface="Calibri"/>
              </a:rPr>
              <a:t>next chat turn → ToolRegistry.signal()</a:t>
            </a:r>
          </a:p>
        </p:txBody>
      </p:sp>
      <p:cxnSp>
        <p:nvCxnSpPr>
          <p:cNvPr id="37" name="Connector 36"/>
          <p:cNvCxnSpPr/>
          <p:nvPr/>
        </p:nvCxnSpPr>
        <p:spPr>
          <a:xfrm>
            <a:off x="1554480" y="5349240"/>
            <a:ext cx="54864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103120" y="5349240"/>
            <a:ext cx="1" cy="18288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600200" y="5532120"/>
            <a:ext cx="5029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194560" y="5303520"/>
            <a:ext cx="2743200" cy="274320"/>
          </a:xfrm>
          <a:prstGeom prst="rect">
            <a:avLst/>
          </a:prstGeom>
          <a:noFill/>
        </p:spPr>
        <p:txBody>
          <a:bodyPr wrap="square" lIns="0" rIns="0" tIns="0" bIns="0" anchor="t">
            <a:spAutoFit/>
          </a:bodyPr>
          <a:lstStyle/>
          <a:p>
            <a:pPr algn="l"/>
            <a:r>
              <a:rPr sz="900" b="1">
                <a:solidFill>
                  <a:srgbClr val="1E3A5F"/>
                </a:solidFill>
                <a:latin typeface="Calibri"/>
              </a:rPr>
              <a:t>user prompt fires; agent sees new tools</a:t>
            </a:r>
          </a:p>
        </p:txBody>
      </p:sp>
      <p:sp>
        <p:nvSpPr>
          <p:cNvPr id="41" name="TextBox 40"/>
          <p:cNvSpPr txBox="1"/>
          <p:nvPr/>
        </p:nvSpPr>
        <p:spPr>
          <a:xfrm>
            <a:off x="640080" y="6263640"/>
            <a:ext cx="10911535" cy="365760"/>
          </a:xfrm>
          <a:prstGeom prst="rect">
            <a:avLst/>
          </a:prstGeom>
          <a:noFill/>
        </p:spPr>
        <p:txBody>
          <a:bodyPr wrap="square" lIns="0" rIns="0" tIns="0" bIns="0" anchor="t">
            <a:spAutoFit/>
          </a:bodyPr>
          <a:lstStyle/>
          <a:p>
            <a:pPr algn="ctr"/>
            <a:r>
              <a:rPr sz="1100" b="0">
                <a:solidFill>
                  <a:srgbClr val="6B7380"/>
                </a:solidFill>
                <a:latin typeface="Calibri"/>
              </a:rPr>
              <a:t>Each remote is another row in this sequence — registries are the single seam every remote writes through.</a:t>
            </a:r>
          </a:p>
        </p:txBody>
      </p:sp>
      <p:sp>
        <p:nvSpPr>
          <p:cNvPr id="42" name="Rectangle 4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4" name="TextBox 4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5" name="TextBox 4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handler, three surfaces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300" b="0">
                <a:solidFill>
                  <a:srgbClr val="363D49"/>
                </a:solidFill>
                <a:latin typeface="Calibri"/>
              </a:rPr>
              <a:t>The same ToolDef literal powers the chat shell, the MCP server (Claude Desktop / Cursor), and the standalone-mode UI inside each remote — without any code duplication.</a:t>
            </a:r>
          </a:p>
        </p:txBody>
      </p:sp>
      <p:sp>
        <p:nvSpPr>
          <p:cNvPr id="7" name="Rounded Rectangle 6"/>
          <p:cNvSpPr/>
          <p:nvPr/>
        </p:nvSpPr>
        <p:spPr>
          <a:xfrm>
            <a:off x="4449927" y="3429000"/>
            <a:ext cx="3291840" cy="1188720"/>
          </a:xfrm>
          <a:prstGeom prst="roundRect">
            <a:avLst>
              <a:gd name="adj" fmla="val 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9927" y="3429000"/>
            <a:ext cx="3291840" cy="365760"/>
          </a:xfrm>
          <a:prstGeom prst="rect">
            <a:avLst/>
          </a:prstGeom>
          <a:noFill/>
        </p:spPr>
        <p:txBody>
          <a:bodyPr wrap="square" lIns="0" rIns="0" tIns="0" bIns="0" anchor="ctr">
            <a:spAutoFit/>
          </a:bodyPr>
          <a:lstStyle/>
          <a:p>
            <a:pPr algn="ctr"/>
            <a:r>
              <a:rPr sz="1000" b="1">
                <a:solidFill>
                  <a:srgbClr val="ECF1F6"/>
                </a:solidFill>
                <a:latin typeface="Calibri"/>
              </a:rPr>
              <a:t>ToolDef</a:t>
            </a:r>
          </a:p>
        </p:txBody>
      </p:sp>
      <p:sp>
        <p:nvSpPr>
          <p:cNvPr id="9" name="TextBox 8"/>
          <p:cNvSpPr txBox="1"/>
          <p:nvPr/>
        </p:nvSpPr>
        <p:spPr>
          <a:xfrm>
            <a:off x="4449927" y="3794760"/>
            <a:ext cx="3291840" cy="457200"/>
          </a:xfrm>
          <a:prstGeom prst="rect">
            <a:avLst/>
          </a:prstGeom>
          <a:noFill/>
        </p:spPr>
        <p:txBody>
          <a:bodyPr wrap="square" lIns="0" rIns="0" tIns="0" bIns="0" anchor="ctr">
            <a:spAutoFit/>
          </a:bodyPr>
          <a:lstStyle/>
          <a:p>
            <a:pPr algn="ctr"/>
            <a:r>
              <a:rPr sz="1200" b="1">
                <a:solidFill>
                  <a:srgbClr val="FFFFFF"/>
                </a:solidFill>
                <a:latin typeface="Menlo"/>
              </a:rPr>
              <a:t>agenticTool({ name, schema, handler })</a:t>
            </a:r>
          </a:p>
        </p:txBody>
      </p:sp>
      <p:sp>
        <p:nvSpPr>
          <p:cNvPr id="10" name="TextBox 9"/>
          <p:cNvSpPr txBox="1"/>
          <p:nvPr/>
        </p:nvSpPr>
        <p:spPr>
          <a:xfrm>
            <a:off x="4449927" y="4206240"/>
            <a:ext cx="3291840" cy="365760"/>
          </a:xfrm>
          <a:prstGeom prst="rect">
            <a:avLst/>
          </a:prstGeom>
          <a:noFill/>
        </p:spPr>
        <p:txBody>
          <a:bodyPr wrap="square" lIns="0" rIns="0" tIns="0" bIns="0" anchor="ctr">
            <a:spAutoFit/>
          </a:bodyPr>
          <a:lstStyle/>
          <a:p>
            <a:pPr algn="ctr"/>
            <a:r>
              <a:rPr sz="1000" b="0">
                <a:solidFill>
                  <a:srgbClr val="ECF1F6"/>
                </a:solidFill>
                <a:latin typeface="Calibri"/>
              </a:rPr>
              <a:t>single source of truth · framework-agnostic</a:t>
            </a:r>
          </a:p>
        </p:txBody>
      </p:sp>
      <p:sp>
        <p:nvSpPr>
          <p:cNvPr id="11" name="Rounded Rectangle 10"/>
          <p:cNvSpPr/>
          <p:nvPr/>
        </p:nvSpPr>
        <p:spPr>
          <a:xfrm>
            <a:off x="2011680" y="2377440"/>
            <a:ext cx="2011680" cy="128016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377440"/>
            <a:ext cx="2011680"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514600"/>
            <a:ext cx="1828800" cy="365760"/>
          </a:xfrm>
          <a:prstGeom prst="rect">
            <a:avLst/>
          </a:prstGeom>
          <a:noFill/>
        </p:spPr>
        <p:txBody>
          <a:bodyPr wrap="square" lIns="0" rIns="0" tIns="0" bIns="0" anchor="t">
            <a:spAutoFit/>
          </a:bodyPr>
          <a:lstStyle/>
          <a:p>
            <a:pPr algn="ctr"/>
            <a:r>
              <a:rPr sz="1200" b="1">
                <a:solidFill>
                  <a:srgbClr val="12243D"/>
                </a:solidFill>
                <a:latin typeface="Calibri"/>
              </a:rPr>
              <a:t>&lt;mvk-chat-shell&gt;</a:t>
            </a:r>
          </a:p>
        </p:txBody>
      </p:sp>
      <p:sp>
        <p:nvSpPr>
          <p:cNvPr id="14" name="TextBox 13"/>
          <p:cNvSpPr txBox="1"/>
          <p:nvPr/>
        </p:nvSpPr>
        <p:spPr>
          <a:xfrm>
            <a:off x="2103120"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Browser · Angular host
user ↔ LLM in-app</a:t>
            </a:r>
          </a:p>
        </p:txBody>
      </p:sp>
      <p:cxnSp>
        <p:nvCxnSpPr>
          <p:cNvPr id="15" name="Connector 14"/>
          <p:cNvCxnSpPr/>
          <p:nvPr/>
        </p:nvCxnSpPr>
        <p:spPr>
          <a:xfrm flipV="1">
            <a:off x="3017520" y="3383280.0"/>
            <a:ext cx="2619618.75" cy="274320.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90007" y="2377440"/>
            <a:ext cx="2011680" cy="128016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0007" y="2377440"/>
            <a:ext cx="2011680"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47" y="2514600"/>
            <a:ext cx="1828800" cy="365760"/>
          </a:xfrm>
          <a:prstGeom prst="rect">
            <a:avLst/>
          </a:prstGeom>
          <a:noFill/>
        </p:spPr>
        <p:txBody>
          <a:bodyPr wrap="square" lIns="0" rIns="0" tIns="0" bIns="0" anchor="t">
            <a:spAutoFit/>
          </a:bodyPr>
          <a:lstStyle/>
          <a:p>
            <a:pPr algn="ctr"/>
            <a:r>
              <a:rPr sz="1200" b="1">
                <a:solidFill>
                  <a:srgbClr val="C48221"/>
                </a:solidFill>
                <a:latin typeface="Calibri"/>
              </a:rPr>
              <a:t>MCP server</a:t>
            </a:r>
          </a:p>
        </p:txBody>
      </p:sp>
      <p:sp>
        <p:nvSpPr>
          <p:cNvPr id="19" name="TextBox 18"/>
          <p:cNvSpPr txBox="1"/>
          <p:nvPr/>
        </p:nvSpPr>
        <p:spPr>
          <a:xfrm>
            <a:off x="5181447"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Claude Desktop · Cursor · Zed
analyst workstations</a:t>
            </a:r>
          </a:p>
        </p:txBody>
      </p:sp>
      <p:cxnSp>
        <p:nvCxnSpPr>
          <p:cNvPr id="20" name="Connector 19"/>
          <p:cNvCxnSpPr/>
          <p:nvPr/>
        </p:nvCxnSpPr>
        <p:spPr>
          <a:xfrm flipH="1" flipV="1">
            <a:off x="5791055.125" y="3383280.0"/>
            <a:ext cx="304792.375" cy="274320.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68335" y="2377440"/>
            <a:ext cx="2011680" cy="1280160"/>
          </a:xfrm>
          <a:prstGeom prst="roundRect">
            <a:avLst>
              <a:gd name="adj" fmla="val 4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335" y="2377440"/>
            <a:ext cx="201168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9775" y="2514600"/>
            <a:ext cx="1828800" cy="365760"/>
          </a:xfrm>
          <a:prstGeom prst="rect">
            <a:avLst/>
          </a:prstGeom>
          <a:noFill/>
        </p:spPr>
        <p:txBody>
          <a:bodyPr wrap="square" lIns="0" rIns="0" tIns="0" bIns="0" anchor="t">
            <a:spAutoFit/>
          </a:bodyPr>
          <a:lstStyle/>
          <a:p>
            <a:pPr algn="ctr"/>
            <a:r>
              <a:rPr sz="1200" b="1">
                <a:solidFill>
                  <a:srgbClr val="2F6F4F"/>
                </a:solidFill>
                <a:latin typeface="Calibri"/>
              </a:rPr>
              <a:t>Standalone UI</a:t>
            </a:r>
          </a:p>
        </p:txBody>
      </p:sp>
      <p:sp>
        <p:nvSpPr>
          <p:cNvPr id="24" name="TextBox 23"/>
          <p:cNvSpPr txBox="1"/>
          <p:nvPr/>
        </p:nvSpPr>
        <p:spPr>
          <a:xfrm>
            <a:off x="8259775"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Visit :4302 / :4303 directly
technical sanity check</a:t>
            </a:r>
          </a:p>
        </p:txBody>
      </p:sp>
      <p:cxnSp>
        <p:nvCxnSpPr>
          <p:cNvPr id="25" name="Connector 24"/>
          <p:cNvCxnSpPr/>
          <p:nvPr/>
        </p:nvCxnSpPr>
        <p:spPr>
          <a:xfrm flipH="1" flipV="1">
            <a:off x="5944971.5" y="3383280.0"/>
            <a:ext cx="3229203.5" cy="27432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828800"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Tool result · widgets · markdown</a:t>
            </a:r>
          </a:p>
        </p:txBody>
      </p:sp>
      <p:cxnSp>
        <p:nvCxnSpPr>
          <p:cNvPr id="28" name="Connector 27"/>
          <p:cNvCxnSpPr/>
          <p:nvPr/>
        </p:nvCxnSpPr>
        <p:spPr>
          <a:xfrm flipH="1">
            <a:off x="3017520"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41367"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1367"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MCP UI blocks (text/html)</a:t>
            </a:r>
          </a:p>
        </p:txBody>
      </p:sp>
      <p:cxnSp>
        <p:nvCxnSpPr>
          <p:cNvPr id="31" name="Connector 30"/>
          <p:cNvCxnSpPr/>
          <p:nvPr/>
        </p:nvCxnSpPr>
        <p:spPr>
          <a:xfrm flipH="1">
            <a:off x="5730087.5" y="4663440.0"/>
            <a:ext cx="347472.0"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85455"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85455"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Same handler, same audit entry</a:t>
            </a:r>
          </a:p>
        </p:txBody>
      </p:sp>
      <p:cxnSp>
        <p:nvCxnSpPr>
          <p:cNvPr id="34" name="Connector 33"/>
          <p:cNvCxnSpPr/>
          <p:nvPr/>
        </p:nvCxnSpPr>
        <p:spPr>
          <a:xfrm>
            <a:off x="6249763.875"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7" name="TextBox 3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8" name="TextBox 3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AgenticBackend — the abstraction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33832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637215" cy="3200400"/>
          </a:xfrm>
          <a:prstGeom prst="rect">
            <a:avLst/>
          </a:prstGeom>
          <a:noFill/>
        </p:spPr>
        <p:txBody>
          <a:bodyPr wrap="square" lIns="0" rIns="0" tIns="0" bIns="0">
            <a:spAutoFit/>
          </a:bodyPr>
          <a:lstStyle/>
          <a:p>
            <a:pPr>
              <a:spcAft>
                <a:spcPts val="0"/>
              </a:spcAft>
            </a:pPr>
            <a:r>
              <a:rPr sz="1100">
                <a:solidFill>
                  <a:srgbClr val="E2E8F0"/>
                </a:solidFill>
                <a:latin typeface="Menlo"/>
              </a:rPr>
              <a:t>export interface AgenticBackend {</a:t>
            </a:r>
          </a:p>
          <a:p>
            <a:pPr>
              <a:spcAft>
                <a:spcPts val="0"/>
              </a:spcAft>
            </a:pPr>
            <a:r>
              <a:rPr sz="1100">
                <a:solidFill>
                  <a:srgbClr val="E2E8F0"/>
                </a:solidFill>
                <a:latin typeface="Menlo"/>
              </a:rPr>
              <a:t>  readonly id: string;</a:t>
            </a:r>
          </a:p>
          <a:p>
            <a:pPr>
              <a:spcAft>
                <a:spcPts val="0"/>
              </a:spcAft>
            </a:pPr>
            <a:r>
              <a:rPr sz="1100">
                <a:solidFill>
                  <a:srgbClr val="E2E8F0"/>
                </a:solidFill>
                <a:latin typeface="Menlo"/>
              </a:rPr>
              <a:t>  readonly capabilities: {</a:t>
            </a:r>
          </a:p>
          <a:p>
            <a:pPr>
              <a:spcAft>
                <a:spcPts val="0"/>
              </a:spcAft>
            </a:pPr>
            <a:r>
              <a:rPr sz="1100">
                <a:solidFill>
                  <a:srgbClr val="E2E8F0"/>
                </a:solidFill>
                <a:latin typeface="Menlo"/>
              </a:rPr>
              <a:t>    streaming: boolean;</a:t>
            </a:r>
          </a:p>
          <a:p>
            <a:pPr>
              <a:spcAft>
                <a:spcPts val="0"/>
              </a:spcAft>
            </a:pPr>
            <a:r>
              <a:rPr sz="1100">
                <a:solidFill>
                  <a:srgbClr val="E2E8F0"/>
                </a:solidFill>
                <a:latin typeface="Menlo"/>
              </a:rPr>
              <a:t>    clientTools: boolean;</a:t>
            </a:r>
          </a:p>
          <a:p>
            <a:pPr>
              <a:spcAft>
                <a:spcPts val="0"/>
              </a:spcAft>
            </a:pPr>
            <a:r>
              <a:rPr sz="1100">
                <a:solidFill>
                  <a:srgbClr val="E2E8F0"/>
                </a:solidFill>
                <a:latin typeface="Menlo"/>
              </a:rPr>
              <a:t>    generativeUi: boolean;</a:t>
            </a:r>
          </a:p>
          <a:p>
            <a:pPr>
              <a:spcAft>
                <a:spcPts val="0"/>
              </a:spcAft>
            </a:pPr>
            <a:r>
              <a:rPr sz="1100">
                <a:solidFill>
                  <a:srgbClr val="E2E8F0"/>
                </a:solidFill>
                <a:latin typeface="Menlo"/>
              </a:rPr>
              <a:t>    uiActions: boolean;     // A2UI</a:t>
            </a:r>
          </a:p>
          <a:p>
            <a:pPr>
              <a:spcAft>
                <a:spcPts val="0"/>
              </a:spcAft>
            </a:pPr>
            <a:r>
              <a:rPr sz="1100">
                <a:solidFill>
                  <a:srgbClr val="E2E8F0"/>
                </a:solidFill>
                <a:latin typeface="Menlo"/>
              </a:rPr>
              <a:t>  };</a:t>
            </a:r>
          </a:p>
          <a:p>
            <a:pPr>
              <a:spcAft>
                <a:spcPts val="0"/>
              </a:spcAft>
            </a:pPr>
            <a:r>
              <a:rPr sz="1100">
                <a:solidFill>
                  <a:srgbClr val="E2E8F0"/>
                </a:solidFill>
                <a:latin typeface="Menlo"/>
              </a:rPr>
              <a:t>  run(input: AgenticRunInput): AsyncIterable&lt;AgenticEvent&gt;;</a:t>
            </a:r>
          </a:p>
          <a:p>
            <a:pPr>
              <a:spcAft>
                <a:spcPts val="0"/>
              </a:spcAft>
            </a:pPr>
            <a:r>
              <a:rPr sz="1100">
                <a:solidFill>
                  <a:srgbClr val="E2E8F0"/>
                </a:solidFill>
                <a:latin typeface="Menlo"/>
              </a:rPr>
              <a:t>  reset?(threadId: string): Promise&lt;void&gt;;</a:t>
            </a:r>
          </a:p>
          <a:p>
            <a:pPr>
              <a:spcAft>
                <a:spcPts val="0"/>
              </a:spcAft>
            </a:pPr>
            <a:r>
              <a:rPr sz="1100">
                <a:solidFill>
                  <a:srgbClr val="E2E8F0"/>
                </a:solidFill>
                <a:latin typeface="Menlo"/>
              </a:rPr>
              <a:t>}</a:t>
            </a:r>
          </a:p>
          <a:p>
            <a:pPr>
              <a:spcAft>
                <a:spcPts val="0"/>
              </a:spcAft>
            </a:pPr>
            <a:r>
              <a:rPr sz="1100">
                <a:solidFill>
                  <a:srgbClr val="E2E8F0"/>
                </a:solidFill>
                <a:latin typeface="Menlo"/>
              </a:rPr>
              <a:t/>
            </a:r>
          </a:p>
          <a:p>
            <a:pPr>
              <a:spcAft>
                <a:spcPts val="0"/>
              </a:spcAft>
            </a:pPr>
            <a:r>
              <a:rPr sz="1100">
                <a:solidFill>
                  <a:srgbClr val="E2E8F0"/>
                </a:solidFill>
                <a:latin typeface="Menlo"/>
              </a:rPr>
              <a:t>// 12 events: run-started, text-delta, tool-call-*, widget-render, ui-action, …</a:t>
            </a:r>
          </a:p>
          <a:p>
            <a:pPr>
              <a:spcAft>
                <a:spcPts val="0"/>
              </a:spcAft>
            </a:pPr>
            <a:r>
              <a:rPr sz="1100">
                <a:solidFill>
                  <a:srgbClr val="E2E8F0"/>
                </a:solidFill>
                <a:latin typeface="Menlo"/>
              </a:rPr>
              <a:t>export type AgenticEvent =</a:t>
            </a:r>
          </a:p>
          <a:p>
            <a:pPr>
              <a:spcAft>
                <a:spcPts val="0"/>
              </a:spcAft>
            </a:pPr>
            <a:r>
              <a:rPr sz="1100">
                <a:solidFill>
                  <a:srgbClr val="E2E8F0"/>
                </a:solidFill>
                <a:latin typeface="Menlo"/>
              </a:rPr>
              <a:t>  | { type: 'run-started'; threadId: string; runId: string }</a:t>
            </a:r>
          </a:p>
          <a:p>
            <a:pPr>
              <a:spcAft>
                <a:spcPts val="0"/>
              </a:spcAft>
            </a:pPr>
            <a:r>
              <a:rPr sz="1100">
                <a:solidFill>
                  <a:srgbClr val="E2E8F0"/>
                </a:solidFill>
                <a:latin typeface="Menlo"/>
              </a:rPr>
              <a:t>  | { type: 'text-delta'; messageId: string; delta: string }</a:t>
            </a:r>
          </a:p>
          <a:p>
            <a:pPr>
              <a:spcAft>
                <a:spcPts val="0"/>
              </a:spcAft>
            </a:pPr>
            <a:r>
              <a:rPr sz="1100">
                <a:solidFill>
                  <a:srgbClr val="E2E8F0"/>
                </a:solidFill>
                <a:latin typeface="Menlo"/>
              </a:rPr>
              <a:t>  | { type: 'tool-call-result'; toolCallId: string; result: unknown }</a:t>
            </a:r>
          </a:p>
          <a:p>
            <a:pPr>
              <a:spcAft>
                <a:spcPts val="0"/>
              </a:spcAft>
            </a:pPr>
            <a:r>
              <a:rPr sz="1100">
                <a:solidFill>
                  <a:srgbClr val="E2E8F0"/>
                </a:solidFill>
                <a:latin typeface="Menlo"/>
              </a:rPr>
              <a:t>  | { type: 'widget-render'; widgetCallId: string; name: string; props: unknown }</a:t>
            </a:r>
          </a:p>
          <a:p>
            <a:pPr>
              <a:spcAft>
                <a:spcPts val="0"/>
              </a:spcAft>
            </a:pPr>
            <a:r>
              <a:rPr sz="1100">
                <a:solidFill>
                  <a:srgbClr val="E2E8F0"/>
                </a:solidFill>
                <a:latin typeface="Menlo"/>
              </a:rPr>
              <a:t>  | { type: 'ui-action'; actionId: string; op: string; payload: unknown }</a:t>
            </a:r>
          </a:p>
          <a:p>
            <a:pPr>
              <a:spcAft>
                <a:spcPts val="0"/>
              </a:spcAft>
            </a:pPr>
            <a:r>
              <a:rPr sz="1100">
                <a:solidFill>
                  <a:srgbClr val="E2E8F0"/>
                </a:solidFill>
                <a:latin typeface="Menlo"/>
              </a:rPr>
              <a:t>  | … ;</a:t>
            </a:r>
          </a:p>
        </p:txBody>
      </p:sp>
      <p:sp>
        <p:nvSpPr>
          <p:cNvPr id="8" name="TextBox 7"/>
          <p:cNvSpPr txBox="1"/>
          <p:nvPr/>
        </p:nvSpPr>
        <p:spPr>
          <a:xfrm>
            <a:off x="640080" y="5212080"/>
            <a:ext cx="10911535" cy="1097280"/>
          </a:xfrm>
          <a:prstGeom prst="rect">
            <a:avLst/>
          </a:prstGeom>
          <a:noFill/>
        </p:spPr>
        <p:txBody>
          <a:bodyPr wrap="square" lIns="0" rIns="0" tIns="0" bIns="0" anchor="t">
            <a:spAutoFit/>
          </a:bodyPr>
          <a:lstStyle/>
          <a:p>
            <a:pPr algn="ctr"/>
            <a:r>
              <a:rPr sz="1200" b="0">
                <a:solidFill>
                  <a:srgbClr val="363D49"/>
                </a:solidFill>
                <a:latin typeface="Calibri"/>
              </a:rPr>
              <a:t>The chat shell sees ONLY this surface. AgUiBackend, HashbrownBackend, A2uiBackend implement it — capability flags drive feature-detection in the UI.</a:t>
            </a:r>
          </a:p>
        </p:txBody>
      </p:sp>
      <p:sp>
        <p:nvSpPr>
          <p:cNvPr id="9" name="Rectangle 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1" name="TextBox 1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2" name="TextBox 1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Microfrontend federation — capability handoff</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22860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b="1">
                <a:solidFill>
                  <a:srgbClr val="141821"/>
                </a:solidFill>
                <a:latin typeface="Calibri"/>
              </a:rPr>
              <a:t>Discover. </a:t>
            </a:r>
            <a:r>
              <a:rPr sz="1300">
                <a:solidFill>
                  <a:srgbClr val="141821"/>
                </a:solidFill>
                <a:latin typeface="Calibri"/>
              </a:rPr>
              <a:t>MfeRegistryClient.discover(env) — Spring Boot or static-JSON adapter.</a:t>
            </a:r>
          </a:p>
          <a:p>
            <a:pPr>
              <a:spcAft>
                <a:spcPts val="600"/>
              </a:spcAft>
            </a:pPr>
            <a:r>
              <a:rPr sz="1300" b="1">
                <a:solidFill>
                  <a:srgbClr val="1E3A5F"/>
                </a:solidFill>
                <a:latin typeface="Calibri"/>
              </a:rPr>
              <a:t>•  </a:t>
            </a:r>
            <a:r>
              <a:rPr sz="1300" b="1">
                <a:solidFill>
                  <a:srgbClr val="141821"/>
                </a:solidFill>
                <a:latin typeface="Calibri"/>
              </a:rPr>
              <a:t>Lazy-load. </a:t>
            </a:r>
            <a:r>
              <a:rPr sz="1300">
                <a:solidFill>
                  <a:srgbClr val="141821"/>
                </a:solidFill>
                <a:latin typeface="Calibri"/>
              </a:rPr>
              <a:t>loadRemoteModule({ remoteName, exposedModule: './Capability' }).</a:t>
            </a:r>
          </a:p>
          <a:p>
            <a:pPr>
              <a:spcAft>
                <a:spcPts val="600"/>
              </a:spcAft>
            </a:pPr>
            <a:r>
              <a:rPr sz="1300" b="1">
                <a:solidFill>
                  <a:srgbClr val="1E3A5F"/>
                </a:solidFill>
                <a:latin typeface="Calibri"/>
              </a:rPr>
              <a:t>•  </a:t>
            </a:r>
            <a:r>
              <a:rPr sz="1300" b="1">
                <a:solidFill>
                  <a:srgbClr val="141821"/>
                </a:solidFill>
                <a:latin typeface="Calibri"/>
              </a:rPr>
              <a:t>Register. </a:t>
            </a:r>
            <a:r>
              <a:rPr sz="1300">
                <a:solidFill>
                  <a:srgbClr val="141821"/>
                </a:solidFill>
                <a:latin typeface="Calibri"/>
              </a:rPr>
              <a:t>Remote's defineCapabilityModule pushes into ToolRegistry / ComponentRegistry / ActionRegistry.</a:t>
            </a:r>
          </a:p>
          <a:p>
            <a:pPr>
              <a:spcAft>
                <a:spcPts val="600"/>
              </a:spcAft>
            </a:pPr>
            <a:r>
              <a:rPr sz="1300" b="1">
                <a:solidFill>
                  <a:srgbClr val="1E3A5F"/>
                </a:solidFill>
                <a:latin typeface="Calibri"/>
              </a:rPr>
              <a:t>•  </a:t>
            </a:r>
            <a:r>
              <a:rPr sz="1300" b="1">
                <a:solidFill>
                  <a:srgbClr val="141821"/>
                </a:solidFill>
                <a:latin typeface="Calibri"/>
              </a:rPr>
              <a:t>Teardown. </a:t>
            </a:r>
            <a:r>
              <a:rPr sz="1300">
                <a:solidFill>
                  <a:srgbClr val="141821"/>
                </a:solidFill>
                <a:latin typeface="Calibri"/>
              </a:rPr>
              <a:t>removeBySource('remote:bookings') runs across every registry in one pass; signals notify subscribers.</a:t>
            </a:r>
          </a:p>
        </p:txBody>
      </p:sp>
      <p:sp>
        <p:nvSpPr>
          <p:cNvPr id="7" name="Rounded Rectangle 6"/>
          <p:cNvSpPr/>
          <p:nvPr/>
        </p:nvSpPr>
        <p:spPr>
          <a:xfrm>
            <a:off x="640080" y="3931920"/>
            <a:ext cx="5349240" cy="2377440"/>
          </a:xfrm>
          <a:prstGeom prst="roundRect">
            <a:avLst>
              <a:gd name="adj" fmla="val 4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365760"/>
          </a:xfrm>
          <a:prstGeom prst="rect">
            <a:avLst/>
          </a:prstGeom>
          <a:noFill/>
        </p:spPr>
        <p:txBody>
          <a:bodyPr wrap="square" lIns="0" rIns="0" tIns="0" bIns="0" anchor="t">
            <a:spAutoFit/>
          </a:bodyPr>
          <a:lstStyle/>
          <a:p>
            <a:pPr algn="l"/>
            <a:r>
              <a:rPr sz="1300" b="1">
                <a:solidFill>
                  <a:srgbClr val="12243D"/>
                </a:solidFill>
                <a:latin typeface="Calibri"/>
              </a:rPr>
              <a:t>Native Federation (default)</a:t>
            </a:r>
          </a:p>
        </p:txBody>
      </p:sp>
      <p:sp>
        <p:nvSpPr>
          <p:cNvPr id="9" name="TextBox 8"/>
          <p:cNvSpPr txBox="1"/>
          <p:nvPr/>
        </p:nvSpPr>
        <p:spPr>
          <a:xfrm>
            <a:off x="868680" y="4434840"/>
            <a:ext cx="4937760" cy="1828800"/>
          </a:xfrm>
          <a:prstGeom prst="rect">
            <a:avLst/>
          </a:prstGeom>
          <a:noFill/>
        </p:spPr>
        <p:txBody>
          <a:bodyPr wrap="square" lIns="0" rIns="0" tIns="0" bIns="0">
            <a:spAutoFit/>
          </a:bodyPr>
          <a:lstStyle/>
          <a:p>
            <a:pPr>
              <a:spcAft>
                <a:spcPts val="400"/>
              </a:spcAft>
            </a:pPr>
            <a:r>
              <a:rPr sz="1200" b="1">
                <a:solidFill>
                  <a:srgbClr val="12243D"/>
                </a:solidFill>
                <a:latin typeface="Calibri"/>
              </a:rPr>
              <a:t>—  </a:t>
            </a:r>
            <a:r>
              <a:rPr sz="1200">
                <a:solidFill>
                  <a:srgbClr val="141821"/>
                </a:solidFill>
                <a:latin typeface="Calibri"/>
              </a:rPr>
              <a:t>Backed by @angular-architects/native-federation</a:t>
            </a:r>
          </a:p>
          <a:p>
            <a:pPr>
              <a:spcAft>
                <a:spcPts val="400"/>
              </a:spcAft>
            </a:pPr>
            <a:r>
              <a:rPr sz="1200" b="1">
                <a:solidFill>
                  <a:srgbClr val="12243D"/>
                </a:solidFill>
                <a:latin typeface="Calibri"/>
              </a:rPr>
              <a:t>—  </a:t>
            </a:r>
            <a:r>
              <a:rPr sz="1200">
                <a:solidFill>
                  <a:srgbClr val="141821"/>
                </a:solidFill>
                <a:latin typeface="Calibri"/>
              </a:rPr>
              <a:t>esbuild-compatible — Angular CLI default</a:t>
            </a:r>
          </a:p>
          <a:p>
            <a:pPr>
              <a:spcAft>
                <a:spcPts val="400"/>
              </a:spcAft>
            </a:pPr>
            <a:r>
              <a:rPr sz="1200" b="1">
                <a:solidFill>
                  <a:srgbClr val="12243D"/>
                </a:solidFill>
                <a:latin typeface="Calibri"/>
              </a:rPr>
              <a:t>—  </a:t>
            </a:r>
            <a:r>
              <a:rPr sz="1200">
                <a:solidFill>
                  <a:srgbClr val="141821"/>
                </a:solidFill>
                <a:latin typeface="Calibri"/>
              </a:rPr>
              <a:t>Smaller bundle, faster cold start</a:t>
            </a:r>
          </a:p>
        </p:txBody>
      </p:sp>
      <p:sp>
        <p:nvSpPr>
          <p:cNvPr id="10" name="Rounded Rectangle 9"/>
          <p:cNvSpPr/>
          <p:nvPr/>
        </p:nvSpPr>
        <p:spPr>
          <a:xfrm>
            <a:off x="6263640" y="3931920"/>
            <a:ext cx="5349240" cy="2377440"/>
          </a:xfrm>
          <a:prstGeom prst="roundRect">
            <a:avLst>
              <a:gd name="adj" fmla="val 4000"/>
            </a:avLst>
          </a:prstGeom>
          <a:solidFill>
            <a:srgbClr val="FEF3C7"/>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4937760" cy="365760"/>
          </a:xfrm>
          <a:prstGeom prst="rect">
            <a:avLst/>
          </a:prstGeom>
          <a:noFill/>
        </p:spPr>
        <p:txBody>
          <a:bodyPr wrap="square" lIns="0" rIns="0" tIns="0" bIns="0" anchor="t">
            <a:spAutoFit/>
          </a:bodyPr>
          <a:lstStyle/>
          <a:p>
            <a:pPr algn="l"/>
            <a:r>
              <a:rPr sz="1300" b="1">
                <a:solidFill>
                  <a:srgbClr val="C48221"/>
                </a:solidFill>
                <a:latin typeface="Calibri"/>
              </a:rPr>
              <a:t>Module Federation (peer)</a:t>
            </a:r>
          </a:p>
        </p:txBody>
      </p:sp>
      <p:sp>
        <p:nvSpPr>
          <p:cNvPr id="12" name="TextBox 11"/>
          <p:cNvSpPr txBox="1"/>
          <p:nvPr/>
        </p:nvSpPr>
        <p:spPr>
          <a:xfrm>
            <a:off x="6492240" y="4434840"/>
            <a:ext cx="4937760" cy="1828800"/>
          </a:xfrm>
          <a:prstGeom prst="rect">
            <a:avLst/>
          </a:prstGeom>
          <a:noFill/>
        </p:spPr>
        <p:txBody>
          <a:bodyPr wrap="square" lIns="0" rIns="0" tIns="0" bIns="0">
            <a:spAutoFit/>
          </a:bodyPr>
          <a:lstStyle/>
          <a:p>
            <a:pPr>
              <a:spcAft>
                <a:spcPts val="400"/>
              </a:spcAft>
            </a:pPr>
            <a:r>
              <a:rPr sz="1200" b="1">
                <a:solidFill>
                  <a:srgbClr val="C48221"/>
                </a:solidFill>
                <a:latin typeface="Calibri"/>
              </a:rPr>
              <a:t>—  </a:t>
            </a:r>
            <a:r>
              <a:rPr sz="1200">
                <a:solidFill>
                  <a:srgbClr val="141821"/>
                </a:solidFill>
                <a:latin typeface="Calibri"/>
              </a:rPr>
              <a:t>Backed by @module-federation/runtime</a:t>
            </a:r>
          </a:p>
          <a:p>
            <a:pPr>
              <a:spcAft>
                <a:spcPts val="400"/>
              </a:spcAft>
            </a:pPr>
            <a:r>
              <a:rPr sz="1200" b="1">
                <a:solidFill>
                  <a:srgbClr val="C48221"/>
                </a:solidFill>
                <a:latin typeface="Calibri"/>
              </a:rPr>
              <a:t>—  </a:t>
            </a:r>
            <a:r>
              <a:rPr sz="1200">
                <a:solidFill>
                  <a:srgbClr val="141821"/>
                </a:solidFill>
                <a:latin typeface="Calibri"/>
              </a:rPr>
              <a:t>webpack — for teams already on it</a:t>
            </a:r>
          </a:p>
          <a:p>
            <a:pPr>
              <a:spcAft>
                <a:spcPts val="400"/>
              </a:spcAft>
            </a:pPr>
            <a:r>
              <a:rPr sz="1200" b="1">
                <a:solidFill>
                  <a:srgbClr val="C48221"/>
                </a:solidFill>
                <a:latin typeface="Calibri"/>
              </a:rPr>
              <a:t>—  </a:t>
            </a:r>
            <a:r>
              <a:rPr sz="1200">
                <a:solidFill>
                  <a:srgbClr val="141821"/>
                </a:solidFill>
                <a:latin typeface="Calibri"/>
              </a:rPr>
              <a:t>Same CapabilityModule format · same capabilities.json</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MCP integration — analyst workstation reach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@maverick/agentic-ui-mcp — the same ToolDefs power Claude Desktop, Cursor, Zed.</a:t>
            </a:r>
          </a:p>
        </p:txBody>
      </p:sp>
      <p:sp>
        <p:nvSpPr>
          <p:cNvPr id="6" name="Rounded Rectangle 5"/>
          <p:cNvSpPr/>
          <p:nvPr/>
        </p:nvSpPr>
        <p:spPr>
          <a:xfrm>
            <a:off x="640080" y="2286000"/>
            <a:ext cx="10911535" cy="31089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23160"/>
            <a:ext cx="10545775" cy="365760"/>
          </a:xfrm>
          <a:prstGeom prst="rect">
            <a:avLst/>
          </a:prstGeom>
          <a:noFill/>
        </p:spPr>
        <p:txBody>
          <a:bodyPr wrap="square" lIns="0" rIns="0" tIns="0" bIns="0" anchor="t">
            <a:spAutoFit/>
          </a:bodyPr>
          <a:lstStyle/>
          <a:p>
            <a:pPr algn="l"/>
            <a:r>
              <a:rPr sz="1400" b="1">
                <a:solidFill>
                  <a:srgbClr val="12243D"/>
                </a:solidFill>
                <a:latin typeface="Calibri"/>
              </a:rPr>
              <a:t>One handler, multiple surfaces</a:t>
            </a:r>
          </a:p>
        </p:txBody>
      </p:sp>
      <p:sp>
        <p:nvSpPr>
          <p:cNvPr id="8" name="TextBox 7"/>
          <p:cNvSpPr txBox="1"/>
          <p:nvPr/>
        </p:nvSpPr>
        <p:spPr>
          <a:xfrm>
            <a:off x="868680" y="2834640"/>
            <a:ext cx="10545775" cy="237744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agenticTool({ ... }) — same factory the chat shell uses</a:t>
            </a:r>
          </a:p>
          <a:p>
            <a:pPr>
              <a:spcAft>
                <a:spcPts val="600"/>
              </a:spcAft>
            </a:pPr>
            <a:r>
              <a:rPr sz="1200" b="1">
                <a:solidFill>
                  <a:srgbClr val="1E3A5F"/>
                </a:solidFill>
                <a:latin typeface="Calibri"/>
              </a:rPr>
              <a:t>•  </a:t>
            </a:r>
            <a:r>
              <a:rPr sz="1200">
                <a:solidFill>
                  <a:srgbClr val="141821"/>
                </a:solidFill>
                <a:latin typeface="Calibri"/>
              </a:rPr>
              <a:t>mcpToolBridge(tools) — exposes them as an MCP server with a Node binary</a:t>
            </a:r>
          </a:p>
          <a:p>
            <a:pPr>
              <a:spcAft>
                <a:spcPts val="600"/>
              </a:spcAft>
            </a:pPr>
            <a:r>
              <a:rPr sz="1200" b="1">
                <a:solidFill>
                  <a:srgbClr val="1E3A5F"/>
                </a:solidFill>
                <a:latin typeface="Calibri"/>
              </a:rPr>
              <a:t>•  </a:t>
            </a:r>
            <a:r>
              <a:rPr sz="1200">
                <a:solidFill>
                  <a:srgbClr val="141821"/>
                </a:solidFill>
                <a:latin typeface="Calibri"/>
              </a:rPr>
              <a:t>MCP UI: tool results carry html field → text/html;profile=mcp-app blocks</a:t>
            </a:r>
          </a:p>
          <a:p>
            <a:pPr>
              <a:spcAft>
                <a:spcPts val="600"/>
              </a:spcAft>
            </a:pPr>
            <a:r>
              <a:rPr sz="1200" b="1">
                <a:solidFill>
                  <a:srgbClr val="1E3A5F"/>
                </a:solidFill>
                <a:latin typeface="Calibri"/>
              </a:rPr>
              <a:t>•  </a:t>
            </a:r>
            <a:r>
              <a:rPr sz="1200">
                <a:solidFill>
                  <a:srgbClr val="141821"/>
                </a:solidFill>
                <a:latin typeface="Calibri"/>
              </a:rPr>
              <a:t>Per-user MCP server pattern — beforeCall stub auth → real OIDC swap-in</a:t>
            </a:r>
          </a:p>
          <a:p>
            <a:pPr>
              <a:spcAft>
                <a:spcPts val="600"/>
              </a:spcAft>
            </a:pPr>
            <a:r>
              <a:rPr sz="1200" b="1">
                <a:solidFill>
                  <a:srgbClr val="1E3A5F"/>
                </a:solidFill>
                <a:latin typeface="Calibri"/>
              </a:rPr>
              <a:t>•  </a:t>
            </a:r>
            <a:r>
              <a:rPr sz="1200">
                <a:solidFill>
                  <a:srgbClr val="141821"/>
                </a:solidFill>
                <a:latin typeface="Calibri"/>
              </a:rPr>
              <a:t>Cookbook: paralegal privilege review in Claude Desktop using the eDiscovery toolset</a:t>
            </a:r>
          </a:p>
        </p:txBody>
      </p:sp>
      <p:sp>
        <p:nvSpPr>
          <p:cNvPr id="9" name="TextBox 8"/>
          <p:cNvSpPr txBox="1"/>
          <p:nvPr/>
        </p:nvSpPr>
        <p:spPr>
          <a:xfrm>
            <a:off x="640080" y="5669280"/>
            <a:ext cx="10911535" cy="548640"/>
          </a:xfrm>
          <a:prstGeom prst="rect">
            <a:avLst/>
          </a:prstGeom>
          <a:noFill/>
        </p:spPr>
        <p:txBody>
          <a:bodyPr wrap="square" lIns="0" rIns="0" tIns="0" bIns="0" anchor="t">
            <a:spAutoFit/>
          </a:bodyPr>
          <a:lstStyle/>
          <a:p>
            <a:pPr algn="ctr"/>
            <a:r>
              <a:rPr sz="1200" b="1">
                <a:solidFill>
                  <a:srgbClr val="12243D"/>
                </a:solidFill>
                <a:latin typeface="Calibri"/>
              </a:rPr>
              <a:t>Result: agents that work in your web app AND in your analysts' IDE — same audit trail, same governance.</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Observability — OTel from M1</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400" b="0">
                <a:solidFill>
                  <a:srgbClr val="363D49"/>
                </a:solidFill>
                <a:latin typeface="Calibri"/>
              </a:rPr>
              <a:t>Distributed tracing for chat shell → backend → SSE route → agent → LLM → tool execution.</a:t>
            </a:r>
          </a:p>
        </p:txBody>
      </p:sp>
      <p:sp>
        <p:nvSpPr>
          <p:cNvPr id="7" name="Rounded Rectangle 6"/>
          <p:cNvSpPr/>
          <p:nvPr/>
        </p:nvSpPr>
        <p:spPr>
          <a:xfrm>
            <a:off x="640080" y="2286000"/>
            <a:ext cx="10911535" cy="338328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31720"/>
            <a:ext cx="3657600" cy="365760"/>
          </a:xfrm>
          <a:prstGeom prst="rect">
            <a:avLst/>
          </a:prstGeom>
          <a:noFill/>
        </p:spPr>
        <p:txBody>
          <a:bodyPr wrap="square" lIns="0" rIns="0" tIns="0" bIns="0" anchor="t">
            <a:spAutoFit/>
          </a:bodyPr>
          <a:lstStyle/>
          <a:p>
            <a:pPr algn="l"/>
            <a:r>
              <a:rPr sz="1100" b="1">
                <a:solidFill>
                  <a:srgbClr val="6B7380"/>
                </a:solidFill>
                <a:latin typeface="Calibri"/>
              </a:rPr>
              <a:t>Span</a:t>
            </a:r>
          </a:p>
        </p:txBody>
      </p:sp>
      <p:sp>
        <p:nvSpPr>
          <p:cNvPr id="10" name="TextBox 9"/>
          <p:cNvSpPr txBox="1"/>
          <p:nvPr/>
        </p:nvSpPr>
        <p:spPr>
          <a:xfrm>
            <a:off x="4572000" y="2331720"/>
            <a:ext cx="1828800" cy="365760"/>
          </a:xfrm>
          <a:prstGeom prst="rect">
            <a:avLst/>
          </a:prstGeom>
          <a:noFill/>
        </p:spPr>
        <p:txBody>
          <a:bodyPr wrap="square" lIns="0" rIns="0" tIns="0" bIns="0" anchor="t">
            <a:spAutoFit/>
          </a:bodyPr>
          <a:lstStyle/>
          <a:p>
            <a:pPr algn="l"/>
            <a:r>
              <a:rPr sz="1100" b="1">
                <a:solidFill>
                  <a:srgbClr val="6B7380"/>
                </a:solidFill>
                <a:latin typeface="Calibri"/>
              </a:rPr>
              <a:t>Kind</a:t>
            </a:r>
          </a:p>
        </p:txBody>
      </p:sp>
      <p:sp>
        <p:nvSpPr>
          <p:cNvPr id="11" name="TextBox 10"/>
          <p:cNvSpPr txBox="1"/>
          <p:nvPr/>
        </p:nvSpPr>
        <p:spPr>
          <a:xfrm>
            <a:off x="6858000" y="2331720"/>
            <a:ext cx="4572000" cy="365760"/>
          </a:xfrm>
          <a:prstGeom prst="rect">
            <a:avLst/>
          </a:prstGeom>
          <a:noFill/>
        </p:spPr>
        <p:txBody>
          <a:bodyPr wrap="square" lIns="0" rIns="0" tIns="0" bIns="0" anchor="t">
            <a:spAutoFit/>
          </a:bodyPr>
          <a:lstStyle/>
          <a:p>
            <a:pPr algn="l"/>
            <a:r>
              <a:rPr sz="1100" b="1">
                <a:solidFill>
                  <a:srgbClr val="6B7380"/>
                </a:solidFill>
                <a:latin typeface="Calibri"/>
              </a:rPr>
              <a:t>Key attributes</a:t>
            </a:r>
          </a:p>
        </p:txBody>
      </p:sp>
      <p:sp>
        <p:nvSpPr>
          <p:cNvPr id="12" name="TextBox 11"/>
          <p:cNvSpPr txBox="1"/>
          <p:nvPr/>
        </p:nvSpPr>
        <p:spPr>
          <a:xfrm>
            <a:off x="868680" y="2697480"/>
            <a:ext cx="3657600" cy="457200"/>
          </a:xfrm>
          <a:prstGeom prst="rect">
            <a:avLst/>
          </a:prstGeom>
          <a:noFill/>
        </p:spPr>
        <p:txBody>
          <a:bodyPr wrap="square" lIns="0" rIns="0" tIns="0" bIns="0" anchor="t">
            <a:spAutoFit/>
          </a:bodyPr>
          <a:lstStyle/>
          <a:p>
            <a:pPr algn="l"/>
            <a:r>
              <a:rPr sz="1200" b="1">
                <a:solidFill>
                  <a:srgbClr val="12243D"/>
                </a:solidFill>
                <a:latin typeface="Menlo"/>
              </a:rPr>
              <a:t>agentic.run</a:t>
            </a:r>
          </a:p>
        </p:txBody>
      </p:sp>
      <p:sp>
        <p:nvSpPr>
          <p:cNvPr id="13" name="TextBox 12"/>
          <p:cNvSpPr txBox="1"/>
          <p:nvPr/>
        </p:nvSpPr>
        <p:spPr>
          <a:xfrm>
            <a:off x="4572000" y="269748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14" name="TextBox 13"/>
          <p:cNvSpPr txBox="1"/>
          <p:nvPr/>
        </p:nvSpPr>
        <p:spPr>
          <a:xfrm>
            <a:off x="6858000" y="2697480"/>
            <a:ext cx="4572000" cy="457200"/>
          </a:xfrm>
          <a:prstGeom prst="rect">
            <a:avLst/>
          </a:prstGeom>
          <a:noFill/>
        </p:spPr>
        <p:txBody>
          <a:bodyPr wrap="square" lIns="0" rIns="0" tIns="0" bIns="0" anchor="t">
            <a:spAutoFit/>
          </a:bodyPr>
          <a:lstStyle/>
          <a:p>
            <a:pPr algn="l"/>
            <a:r>
              <a:rPr sz="1100" b="0">
                <a:solidFill>
                  <a:srgbClr val="363D49"/>
                </a:solidFill>
                <a:latin typeface="Menlo"/>
              </a:rPr>
              <a:t>thread_id, run_id, backend.id</a:t>
            </a:r>
          </a:p>
        </p:txBody>
      </p:sp>
      <p:sp>
        <p:nvSpPr>
          <p:cNvPr id="15" name="TextBox 14"/>
          <p:cNvSpPr txBox="1"/>
          <p:nvPr/>
        </p:nvSpPr>
        <p:spPr>
          <a:xfrm>
            <a:off x="868680" y="3200400"/>
            <a:ext cx="3657600" cy="457200"/>
          </a:xfrm>
          <a:prstGeom prst="rect">
            <a:avLst/>
          </a:prstGeom>
          <a:noFill/>
        </p:spPr>
        <p:txBody>
          <a:bodyPr wrap="square" lIns="0" rIns="0" tIns="0" bIns="0" anchor="t">
            <a:spAutoFit/>
          </a:bodyPr>
          <a:lstStyle/>
          <a:p>
            <a:pPr algn="l"/>
            <a:r>
              <a:rPr sz="1200" b="1">
                <a:solidFill>
                  <a:srgbClr val="12243D"/>
                </a:solidFill>
                <a:latin typeface="Menlo"/>
              </a:rPr>
              <a:t>agentic.backend.stream</a:t>
            </a:r>
          </a:p>
        </p:txBody>
      </p:sp>
      <p:sp>
        <p:nvSpPr>
          <p:cNvPr id="16" name="TextBox 15"/>
          <p:cNvSpPr txBox="1"/>
          <p:nvPr/>
        </p:nvSpPr>
        <p:spPr>
          <a:xfrm>
            <a:off x="4572000" y="3200400"/>
            <a:ext cx="1828800" cy="457200"/>
          </a:xfrm>
          <a:prstGeom prst="rect">
            <a:avLst/>
          </a:prstGeom>
          <a:noFill/>
        </p:spPr>
        <p:txBody>
          <a:bodyPr wrap="square" lIns="0" rIns="0" tIns="0" bIns="0" anchor="t">
            <a:spAutoFit/>
          </a:bodyPr>
          <a:lstStyle/>
          <a:p>
            <a:pPr algn="l"/>
            <a:r>
              <a:rPr sz="1100" b="0">
                <a:solidFill>
                  <a:srgbClr val="6B7380"/>
                </a:solidFill>
                <a:latin typeface="Calibri"/>
              </a:rPr>
              <a:t>CLIENT</a:t>
            </a:r>
          </a:p>
        </p:txBody>
      </p:sp>
      <p:sp>
        <p:nvSpPr>
          <p:cNvPr id="17" name="TextBox 16"/>
          <p:cNvSpPr txBox="1"/>
          <p:nvPr/>
        </p:nvSpPr>
        <p:spPr>
          <a:xfrm>
            <a:off x="6858000" y="3200400"/>
            <a:ext cx="4572000" cy="457200"/>
          </a:xfrm>
          <a:prstGeom prst="rect">
            <a:avLst/>
          </a:prstGeom>
          <a:noFill/>
        </p:spPr>
        <p:txBody>
          <a:bodyPr wrap="square" lIns="0" rIns="0" tIns="0" bIns="0" anchor="t">
            <a:spAutoFit/>
          </a:bodyPr>
          <a:lstStyle/>
          <a:p>
            <a:pPr algn="l"/>
            <a:r>
              <a:rPr sz="1100" b="0">
                <a:solidFill>
                  <a:srgbClr val="363D49"/>
                </a:solidFill>
                <a:latin typeface="Menlo"/>
              </a:rPr>
              <a:t>http.url, http.status_code, traceparent</a:t>
            </a:r>
          </a:p>
        </p:txBody>
      </p:sp>
      <p:sp>
        <p:nvSpPr>
          <p:cNvPr id="18" name="TextBox 17"/>
          <p:cNvSpPr txBox="1"/>
          <p:nvPr/>
        </p:nvSpPr>
        <p:spPr>
          <a:xfrm>
            <a:off x="868680" y="3703320"/>
            <a:ext cx="3657600" cy="457200"/>
          </a:xfrm>
          <a:prstGeom prst="rect">
            <a:avLst/>
          </a:prstGeom>
          <a:noFill/>
        </p:spPr>
        <p:txBody>
          <a:bodyPr wrap="square" lIns="0" rIns="0" tIns="0" bIns="0" anchor="t">
            <a:spAutoFit/>
          </a:bodyPr>
          <a:lstStyle/>
          <a:p>
            <a:pPr algn="l"/>
            <a:r>
              <a:rPr sz="1200" b="1">
                <a:solidFill>
                  <a:srgbClr val="12243D"/>
                </a:solidFill>
                <a:latin typeface="Menlo"/>
              </a:rPr>
              <a:t>agentic.tool_call</a:t>
            </a:r>
          </a:p>
        </p:txBody>
      </p:sp>
      <p:sp>
        <p:nvSpPr>
          <p:cNvPr id="19" name="TextBox 18"/>
          <p:cNvSpPr txBox="1"/>
          <p:nvPr/>
        </p:nvSpPr>
        <p:spPr>
          <a:xfrm>
            <a:off x="4572000" y="370332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0" name="TextBox 19"/>
          <p:cNvSpPr txBox="1"/>
          <p:nvPr/>
        </p:nvSpPr>
        <p:spPr>
          <a:xfrm>
            <a:off x="6858000" y="3703320"/>
            <a:ext cx="4572000" cy="457200"/>
          </a:xfrm>
          <a:prstGeom prst="rect">
            <a:avLst/>
          </a:prstGeom>
          <a:noFill/>
        </p:spPr>
        <p:txBody>
          <a:bodyPr wrap="square" lIns="0" rIns="0" tIns="0" bIns="0" anchor="t">
            <a:spAutoFit/>
          </a:bodyPr>
          <a:lstStyle/>
          <a:p>
            <a:pPr algn="l"/>
            <a:r>
              <a:rPr sz="1100" b="0">
                <a:solidFill>
                  <a:srgbClr val="363D49"/>
                </a:solidFill>
                <a:latin typeface="Menlo"/>
              </a:rPr>
              <a:t>tool.name, tool.source, success</a:t>
            </a:r>
          </a:p>
        </p:txBody>
      </p:sp>
      <p:sp>
        <p:nvSpPr>
          <p:cNvPr id="21" name="TextBox 20"/>
          <p:cNvSpPr txBox="1"/>
          <p:nvPr/>
        </p:nvSpPr>
        <p:spPr>
          <a:xfrm>
            <a:off x="868680" y="4206240"/>
            <a:ext cx="3657600" cy="457200"/>
          </a:xfrm>
          <a:prstGeom prst="rect">
            <a:avLst/>
          </a:prstGeom>
          <a:noFill/>
        </p:spPr>
        <p:txBody>
          <a:bodyPr wrap="square" lIns="0" rIns="0" tIns="0" bIns="0" anchor="t">
            <a:spAutoFit/>
          </a:bodyPr>
          <a:lstStyle/>
          <a:p>
            <a:pPr algn="l"/>
            <a:r>
              <a:rPr sz="1200" b="1">
                <a:solidFill>
                  <a:srgbClr val="12243D"/>
                </a:solidFill>
                <a:latin typeface="Menlo"/>
              </a:rPr>
              <a:t>agentic.federation.load</a:t>
            </a:r>
          </a:p>
        </p:txBody>
      </p:sp>
      <p:sp>
        <p:nvSpPr>
          <p:cNvPr id="22" name="TextBox 21"/>
          <p:cNvSpPr txBox="1"/>
          <p:nvPr/>
        </p:nvSpPr>
        <p:spPr>
          <a:xfrm>
            <a:off x="4572000" y="420624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3" name="TextBox 22"/>
          <p:cNvSpPr txBox="1"/>
          <p:nvPr/>
        </p:nvSpPr>
        <p:spPr>
          <a:xfrm>
            <a:off x="6858000" y="4206240"/>
            <a:ext cx="4572000" cy="457200"/>
          </a:xfrm>
          <a:prstGeom prst="rect">
            <a:avLst/>
          </a:prstGeom>
          <a:noFill/>
        </p:spPr>
        <p:txBody>
          <a:bodyPr wrap="square" lIns="0" rIns="0" tIns="0" bIns="0" anchor="t">
            <a:spAutoFit/>
          </a:bodyPr>
          <a:lstStyle/>
          <a:p>
            <a:pPr algn="l"/>
            <a:r>
              <a:rPr sz="1100" b="0">
                <a:solidFill>
                  <a:srgbClr val="363D49"/>
                </a:solidFill>
                <a:latin typeface="Menlo"/>
              </a:rPr>
              <a:t>remote_name, version, federation, load_ms</a:t>
            </a:r>
          </a:p>
        </p:txBody>
      </p:sp>
      <p:sp>
        <p:nvSpPr>
          <p:cNvPr id="24" name="TextBox 23"/>
          <p:cNvSpPr txBox="1"/>
          <p:nvPr/>
        </p:nvSpPr>
        <p:spPr>
          <a:xfrm>
            <a:off x="868680" y="4709160"/>
            <a:ext cx="3657600" cy="457200"/>
          </a:xfrm>
          <a:prstGeom prst="rect">
            <a:avLst/>
          </a:prstGeom>
          <a:noFill/>
        </p:spPr>
        <p:txBody>
          <a:bodyPr wrap="square" lIns="0" rIns="0" tIns="0" bIns="0" anchor="t">
            <a:spAutoFit/>
          </a:bodyPr>
          <a:lstStyle/>
          <a:p>
            <a:pPr algn="l"/>
            <a:r>
              <a:rPr sz="1200" b="1">
                <a:solidFill>
                  <a:srgbClr val="12243D"/>
                </a:solidFill>
                <a:latin typeface="Menlo"/>
              </a:rPr>
              <a:t>agentic.registry.register</a:t>
            </a:r>
          </a:p>
        </p:txBody>
      </p:sp>
      <p:sp>
        <p:nvSpPr>
          <p:cNvPr id="25" name="TextBox 24"/>
          <p:cNvSpPr txBox="1"/>
          <p:nvPr/>
        </p:nvSpPr>
        <p:spPr>
          <a:xfrm>
            <a:off x="4572000" y="470916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6" name="TextBox 25"/>
          <p:cNvSpPr txBox="1"/>
          <p:nvPr/>
        </p:nvSpPr>
        <p:spPr>
          <a:xfrm>
            <a:off x="6858000" y="4709160"/>
            <a:ext cx="4572000" cy="457200"/>
          </a:xfrm>
          <a:prstGeom prst="rect">
            <a:avLst/>
          </a:prstGeom>
          <a:noFill/>
        </p:spPr>
        <p:txBody>
          <a:bodyPr wrap="square" lIns="0" rIns="0" tIns="0" bIns="0" anchor="t">
            <a:spAutoFit/>
          </a:bodyPr>
          <a:lstStyle/>
          <a:p>
            <a:pPr algn="l"/>
            <a:r>
              <a:rPr sz="1100" b="0">
                <a:solidFill>
                  <a:srgbClr val="363D49"/>
                </a:solidFill>
                <a:latin typeface="Menlo"/>
              </a:rPr>
              <a:t>registry.name, source</a:t>
            </a:r>
          </a:p>
        </p:txBody>
      </p:sp>
      <p:sp>
        <p:nvSpPr>
          <p:cNvPr id="27" name="TextBox 26"/>
          <p:cNvSpPr txBox="1"/>
          <p:nvPr/>
        </p:nvSpPr>
        <p:spPr>
          <a:xfrm>
            <a:off x="640080" y="5852160"/>
            <a:ext cx="10911535" cy="457200"/>
          </a:xfrm>
          <a:prstGeom prst="rect">
            <a:avLst/>
          </a:prstGeom>
          <a:noFill/>
        </p:spPr>
        <p:txBody>
          <a:bodyPr wrap="square" lIns="0" rIns="0" tIns="0" bIns="0" anchor="t">
            <a:spAutoFit/>
          </a:bodyPr>
          <a:lstStyle/>
          <a:p>
            <a:pPr algn="ctr"/>
            <a:r>
              <a:rPr sz="1100" b="1">
                <a:solidFill>
                  <a:srgbClr val="6B7380"/>
                </a:solidFill>
                <a:latin typeface="Calibri"/>
              </a:rPr>
              <a:t>W3C traceparent propagated across the SSE boundary — one trace covers UI to LLM.</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Schematics — ng add → fully wired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365760"/>
          </a:xfrm>
          <a:prstGeom prst="rect">
            <a:avLst/>
          </a:prstGeom>
          <a:noFill/>
        </p:spPr>
        <p:txBody>
          <a:bodyPr wrap="square" lIns="0" rIns="0" tIns="0" bIns="0" anchor="t">
            <a:spAutoFit/>
          </a:bodyPr>
          <a:lstStyle/>
          <a:p>
            <a:pPr algn="l"/>
            <a:r>
              <a:rPr sz="1400" b="0">
                <a:solidFill>
                  <a:srgbClr val="363D49"/>
                </a:solidFill>
                <a:latin typeface="Calibri"/>
              </a:rPr>
              <a:t>@maverick/agentic-ui-schematics — six generators ship with the package.</a:t>
            </a:r>
          </a:p>
        </p:txBody>
      </p:sp>
      <p:sp>
        <p:nvSpPr>
          <p:cNvPr id="7" name="Rectangle 6"/>
          <p:cNvSpPr/>
          <p:nvPr/>
        </p:nvSpPr>
        <p:spPr>
          <a:xfrm>
            <a:off x="640080" y="2011680"/>
            <a:ext cx="10911535" cy="2286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10637215" cy="2103120"/>
          </a:xfrm>
          <a:prstGeom prst="rect">
            <a:avLst/>
          </a:prstGeom>
          <a:noFill/>
        </p:spPr>
        <p:txBody>
          <a:bodyPr wrap="square" lIns="0" rIns="0" tIns="0" bIns="0">
            <a:spAutoFit/>
          </a:bodyPr>
          <a:lstStyle/>
          <a:p>
            <a:pPr>
              <a:spcAft>
                <a:spcPts val="0"/>
              </a:spcAft>
            </a:pPr>
            <a:r>
              <a:rPr sz="1100">
                <a:solidFill>
                  <a:srgbClr val="E2E8F0"/>
                </a:solidFill>
                <a:latin typeface="Menlo"/>
              </a:rPr>
              <a:t>$ ng add @maverick/agentic-ui \</a:t>
            </a:r>
          </a:p>
          <a:p>
            <a:pPr>
              <a:spcAft>
                <a:spcPts val="0"/>
              </a:spcAft>
            </a:pPr>
            <a:r>
              <a:rPr sz="1100">
                <a:solidFill>
                  <a:srgbClr val="E2E8F0"/>
                </a:solidFill>
                <a:latin typeface="Menlo"/>
              </a:rPr>
              <a:t>    --backend=ag-ui \</a:t>
            </a:r>
          </a:p>
          <a:p>
            <a:pPr>
              <a:spcAft>
                <a:spcPts val="0"/>
              </a:spcAft>
            </a:pPr>
            <a:r>
              <a:rPr sz="1100">
                <a:solidFill>
                  <a:srgbClr val="E2E8F0"/>
                </a:solidFill>
                <a:latin typeface="Menlo"/>
              </a:rPr>
              <a:t>    --mfe=host --federation=native \</a:t>
            </a:r>
          </a:p>
          <a:p>
            <a:pPr>
              <a:spcAft>
                <a:spcPts val="0"/>
              </a:spcAft>
            </a:pPr>
            <a:r>
              <a:rPr sz="1100">
                <a:solidFill>
                  <a:srgbClr val="E2E8F0"/>
                </a:solidFill>
                <a:latin typeface="Menlo"/>
              </a:rPr>
              <a:t>    --registry=spring-boot \</a:t>
            </a:r>
          </a:p>
          <a:p>
            <a:pPr>
              <a:spcAft>
                <a:spcPts val="0"/>
              </a:spcAft>
            </a:pPr>
            <a:r>
              <a:rPr sz="1100">
                <a:solidFill>
                  <a:srgbClr val="E2E8F0"/>
                </a:solidFill>
                <a:latin typeface="Menlo"/>
              </a:rPr>
              <a:t>    --server=mastra \</a:t>
            </a:r>
          </a:p>
          <a:p>
            <a:pPr>
              <a:spcAft>
                <a:spcPts val="0"/>
              </a:spcAft>
            </a:pPr>
            <a:r>
              <a:rPr sz="1100">
                <a:solidFill>
                  <a:srgbClr val="E2E8F0"/>
                </a:solidFill>
                <a:latin typeface="Menlo"/>
              </a:rPr>
              <a:t>    --telemetry=otel</a:t>
            </a:r>
          </a:p>
          <a:p>
            <a:pPr>
              <a:spcAft>
                <a:spcPts val="0"/>
              </a:spcAft>
            </a:pPr>
            <a:r>
              <a:rPr sz="1100">
                <a:solidFill>
                  <a:srgbClr val="E2E8F0"/>
                </a:solidFill>
                <a:latin typeface="Menlo"/>
              </a:rPr>
              <a:t/>
            </a:r>
          </a:p>
          <a:p>
            <a:pPr>
              <a:spcAft>
                <a:spcPts val="0"/>
              </a:spcAft>
            </a:pPr>
            <a:r>
              <a:rPr sz="1100">
                <a:solidFill>
                  <a:srgbClr val="E2E8F0"/>
                </a:solidFill>
                <a:latin typeface="Menlo"/>
              </a:rPr>
              <a:t>Patches app.config.ts · seeds tools/widgets · scaffolds federation · </a:t>
            </a:r>
          </a:p>
          <a:p>
            <a:pPr>
              <a:spcAft>
                <a:spcPts val="0"/>
              </a:spcAft>
            </a:pPr>
            <a:r>
              <a:rPr sz="1100">
                <a:solidFill>
                  <a:srgbClr val="E2E8F0"/>
                </a:solidFill>
                <a:latin typeface="Menlo"/>
              </a:rPr>
              <a:t>wires Mastra agent server · adds OTel collector config</a:t>
            </a:r>
          </a:p>
        </p:txBody>
      </p:sp>
      <p:sp>
        <p:nvSpPr>
          <p:cNvPr id="9" name="TextBox 8"/>
          <p:cNvSpPr txBox="1"/>
          <p:nvPr/>
        </p:nvSpPr>
        <p:spPr>
          <a:xfrm>
            <a:off x="640080" y="4572000"/>
            <a:ext cx="10911535" cy="365760"/>
          </a:xfrm>
          <a:prstGeom prst="rect">
            <a:avLst/>
          </a:prstGeom>
          <a:noFill/>
        </p:spPr>
        <p:txBody>
          <a:bodyPr wrap="square" lIns="0" rIns="0" tIns="0" bIns="0" anchor="t">
            <a:spAutoFit/>
          </a:bodyPr>
          <a:lstStyle/>
          <a:p>
            <a:pPr algn="l"/>
            <a:r>
              <a:rPr sz="1400" b="1">
                <a:solidFill>
                  <a:srgbClr val="1E3A5F"/>
                </a:solidFill>
                <a:latin typeface="Calibri"/>
              </a:rPr>
              <a:t>Per-artefact generators</a:t>
            </a:r>
          </a:p>
        </p:txBody>
      </p:sp>
      <p:sp>
        <p:nvSpPr>
          <p:cNvPr id="10" name="TextBox 9"/>
          <p:cNvSpPr txBox="1"/>
          <p:nvPr/>
        </p:nvSpPr>
        <p:spPr>
          <a:xfrm>
            <a:off x="640080" y="5029200"/>
            <a:ext cx="10911535" cy="1554480"/>
          </a:xfrm>
          <a:prstGeom prst="rect">
            <a:avLst/>
          </a:prstGeom>
          <a:noFill/>
        </p:spPr>
        <p:txBody>
          <a:bodyPr wrap="square" lIns="0" rIns="0" tIns="0" bIns="0">
            <a:spAutoFit/>
          </a:bodyPr>
          <a:lstStyle/>
          <a:p>
            <a:pPr>
              <a:spcAft>
                <a:spcPts val="400"/>
              </a:spcAft>
            </a:pPr>
            <a:r>
              <a:rPr sz="1200" b="1">
                <a:solidFill>
                  <a:srgbClr val="1E3A5F"/>
                </a:solidFill>
                <a:latin typeface="Calibri"/>
              </a:rPr>
              <a:t>•  </a:t>
            </a:r>
            <a:r>
              <a:rPr sz="1200" b="1">
                <a:solidFill>
                  <a:srgbClr val="141821"/>
                </a:solidFill>
                <a:latin typeface="Calibri"/>
              </a:rPr>
              <a:t>ng g …:tool </a:t>
            </a:r>
            <a:r>
              <a:rPr sz="1200">
                <a:solidFill>
                  <a:srgbClr val="141821"/>
                </a:solidFill>
                <a:latin typeface="Calibri"/>
              </a:rPr>
              <a:t>*.tool.ts with Zod schema scaffold; auto-registers</a:t>
            </a:r>
          </a:p>
          <a:p>
            <a:pPr>
              <a:spcAft>
                <a:spcPts val="400"/>
              </a:spcAft>
            </a:pPr>
            <a:r>
              <a:rPr sz="1200" b="1">
                <a:solidFill>
                  <a:srgbClr val="1E3A5F"/>
                </a:solidFill>
                <a:latin typeface="Calibri"/>
              </a:rPr>
              <a:t>•  </a:t>
            </a:r>
            <a:r>
              <a:rPr sz="1200" b="1">
                <a:solidFill>
                  <a:srgbClr val="141821"/>
                </a:solidFill>
                <a:latin typeface="Calibri"/>
              </a:rPr>
              <a:t>ng g …:widget </a:t>
            </a:r>
            <a:r>
              <a:rPr sz="1200">
                <a:solidFill>
                  <a:srgbClr val="141821"/>
                </a:solidFill>
                <a:latin typeface="Calibri"/>
              </a:rPr>
              <a:t>Standalone component + Zod props schema</a:t>
            </a:r>
          </a:p>
          <a:p>
            <a:pPr>
              <a:spcAft>
                <a:spcPts val="400"/>
              </a:spcAft>
            </a:pPr>
            <a:r>
              <a:rPr sz="1200" b="1">
                <a:solidFill>
                  <a:srgbClr val="1E3A5F"/>
                </a:solidFill>
                <a:latin typeface="Calibri"/>
              </a:rPr>
              <a:t>•  </a:t>
            </a:r>
            <a:r>
              <a:rPr sz="1200" b="1">
                <a:solidFill>
                  <a:srgbClr val="141821"/>
                </a:solidFill>
                <a:latin typeface="Calibri"/>
              </a:rPr>
              <a:t>ng g …:backend </a:t>
            </a:r>
            <a:r>
              <a:rPr sz="1200">
                <a:solidFill>
                  <a:srgbClr val="141821"/>
                </a:solidFill>
                <a:latin typeface="Calibri"/>
              </a:rPr>
              <a:t>Custom AgenticBackend with FakeAgenticBackend test</a:t>
            </a:r>
          </a:p>
          <a:p>
            <a:pPr>
              <a:spcAft>
                <a:spcPts val="400"/>
              </a:spcAft>
            </a:pPr>
            <a:r>
              <a:rPr sz="1200" b="1">
                <a:solidFill>
                  <a:srgbClr val="1E3A5F"/>
                </a:solidFill>
                <a:latin typeface="Calibri"/>
              </a:rPr>
              <a:t>•  </a:t>
            </a:r>
            <a:r>
              <a:rPr sz="1200" b="1">
                <a:solidFill>
                  <a:srgbClr val="141821"/>
                </a:solidFill>
                <a:latin typeface="Calibri"/>
              </a:rPr>
              <a:t>ng g …:mfe-capability </a:t>
            </a:r>
            <a:r>
              <a:rPr sz="1200">
                <a:solidFill>
                  <a:srgbClr val="141821"/>
                </a:solidFill>
                <a:latin typeface="Calibri"/>
              </a:rPr>
              <a:t>Federation expose + capabilities.json manifest</a:t>
            </a:r>
          </a:p>
          <a:p>
            <a:pPr>
              <a:spcAft>
                <a:spcPts val="400"/>
              </a:spcAft>
            </a:pPr>
            <a:r>
              <a:rPr sz="1200" b="1">
                <a:solidFill>
                  <a:srgbClr val="1E3A5F"/>
                </a:solidFill>
                <a:latin typeface="Calibri"/>
              </a:rPr>
              <a:t>•  </a:t>
            </a:r>
            <a:r>
              <a:rPr sz="1200" b="1">
                <a:solidFill>
                  <a:srgbClr val="141821"/>
                </a:solidFill>
                <a:latin typeface="Calibri"/>
              </a:rPr>
              <a:t>ng g …:agent-server </a:t>
            </a:r>
            <a:r>
              <a:rPr sz="1200">
                <a:solidFill>
                  <a:srgbClr val="141821"/>
                </a:solidFill>
                <a:latin typeface="Calibri"/>
              </a:rPr>
              <a:t>Mastra agent + AG-UI SSE route + memory store</a:t>
            </a:r>
          </a:p>
          <a:p>
            <a:pPr>
              <a:spcAft>
                <a:spcPts val="400"/>
              </a:spcAft>
            </a:pPr>
            <a:r>
              <a:rPr sz="1200" b="1">
                <a:solidFill>
                  <a:srgbClr val="1E3A5F"/>
                </a:solidFill>
                <a:latin typeface="Calibri"/>
              </a:rPr>
              <a:t>•  </a:t>
            </a:r>
            <a:r>
              <a:rPr sz="1200" b="1">
                <a:solidFill>
                  <a:srgbClr val="141821"/>
                </a:solidFill>
                <a:latin typeface="Calibri"/>
              </a:rPr>
              <a:t>ng g …:chat-shell </a:t>
            </a:r>
            <a:r>
              <a:rPr sz="1200">
                <a:solidFill>
                  <a:srgbClr val="141821"/>
                </a:solidFill>
                <a:latin typeface="Calibri"/>
              </a:rPr>
              <a:t>Routed component using &lt;mvk-chat-shell&gt;</a:t>
            </a:r>
          </a:p>
        </p:txBody>
      </p:sp>
      <p:sp>
        <p:nvSpPr>
          <p:cNvPr id="11" name="Rectangle 1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3" name="TextBox 1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4" name="TextBox 1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Ten use cases ·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11480"/>
          </a:xfrm>
          <a:prstGeom prst="rect">
            <a:avLst/>
          </a:prstGeom>
          <a:noFill/>
        </p:spPr>
        <p:txBody>
          <a:bodyPr wrap="square" lIns="0" rIns="0" tIns="0" bIns="0" anchor="t">
            <a:spAutoFit/>
          </a:bodyPr>
          <a:lstStyle/>
          <a:p>
            <a:pPr algn="l"/>
            <a:r>
              <a:rPr sz="1200" b="0">
                <a:solidFill>
                  <a:srgbClr val="363D49"/>
                </a:solidFill>
                <a:latin typeface="Calibri"/>
              </a:rPr>
              <a:t>Each row maps a real user-facing scenario to the library seam that handles it. Pick a row, jump to the slide; the User Guide has the full code walkthrough.</a:t>
            </a:r>
          </a:p>
        </p:txBody>
      </p:sp>
      <p:sp>
        <p:nvSpPr>
          <p:cNvPr id="7" name="Rounded Rectangle 6"/>
          <p:cNvSpPr/>
          <p:nvPr/>
        </p:nvSpPr>
        <p:spPr>
          <a:xfrm>
            <a:off x="640080" y="2057400"/>
            <a:ext cx="10911535" cy="4434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0552"/>
            <a:ext cx="3200400" cy="274320"/>
          </a:xfrm>
          <a:prstGeom prst="rect">
            <a:avLst/>
          </a:prstGeom>
          <a:noFill/>
        </p:spPr>
        <p:txBody>
          <a:bodyPr wrap="square" lIns="0" rIns="0" tIns="0" bIns="0" anchor="t">
            <a:spAutoFit/>
          </a:bodyPr>
          <a:lstStyle/>
          <a:p>
            <a:pPr algn="l"/>
            <a:r>
              <a:rPr sz="1000" b="1">
                <a:solidFill>
                  <a:srgbClr val="6B7380"/>
                </a:solidFill>
                <a:latin typeface="Calibri"/>
              </a:rPr>
              <a:t>USE CASE</a:t>
            </a:r>
          </a:p>
        </p:txBody>
      </p:sp>
      <p:sp>
        <p:nvSpPr>
          <p:cNvPr id="10" name="TextBox 9"/>
          <p:cNvSpPr txBox="1"/>
          <p:nvPr/>
        </p:nvSpPr>
        <p:spPr>
          <a:xfrm>
            <a:off x="4206240" y="2130552"/>
            <a:ext cx="3657600" cy="274320"/>
          </a:xfrm>
          <a:prstGeom prst="rect">
            <a:avLst/>
          </a:prstGeom>
          <a:noFill/>
        </p:spPr>
        <p:txBody>
          <a:bodyPr wrap="square" lIns="0" rIns="0" tIns="0" bIns="0" anchor="t">
            <a:spAutoFit/>
          </a:bodyPr>
          <a:lstStyle/>
          <a:p>
            <a:pPr algn="l"/>
            <a:r>
              <a:rPr sz="1000" b="1">
                <a:solidFill>
                  <a:srgbClr val="6B7380"/>
                </a:solidFill>
                <a:latin typeface="Calibri"/>
              </a:rPr>
              <a:t>LIBRARY SEAM</a:t>
            </a:r>
          </a:p>
        </p:txBody>
      </p:sp>
      <p:sp>
        <p:nvSpPr>
          <p:cNvPr id="11" name="TextBox 10"/>
          <p:cNvSpPr txBox="1"/>
          <p:nvPr/>
        </p:nvSpPr>
        <p:spPr>
          <a:xfrm>
            <a:off x="7955279" y="2130552"/>
            <a:ext cx="2468880" cy="274320"/>
          </a:xfrm>
          <a:prstGeom prst="rect">
            <a:avLst/>
          </a:prstGeom>
          <a:noFill/>
        </p:spPr>
        <p:txBody>
          <a:bodyPr wrap="square" lIns="0" rIns="0" tIns="0" bIns="0" anchor="t">
            <a:spAutoFit/>
          </a:bodyPr>
          <a:lstStyle/>
          <a:p>
            <a:pPr algn="l"/>
            <a:r>
              <a:rPr sz="1000" b="1">
                <a:solidFill>
                  <a:srgbClr val="6B7380"/>
                </a:solidFill>
                <a:latin typeface="Calibri"/>
              </a:rPr>
              <a:t>AUDIENCE</a:t>
            </a:r>
          </a:p>
        </p:txBody>
      </p:sp>
      <p:sp>
        <p:nvSpPr>
          <p:cNvPr id="12" name="TextBox 11"/>
          <p:cNvSpPr txBox="1"/>
          <p:nvPr/>
        </p:nvSpPr>
        <p:spPr>
          <a:xfrm>
            <a:off x="10607040" y="2130552"/>
            <a:ext cx="1097280" cy="274320"/>
          </a:xfrm>
          <a:prstGeom prst="rect">
            <a:avLst/>
          </a:prstGeom>
          <a:noFill/>
        </p:spPr>
        <p:txBody>
          <a:bodyPr wrap="square" lIns="0" rIns="0" tIns="0" bIns="0" anchor="t">
            <a:spAutoFit/>
          </a:bodyPr>
          <a:lstStyle/>
          <a:p>
            <a:pPr algn="l"/>
            <a:r>
              <a:rPr sz="1000" b="1">
                <a:solidFill>
                  <a:srgbClr val="6B7380"/>
                </a:solidFill>
                <a:latin typeface="Calibri"/>
              </a:rPr>
              <a:t>SECTION</a:t>
            </a:r>
          </a:p>
        </p:txBody>
      </p:sp>
      <p:sp>
        <p:nvSpPr>
          <p:cNvPr id="13" name="TextBox 12"/>
          <p:cNvSpPr txBox="1"/>
          <p:nvPr/>
        </p:nvSpPr>
        <p:spPr>
          <a:xfrm>
            <a:off x="777240" y="2578608"/>
            <a:ext cx="3383280" cy="292608"/>
          </a:xfrm>
          <a:prstGeom prst="rect">
            <a:avLst/>
          </a:prstGeom>
          <a:noFill/>
        </p:spPr>
        <p:txBody>
          <a:bodyPr wrap="square" lIns="0" rIns="0" tIns="0" bIns="0" anchor="t">
            <a:spAutoFit/>
          </a:bodyPr>
          <a:lstStyle/>
          <a:p>
            <a:pPr algn="l"/>
            <a:r>
              <a:rPr sz="1100" b="0">
                <a:solidFill>
                  <a:srgbClr val="141821"/>
                </a:solidFill>
                <a:latin typeface="Calibri"/>
              </a:rPr>
              <a:t>1. Generative UI — agent picks the component</a:t>
            </a:r>
          </a:p>
        </p:txBody>
      </p:sp>
      <p:sp>
        <p:nvSpPr>
          <p:cNvPr id="14" name="TextBox 13"/>
          <p:cNvSpPr txBox="1"/>
          <p:nvPr/>
        </p:nvSpPr>
        <p:spPr>
          <a:xfrm>
            <a:off x="4206240" y="2578608"/>
            <a:ext cx="3657600" cy="292608"/>
          </a:xfrm>
          <a:prstGeom prst="rect">
            <a:avLst/>
          </a:prstGeom>
          <a:noFill/>
        </p:spPr>
        <p:txBody>
          <a:bodyPr wrap="square" lIns="0" rIns="0" tIns="0" bIns="0" anchor="t">
            <a:spAutoFit/>
          </a:bodyPr>
          <a:lstStyle/>
          <a:p>
            <a:pPr algn="l"/>
            <a:r>
              <a:rPr sz="1000" b="0">
                <a:solidFill>
                  <a:srgbClr val="12243D"/>
                </a:solidFill>
                <a:latin typeface="Calibri"/>
              </a:rPr>
              <a:t>ComponentRegistry · widget-container</a:t>
            </a:r>
          </a:p>
        </p:txBody>
      </p:sp>
      <p:sp>
        <p:nvSpPr>
          <p:cNvPr id="15" name="Rounded Rectangle 14"/>
          <p:cNvSpPr/>
          <p:nvPr/>
        </p:nvSpPr>
        <p:spPr>
          <a:xfrm>
            <a:off x="7955279" y="2578608"/>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578608"/>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17" name="TextBox 16"/>
          <p:cNvSpPr txBox="1"/>
          <p:nvPr/>
        </p:nvSpPr>
        <p:spPr>
          <a:xfrm>
            <a:off x="10652760" y="257860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18" name="Rectangle 17"/>
          <p:cNvSpPr/>
          <p:nvPr/>
        </p:nvSpPr>
        <p:spPr>
          <a:xfrm>
            <a:off x="644652" y="2898648"/>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62656"/>
            <a:ext cx="3383280" cy="292608"/>
          </a:xfrm>
          <a:prstGeom prst="rect">
            <a:avLst/>
          </a:prstGeom>
          <a:noFill/>
        </p:spPr>
        <p:txBody>
          <a:bodyPr wrap="square" lIns="0" rIns="0" tIns="0" bIns="0" anchor="t">
            <a:spAutoFit/>
          </a:bodyPr>
          <a:lstStyle/>
          <a:p>
            <a:pPr algn="l"/>
            <a:r>
              <a:rPr sz="1100" b="0">
                <a:solidFill>
                  <a:srgbClr val="141821"/>
                </a:solidFill>
                <a:latin typeface="Calibri"/>
              </a:rPr>
              <a:t>2. Tool calling with state mutation</a:t>
            </a:r>
          </a:p>
        </p:txBody>
      </p:sp>
      <p:sp>
        <p:nvSpPr>
          <p:cNvPr id="20" name="TextBox 19"/>
          <p:cNvSpPr txBox="1"/>
          <p:nvPr/>
        </p:nvSpPr>
        <p:spPr>
          <a:xfrm>
            <a:off x="4206240" y="2962656"/>
            <a:ext cx="3657600" cy="292608"/>
          </a:xfrm>
          <a:prstGeom prst="rect">
            <a:avLst/>
          </a:prstGeom>
          <a:noFill/>
        </p:spPr>
        <p:txBody>
          <a:bodyPr wrap="square" lIns="0" rIns="0" tIns="0" bIns="0" anchor="t">
            <a:spAutoFit/>
          </a:bodyPr>
          <a:lstStyle/>
          <a:p>
            <a:pPr algn="l"/>
            <a:r>
              <a:rPr sz="1000" b="0">
                <a:solidFill>
                  <a:srgbClr val="12243D"/>
                </a:solidFill>
                <a:latin typeface="Calibri"/>
              </a:rPr>
              <a:t>ToolRegistry · tool-call-* events</a:t>
            </a:r>
          </a:p>
        </p:txBody>
      </p:sp>
      <p:sp>
        <p:nvSpPr>
          <p:cNvPr id="21" name="Rounded Rectangle 20"/>
          <p:cNvSpPr/>
          <p:nvPr/>
        </p:nvSpPr>
        <p:spPr>
          <a:xfrm>
            <a:off x="7955279" y="296265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296265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23" name="TextBox 22"/>
          <p:cNvSpPr txBox="1"/>
          <p:nvPr/>
        </p:nvSpPr>
        <p:spPr>
          <a:xfrm>
            <a:off x="10652760" y="296265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4" name="TextBox 23"/>
          <p:cNvSpPr txBox="1"/>
          <p:nvPr/>
        </p:nvSpPr>
        <p:spPr>
          <a:xfrm>
            <a:off x="777240" y="3346704"/>
            <a:ext cx="3383280" cy="292608"/>
          </a:xfrm>
          <a:prstGeom prst="rect">
            <a:avLst/>
          </a:prstGeom>
          <a:noFill/>
        </p:spPr>
        <p:txBody>
          <a:bodyPr wrap="square" lIns="0" rIns="0" tIns="0" bIns="0" anchor="t">
            <a:spAutoFit/>
          </a:bodyPr>
          <a:lstStyle/>
          <a:p>
            <a:pPr algn="l"/>
            <a:r>
              <a:rPr sz="1100" b="0">
                <a:solidFill>
                  <a:srgbClr val="141821"/>
                </a:solidFill>
                <a:latin typeface="Calibri"/>
              </a:rPr>
              <a:t>3. Federating MFE remotes</a:t>
            </a:r>
          </a:p>
        </p:txBody>
      </p:sp>
      <p:sp>
        <p:nvSpPr>
          <p:cNvPr id="25" name="TextBox 24"/>
          <p:cNvSpPr txBox="1"/>
          <p:nvPr/>
        </p:nvSpPr>
        <p:spPr>
          <a:xfrm>
            <a:off x="4206240" y="3346704"/>
            <a:ext cx="3657600" cy="292608"/>
          </a:xfrm>
          <a:prstGeom prst="rect">
            <a:avLst/>
          </a:prstGeom>
          <a:noFill/>
        </p:spPr>
        <p:txBody>
          <a:bodyPr wrap="square" lIns="0" rIns="0" tIns="0" bIns="0" anchor="t">
            <a:spAutoFit/>
          </a:bodyPr>
          <a:lstStyle/>
          <a:p>
            <a:pPr algn="l"/>
            <a:r>
              <a:rPr sz="1000" b="0">
                <a:solidFill>
                  <a:srgbClr val="12243D"/>
                </a:solidFill>
                <a:latin typeface="Calibri"/>
              </a:rPr>
              <a:t>defineCapabilityModule · loadRemoteCapabilities</a:t>
            </a:r>
          </a:p>
        </p:txBody>
      </p:sp>
      <p:sp>
        <p:nvSpPr>
          <p:cNvPr id="26" name="Rounded Rectangle 25"/>
          <p:cNvSpPr/>
          <p:nvPr/>
        </p:nvSpPr>
        <p:spPr>
          <a:xfrm>
            <a:off x="7955279" y="3346704"/>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3346704"/>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28" name="TextBox 27"/>
          <p:cNvSpPr txBox="1"/>
          <p:nvPr/>
        </p:nvSpPr>
        <p:spPr>
          <a:xfrm>
            <a:off x="10652760" y="334670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9" name="Rectangle 28"/>
          <p:cNvSpPr/>
          <p:nvPr/>
        </p:nvSpPr>
        <p:spPr>
          <a:xfrm>
            <a:off x="644652" y="3666744"/>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30752"/>
            <a:ext cx="3383280" cy="292608"/>
          </a:xfrm>
          <a:prstGeom prst="rect">
            <a:avLst/>
          </a:prstGeom>
          <a:noFill/>
        </p:spPr>
        <p:txBody>
          <a:bodyPr wrap="square" lIns="0" rIns="0" tIns="0" bIns="0" anchor="t">
            <a:spAutoFit/>
          </a:bodyPr>
          <a:lstStyle/>
          <a:p>
            <a:pPr algn="l"/>
            <a:r>
              <a:rPr sz="1100" b="0">
                <a:solidFill>
                  <a:srgbClr val="141821"/>
                </a:solidFill>
                <a:latin typeface="Calibri"/>
              </a:rPr>
              <a:t>4. Per-persona entitlement</a:t>
            </a:r>
          </a:p>
        </p:txBody>
      </p:sp>
      <p:sp>
        <p:nvSpPr>
          <p:cNvPr id="31" name="TextBox 30"/>
          <p:cNvSpPr txBox="1"/>
          <p:nvPr/>
        </p:nvSpPr>
        <p:spPr>
          <a:xfrm>
            <a:off x="4206240" y="3730752"/>
            <a:ext cx="3657600" cy="292608"/>
          </a:xfrm>
          <a:prstGeom prst="rect">
            <a:avLst/>
          </a:prstGeom>
          <a:noFill/>
        </p:spPr>
        <p:txBody>
          <a:bodyPr wrap="square" lIns="0" rIns="0" tIns="0" bIns="0" anchor="t">
            <a:spAutoFit/>
          </a:bodyPr>
          <a:lstStyle/>
          <a:p>
            <a:pPr algn="l"/>
            <a:r>
              <a:rPr sz="1000" b="0">
                <a:solidFill>
                  <a:srgbClr val="12243D"/>
                </a:solidFill>
                <a:latin typeface="Calibri"/>
              </a:rPr>
              <a:t>RegistryBase.setScopePolicy</a:t>
            </a:r>
          </a:p>
        </p:txBody>
      </p:sp>
      <p:sp>
        <p:nvSpPr>
          <p:cNvPr id="32" name="Rounded Rectangle 31"/>
          <p:cNvSpPr/>
          <p:nvPr/>
        </p:nvSpPr>
        <p:spPr>
          <a:xfrm>
            <a:off x="7955279" y="373075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730752"/>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34" name="TextBox 33"/>
          <p:cNvSpPr txBox="1"/>
          <p:nvPr/>
        </p:nvSpPr>
        <p:spPr>
          <a:xfrm>
            <a:off x="10652760" y="373075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35" name="TextBox 34"/>
          <p:cNvSpPr txBox="1"/>
          <p:nvPr/>
        </p:nvSpPr>
        <p:spPr>
          <a:xfrm>
            <a:off x="777240" y="4114800"/>
            <a:ext cx="3383280" cy="292608"/>
          </a:xfrm>
          <a:prstGeom prst="rect">
            <a:avLst/>
          </a:prstGeom>
          <a:noFill/>
        </p:spPr>
        <p:txBody>
          <a:bodyPr wrap="square" lIns="0" rIns="0" tIns="0" bIns="0" anchor="t">
            <a:spAutoFit/>
          </a:bodyPr>
          <a:lstStyle/>
          <a:p>
            <a:pPr algn="l"/>
            <a:r>
              <a:rPr sz="1100" b="0">
                <a:solidFill>
                  <a:srgbClr val="141821"/>
                </a:solidFill>
                <a:latin typeface="Calibri"/>
              </a:rPr>
              <a:t>5. Backend swap (AG-UI ↔ Hashbrown ↔ A2UI)</a:t>
            </a:r>
          </a:p>
        </p:txBody>
      </p:sp>
      <p:sp>
        <p:nvSpPr>
          <p:cNvPr id="36" name="TextBox 35"/>
          <p:cNvSpPr txBox="1"/>
          <p:nvPr/>
        </p:nvSpPr>
        <p:spPr>
          <a:xfrm>
            <a:off x="4206240" y="4114800"/>
            <a:ext cx="3657600" cy="292608"/>
          </a:xfrm>
          <a:prstGeom prst="rect">
            <a:avLst/>
          </a:prstGeom>
          <a:noFill/>
        </p:spPr>
        <p:txBody>
          <a:bodyPr wrap="square" lIns="0" rIns="0" tIns="0" bIns="0" anchor="t">
            <a:spAutoFit/>
          </a:bodyPr>
          <a:lstStyle/>
          <a:p>
            <a:pPr algn="l"/>
            <a:r>
              <a:rPr sz="1000" b="0">
                <a:solidFill>
                  <a:srgbClr val="12243D"/>
                </a:solidFill>
                <a:latin typeface="Calibri"/>
              </a:rPr>
              <a:t>AgenticBackend interface</a:t>
            </a:r>
          </a:p>
        </p:txBody>
      </p:sp>
      <p:sp>
        <p:nvSpPr>
          <p:cNvPr id="37" name="Rounded Rectangle 36"/>
          <p:cNvSpPr/>
          <p:nvPr/>
        </p:nvSpPr>
        <p:spPr>
          <a:xfrm>
            <a:off x="7955279" y="41148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79" y="41148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39" name="TextBox 38"/>
          <p:cNvSpPr txBox="1"/>
          <p:nvPr/>
        </p:nvSpPr>
        <p:spPr>
          <a:xfrm>
            <a:off x="10652760" y="411480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0" name="Rectangle 39"/>
          <p:cNvSpPr/>
          <p:nvPr/>
        </p:nvSpPr>
        <p:spPr>
          <a:xfrm>
            <a:off x="644652" y="4434840"/>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498848"/>
            <a:ext cx="3383280" cy="292608"/>
          </a:xfrm>
          <a:prstGeom prst="rect">
            <a:avLst/>
          </a:prstGeom>
          <a:noFill/>
        </p:spPr>
        <p:txBody>
          <a:bodyPr wrap="square" lIns="0" rIns="0" tIns="0" bIns="0" anchor="t">
            <a:spAutoFit/>
          </a:bodyPr>
          <a:lstStyle/>
          <a:p>
            <a:pPr algn="l"/>
            <a:r>
              <a:rPr sz="1100" b="0">
                <a:solidFill>
                  <a:srgbClr val="141821"/>
                </a:solidFill>
                <a:latin typeface="Calibri"/>
              </a:rPr>
              <a:t>6. Multi-agent orchestration · sticky routing</a:t>
            </a:r>
          </a:p>
        </p:txBody>
      </p:sp>
      <p:sp>
        <p:nvSpPr>
          <p:cNvPr id="42" name="TextBox 41"/>
          <p:cNvSpPr txBox="1"/>
          <p:nvPr/>
        </p:nvSpPr>
        <p:spPr>
          <a:xfrm>
            <a:off x="4206240" y="4498848"/>
            <a:ext cx="3657600" cy="292608"/>
          </a:xfrm>
          <a:prstGeom prst="rect">
            <a:avLst/>
          </a:prstGeom>
          <a:noFill/>
        </p:spPr>
        <p:txBody>
          <a:bodyPr wrap="square" lIns="0" rIns="0" tIns="0" bIns="0" anchor="t">
            <a:spAutoFit/>
          </a:bodyPr>
          <a:lstStyle/>
          <a:p>
            <a:pPr algn="l"/>
            <a:r>
              <a:rPr sz="1000" b="0">
                <a:solidFill>
                  <a:srgbClr val="12243D"/>
                </a:solidFill>
                <a:latin typeface="Calibri"/>
              </a:rPr>
              <a:t>OrchestratorAgent · ThreadStateStore</a:t>
            </a:r>
          </a:p>
        </p:txBody>
      </p:sp>
      <p:sp>
        <p:nvSpPr>
          <p:cNvPr id="43" name="Rounded Rectangle 42"/>
          <p:cNvSpPr/>
          <p:nvPr/>
        </p:nvSpPr>
        <p:spPr>
          <a:xfrm>
            <a:off x="7955279" y="449884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4498848"/>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45" name="TextBox 44"/>
          <p:cNvSpPr txBox="1"/>
          <p:nvPr/>
        </p:nvSpPr>
        <p:spPr>
          <a:xfrm>
            <a:off x="10652760" y="449884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6" name="TextBox 45"/>
          <p:cNvSpPr txBox="1"/>
          <p:nvPr/>
        </p:nvSpPr>
        <p:spPr>
          <a:xfrm>
            <a:off x="777240" y="4882896"/>
            <a:ext cx="3383280" cy="292608"/>
          </a:xfrm>
          <a:prstGeom prst="rect">
            <a:avLst/>
          </a:prstGeom>
          <a:noFill/>
        </p:spPr>
        <p:txBody>
          <a:bodyPr wrap="square" lIns="0" rIns="0" tIns="0" bIns="0" anchor="t">
            <a:spAutoFit/>
          </a:bodyPr>
          <a:lstStyle/>
          <a:p>
            <a:pPr algn="l"/>
            <a:r>
              <a:rPr sz="1100" b="0">
                <a:solidFill>
                  <a:srgbClr val="141821"/>
                </a:solidFill>
                <a:latin typeface="Calibri"/>
              </a:rPr>
              <a:t>7. Per-turn tool budget at scale</a:t>
            </a:r>
          </a:p>
        </p:txBody>
      </p:sp>
      <p:sp>
        <p:nvSpPr>
          <p:cNvPr id="47" name="TextBox 46"/>
          <p:cNvSpPr txBox="1"/>
          <p:nvPr/>
        </p:nvSpPr>
        <p:spPr>
          <a:xfrm>
            <a:off x="4206240" y="4882896"/>
            <a:ext cx="3657600" cy="292608"/>
          </a:xfrm>
          <a:prstGeom prst="rect">
            <a:avLst/>
          </a:prstGeom>
          <a:noFill/>
        </p:spPr>
        <p:txBody>
          <a:bodyPr wrap="square" lIns="0" rIns="0" tIns="0" bIns="0" anchor="t">
            <a:spAutoFit/>
          </a:bodyPr>
          <a:lstStyle/>
          <a:p>
            <a:pPr algn="l"/>
            <a:r>
              <a:rPr sz="1000" b="0">
                <a:solidFill>
                  <a:srgbClr val="12243D"/>
                </a:solidFill>
                <a:latin typeface="Calibri"/>
              </a:rPr>
              <a:t>provideToolFilter · keywordToolFilter</a:t>
            </a:r>
          </a:p>
        </p:txBody>
      </p:sp>
      <p:sp>
        <p:nvSpPr>
          <p:cNvPr id="48" name="Rounded Rectangle 47"/>
          <p:cNvSpPr/>
          <p:nvPr/>
        </p:nvSpPr>
        <p:spPr>
          <a:xfrm>
            <a:off x="7955279" y="488289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488289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50" name="TextBox 49"/>
          <p:cNvSpPr txBox="1"/>
          <p:nvPr/>
        </p:nvSpPr>
        <p:spPr>
          <a:xfrm>
            <a:off x="10652760" y="488289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1" name="Rectangle 50"/>
          <p:cNvSpPr/>
          <p:nvPr/>
        </p:nvSpPr>
        <p:spPr>
          <a:xfrm>
            <a:off x="644652" y="5202936"/>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266944"/>
            <a:ext cx="3383280" cy="292608"/>
          </a:xfrm>
          <a:prstGeom prst="rect">
            <a:avLst/>
          </a:prstGeom>
          <a:noFill/>
        </p:spPr>
        <p:txBody>
          <a:bodyPr wrap="square" lIns="0" rIns="0" tIns="0" bIns="0" anchor="t">
            <a:spAutoFit/>
          </a:bodyPr>
          <a:lstStyle/>
          <a:p>
            <a:pPr algn="l"/>
            <a:r>
              <a:rPr sz="1100" b="0">
                <a:solidFill>
                  <a:srgbClr val="141821"/>
                </a:solidFill>
                <a:latin typeface="Calibri"/>
              </a:rPr>
              <a:t>8. MCP — same tools power analyst desktops</a:t>
            </a:r>
          </a:p>
        </p:txBody>
      </p:sp>
      <p:sp>
        <p:nvSpPr>
          <p:cNvPr id="53" name="TextBox 52"/>
          <p:cNvSpPr txBox="1"/>
          <p:nvPr/>
        </p:nvSpPr>
        <p:spPr>
          <a:xfrm>
            <a:off x="4206240" y="5266944"/>
            <a:ext cx="3657600" cy="292608"/>
          </a:xfrm>
          <a:prstGeom prst="rect">
            <a:avLst/>
          </a:prstGeom>
          <a:noFill/>
        </p:spPr>
        <p:txBody>
          <a:bodyPr wrap="square" lIns="0" rIns="0" tIns="0" bIns="0" anchor="t">
            <a:spAutoFit/>
          </a:bodyPr>
          <a:lstStyle/>
          <a:p>
            <a:pPr algn="l"/>
            <a:r>
              <a:rPr sz="1000" b="0">
                <a:solidFill>
                  <a:srgbClr val="12243D"/>
                </a:solidFill>
                <a:latin typeface="Calibri"/>
              </a:rPr>
              <a:t>@maverick/agentic-ui-mcp</a:t>
            </a:r>
          </a:p>
        </p:txBody>
      </p:sp>
      <p:sp>
        <p:nvSpPr>
          <p:cNvPr id="54" name="Rounded Rectangle 53"/>
          <p:cNvSpPr/>
          <p:nvPr/>
        </p:nvSpPr>
        <p:spPr>
          <a:xfrm>
            <a:off x="7955279" y="5266944"/>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5266944"/>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56" name="TextBox 55"/>
          <p:cNvSpPr txBox="1"/>
          <p:nvPr/>
        </p:nvSpPr>
        <p:spPr>
          <a:xfrm>
            <a:off x="10652760" y="526694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7" name="TextBox 56"/>
          <p:cNvSpPr txBox="1"/>
          <p:nvPr/>
        </p:nvSpPr>
        <p:spPr>
          <a:xfrm>
            <a:off x="777240" y="5650992"/>
            <a:ext cx="3383280" cy="292608"/>
          </a:xfrm>
          <a:prstGeom prst="rect">
            <a:avLst/>
          </a:prstGeom>
          <a:noFill/>
        </p:spPr>
        <p:txBody>
          <a:bodyPr wrap="square" lIns="0" rIns="0" tIns="0" bIns="0" anchor="t">
            <a:spAutoFit/>
          </a:bodyPr>
          <a:lstStyle/>
          <a:p>
            <a:pPr algn="l"/>
            <a:r>
              <a:rPr sz="1100" b="0">
                <a:solidFill>
                  <a:srgbClr val="141821"/>
                </a:solidFill>
                <a:latin typeface="Calibri"/>
              </a:rPr>
              <a:t>9. Observability — distributed tracing</a:t>
            </a:r>
          </a:p>
        </p:txBody>
      </p:sp>
      <p:sp>
        <p:nvSpPr>
          <p:cNvPr id="58" name="TextBox 57"/>
          <p:cNvSpPr txBox="1"/>
          <p:nvPr/>
        </p:nvSpPr>
        <p:spPr>
          <a:xfrm>
            <a:off x="4206240" y="5650992"/>
            <a:ext cx="3657600" cy="292608"/>
          </a:xfrm>
          <a:prstGeom prst="rect">
            <a:avLst/>
          </a:prstGeom>
          <a:noFill/>
        </p:spPr>
        <p:txBody>
          <a:bodyPr wrap="square" lIns="0" rIns="0" tIns="0" bIns="0" anchor="t">
            <a:spAutoFit/>
          </a:bodyPr>
          <a:lstStyle/>
          <a:p>
            <a:pPr algn="l"/>
            <a:r>
              <a:rPr sz="1000" b="0">
                <a:solidFill>
                  <a:srgbClr val="12243D"/>
                </a:solidFill>
                <a:latin typeface="Calibri"/>
              </a:rPr>
              <a:t>AgenticTelemetrySink · /otel</a:t>
            </a:r>
          </a:p>
        </p:txBody>
      </p:sp>
      <p:sp>
        <p:nvSpPr>
          <p:cNvPr id="59" name="Rounded Rectangle 58"/>
          <p:cNvSpPr/>
          <p:nvPr/>
        </p:nvSpPr>
        <p:spPr>
          <a:xfrm>
            <a:off x="7955279" y="565099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79" y="5650992"/>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61" name="TextBox 60"/>
          <p:cNvSpPr txBox="1"/>
          <p:nvPr/>
        </p:nvSpPr>
        <p:spPr>
          <a:xfrm>
            <a:off x="10652760" y="565099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2" name="Rectangle 61"/>
          <p:cNvSpPr/>
          <p:nvPr/>
        </p:nvSpPr>
        <p:spPr>
          <a:xfrm>
            <a:off x="644652" y="5971032"/>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6035040"/>
            <a:ext cx="3383280" cy="292608"/>
          </a:xfrm>
          <a:prstGeom prst="rect">
            <a:avLst/>
          </a:prstGeom>
          <a:noFill/>
        </p:spPr>
        <p:txBody>
          <a:bodyPr wrap="square" lIns="0" rIns="0" tIns="0" bIns="0" anchor="t">
            <a:spAutoFit/>
          </a:bodyPr>
          <a:lstStyle/>
          <a:p>
            <a:pPr algn="l"/>
            <a:r>
              <a:rPr sz="1100" b="0">
                <a:solidFill>
                  <a:srgbClr val="141821"/>
                </a:solidFill>
                <a:latin typeface="Calibri"/>
              </a:rPr>
              <a:t>10. Audit trail · chain-of-custody</a:t>
            </a:r>
          </a:p>
        </p:txBody>
      </p:sp>
      <p:sp>
        <p:nvSpPr>
          <p:cNvPr id="64" name="TextBox 63"/>
          <p:cNvSpPr txBox="1"/>
          <p:nvPr/>
        </p:nvSpPr>
        <p:spPr>
          <a:xfrm>
            <a:off x="4206240" y="6035040"/>
            <a:ext cx="3657600" cy="292608"/>
          </a:xfrm>
          <a:prstGeom prst="rect">
            <a:avLst/>
          </a:prstGeom>
          <a:noFill/>
        </p:spPr>
        <p:txBody>
          <a:bodyPr wrap="square" lIns="0" rIns="0" tIns="0" bIns="0" anchor="t">
            <a:spAutoFit/>
          </a:bodyPr>
          <a:lstStyle/>
          <a:p>
            <a:pPr algn="l"/>
            <a:r>
              <a:rPr sz="1000" b="0">
                <a:solidFill>
                  <a:srgbClr val="12243D"/>
                </a:solidFill>
                <a:latin typeface="Calibri"/>
              </a:rPr>
              <a:t>Pattern: prevHash / chainHash + telemetry</a:t>
            </a:r>
          </a:p>
        </p:txBody>
      </p:sp>
      <p:sp>
        <p:nvSpPr>
          <p:cNvPr id="65" name="Rounded Rectangle 64"/>
          <p:cNvSpPr/>
          <p:nvPr/>
        </p:nvSpPr>
        <p:spPr>
          <a:xfrm>
            <a:off x="7955279" y="603504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603504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67" name="TextBox 66"/>
          <p:cNvSpPr txBox="1"/>
          <p:nvPr/>
        </p:nvSpPr>
        <p:spPr>
          <a:xfrm>
            <a:off x="10652760" y="603504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8" name="TextBox 67"/>
          <p:cNvSpPr txBox="1"/>
          <p:nvPr/>
        </p:nvSpPr>
        <p:spPr>
          <a:xfrm>
            <a:off x="640080" y="6629400"/>
            <a:ext cx="1828800" cy="274320"/>
          </a:xfrm>
          <a:prstGeom prst="rect">
            <a:avLst/>
          </a:prstGeom>
          <a:noFill/>
        </p:spPr>
        <p:txBody>
          <a:bodyPr wrap="square" lIns="0" rIns="0" tIns="0" bIns="0" anchor="t">
            <a:spAutoFit/>
          </a:bodyPr>
          <a:lstStyle/>
          <a:p>
            <a:pPr algn="l"/>
            <a:r>
              <a:rPr sz="900" b="1">
                <a:solidFill>
                  <a:srgbClr val="6B7380"/>
                </a:solidFill>
                <a:latin typeface="Calibri"/>
              </a:rPr>
              <a:t>PRIMARY AUDIENCE</a:t>
            </a:r>
          </a:p>
        </p:txBody>
      </p:sp>
      <p:sp>
        <p:nvSpPr>
          <p:cNvPr id="69" name="Rounded Rectangle 68"/>
          <p:cNvSpPr/>
          <p:nvPr/>
        </p:nvSpPr>
        <p:spPr>
          <a:xfrm>
            <a:off x="2468880" y="66294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4688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71" name="Rounded Rectangle 70"/>
          <p:cNvSpPr/>
          <p:nvPr/>
        </p:nvSpPr>
        <p:spPr>
          <a:xfrm>
            <a:off x="3383280" y="662940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832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73" name="Rounded Rectangle 72"/>
          <p:cNvSpPr/>
          <p:nvPr/>
        </p:nvSpPr>
        <p:spPr>
          <a:xfrm>
            <a:off x="4297680" y="6629400"/>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976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75" name="Rectangle 7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77" name="TextBox 7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78" name="TextBox 7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 · Generative UI — agent picks the component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"Show me the flight options" → no prose. The agent emits widget-render and a typed Angular component mounts with validated props.</a:t>
            </a:r>
          </a:p>
        </p:txBody>
      </p:sp>
      <p:sp>
        <p:nvSpPr>
          <p:cNvPr id="7" name="Rounded Rectangle 6"/>
          <p:cNvSpPr/>
          <p:nvPr/>
        </p:nvSpPr>
        <p:spPr>
          <a:xfrm>
            <a:off x="640080" y="2011680"/>
            <a:ext cx="5669280" cy="42976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EVENT FLOW</a:t>
            </a:r>
          </a:p>
        </p:txBody>
      </p:sp>
      <p:sp>
        <p:nvSpPr>
          <p:cNvPr id="9" name="Rounded Rectangle 8"/>
          <p:cNvSpPr/>
          <p:nvPr/>
        </p:nvSpPr>
        <p:spPr>
          <a:xfrm>
            <a:off x="914400" y="2514600"/>
            <a:ext cx="219456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457200"/>
          </a:xfrm>
          <a:prstGeom prst="rect">
            <a:avLst/>
          </a:prstGeom>
          <a:noFill/>
        </p:spPr>
        <p:txBody>
          <a:bodyPr wrap="square" lIns="0" rIns="0" tIns="0" bIns="0" anchor="ctr">
            <a:spAutoFit/>
          </a:bodyPr>
          <a:lstStyle/>
          <a:p>
            <a:pPr algn="ctr"/>
            <a:r>
              <a:rPr sz="1100" b="1">
                <a:solidFill>
                  <a:srgbClr val="1E3A5F"/>
                </a:solidFill>
                <a:latin typeface="Calibri"/>
              </a:rPr>
              <a:t>LLM</a:t>
            </a:r>
          </a:p>
        </p:txBody>
      </p:sp>
      <p:sp>
        <p:nvSpPr>
          <p:cNvPr id="11" name="TextBox 10"/>
          <p:cNvSpPr txBox="1"/>
          <p:nvPr/>
        </p:nvSpPr>
        <p:spPr>
          <a:xfrm>
            <a:off x="3246120" y="2624328"/>
            <a:ext cx="2926080" cy="320040"/>
          </a:xfrm>
          <a:prstGeom prst="rect">
            <a:avLst/>
          </a:prstGeom>
          <a:noFill/>
        </p:spPr>
        <p:txBody>
          <a:bodyPr wrap="square" lIns="0" rIns="0" tIns="0" bIns="0" anchor="t">
            <a:spAutoFit/>
          </a:bodyPr>
          <a:lstStyle/>
          <a:p>
            <a:pPr algn="l"/>
            <a:r>
              <a:rPr sz="1100" b="0">
                <a:solidFill>
                  <a:srgbClr val="141821"/>
                </a:solidFill>
                <a:latin typeface="Calibri"/>
              </a:rPr>
              <a:t>decides which component</a:t>
            </a:r>
          </a:p>
        </p:txBody>
      </p:sp>
      <p:cxnSp>
        <p:nvCxnSpPr>
          <p:cNvPr id="12" name="Connector 11"/>
          <p:cNvCxnSpPr/>
          <p:nvPr/>
        </p:nvCxnSpPr>
        <p:spPr>
          <a:xfrm>
            <a:off x="2011680" y="29718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429000"/>
            <a:ext cx="2194560" cy="45720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29000"/>
            <a:ext cx="2194560" cy="457200"/>
          </a:xfrm>
          <a:prstGeom prst="rect">
            <a:avLst/>
          </a:prstGeom>
          <a:noFill/>
        </p:spPr>
        <p:txBody>
          <a:bodyPr wrap="square" lIns="0" rIns="0" tIns="0" bIns="0" anchor="ctr">
            <a:spAutoFit/>
          </a:bodyPr>
          <a:lstStyle/>
          <a:p>
            <a:pPr algn="ctr"/>
            <a:r>
              <a:rPr sz="1100" b="1">
                <a:solidFill>
                  <a:srgbClr val="356B88"/>
                </a:solidFill>
                <a:latin typeface="Calibri"/>
              </a:rPr>
              <a:t>Backend adapter</a:t>
            </a:r>
          </a:p>
        </p:txBody>
      </p:sp>
      <p:sp>
        <p:nvSpPr>
          <p:cNvPr id="15" name="TextBox 14"/>
          <p:cNvSpPr txBox="1"/>
          <p:nvPr/>
        </p:nvSpPr>
        <p:spPr>
          <a:xfrm>
            <a:off x="3246120" y="3538728"/>
            <a:ext cx="2926080" cy="320040"/>
          </a:xfrm>
          <a:prstGeom prst="rect">
            <a:avLst/>
          </a:prstGeom>
          <a:noFill/>
        </p:spPr>
        <p:txBody>
          <a:bodyPr wrap="square" lIns="0" rIns="0" tIns="0" bIns="0" anchor="t">
            <a:spAutoFit/>
          </a:bodyPr>
          <a:lstStyle/>
          <a:p>
            <a:pPr algn="l"/>
            <a:r>
              <a:rPr sz="1100" b="0">
                <a:solidFill>
                  <a:srgbClr val="141821"/>
                </a:solidFill>
                <a:latin typeface="Calibri"/>
              </a:rPr>
              <a:t>translates to widget-render</a:t>
            </a:r>
          </a:p>
        </p:txBody>
      </p:sp>
      <p:cxnSp>
        <p:nvCxnSpPr>
          <p:cNvPr id="16" name="Connector 15"/>
          <p:cNvCxnSpPr/>
          <p:nvPr/>
        </p:nvCxnSpPr>
        <p:spPr>
          <a:xfrm>
            <a:off x="2011680" y="38862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4400" y="4343400"/>
            <a:ext cx="219456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43400"/>
            <a:ext cx="2194560" cy="457200"/>
          </a:xfrm>
          <a:prstGeom prst="rect">
            <a:avLst/>
          </a:prstGeom>
          <a:noFill/>
        </p:spPr>
        <p:txBody>
          <a:bodyPr wrap="square" lIns="0" rIns="0" tIns="0" bIns="0" anchor="ctr">
            <a:spAutoFit/>
          </a:bodyPr>
          <a:lstStyle/>
          <a:p>
            <a:pPr algn="ctr"/>
            <a:r>
              <a:rPr sz="1100" b="1">
                <a:solidFill>
                  <a:srgbClr val="C48221"/>
                </a:solidFill>
                <a:latin typeface="Calibri"/>
              </a:rPr>
              <a:t>ComponentRegistry</a:t>
            </a:r>
          </a:p>
        </p:txBody>
      </p:sp>
      <p:sp>
        <p:nvSpPr>
          <p:cNvPr id="19" name="TextBox 18"/>
          <p:cNvSpPr txBox="1"/>
          <p:nvPr/>
        </p:nvSpPr>
        <p:spPr>
          <a:xfrm>
            <a:off x="3246120" y="4453128"/>
            <a:ext cx="2926080" cy="320040"/>
          </a:xfrm>
          <a:prstGeom prst="rect">
            <a:avLst/>
          </a:prstGeom>
          <a:noFill/>
        </p:spPr>
        <p:txBody>
          <a:bodyPr wrap="square" lIns="0" rIns="0" tIns="0" bIns="0" anchor="t">
            <a:spAutoFit/>
          </a:bodyPr>
          <a:lstStyle/>
          <a:p>
            <a:pPr algn="l"/>
            <a:r>
              <a:rPr sz="1100" b="0">
                <a:solidFill>
                  <a:srgbClr val="141821"/>
                </a:solidFill>
                <a:latin typeface="Calibri"/>
              </a:rPr>
              <a:t>resolves name · validates props</a:t>
            </a:r>
          </a:p>
        </p:txBody>
      </p:sp>
      <p:cxnSp>
        <p:nvCxnSpPr>
          <p:cNvPr id="20" name="Connector 19"/>
          <p:cNvCxnSpPr/>
          <p:nvPr/>
        </p:nvCxnSpPr>
        <p:spPr>
          <a:xfrm>
            <a:off x="2011680" y="48006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4400" y="5257800"/>
            <a:ext cx="219456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57800"/>
            <a:ext cx="2194560" cy="457200"/>
          </a:xfrm>
          <a:prstGeom prst="rect">
            <a:avLst/>
          </a:prstGeom>
          <a:noFill/>
        </p:spPr>
        <p:txBody>
          <a:bodyPr wrap="square" lIns="0" rIns="0" tIns="0" bIns="0" anchor="ctr">
            <a:spAutoFit/>
          </a:bodyPr>
          <a:lstStyle/>
          <a:p>
            <a:pPr algn="ctr"/>
            <a:r>
              <a:rPr sz="1100" b="1">
                <a:solidFill>
                  <a:srgbClr val="2F6F4F"/>
                </a:solidFill>
                <a:latin typeface="Calibri"/>
              </a:rPr>
              <a:t>widget-container</a:t>
            </a:r>
          </a:p>
        </p:txBody>
      </p:sp>
      <p:sp>
        <p:nvSpPr>
          <p:cNvPr id="23" name="TextBox 22"/>
          <p:cNvSpPr txBox="1"/>
          <p:nvPr/>
        </p:nvSpPr>
        <p:spPr>
          <a:xfrm>
            <a:off x="3246120" y="5367528"/>
            <a:ext cx="2926080" cy="320040"/>
          </a:xfrm>
          <a:prstGeom prst="rect">
            <a:avLst/>
          </a:prstGeom>
          <a:noFill/>
        </p:spPr>
        <p:txBody>
          <a:bodyPr wrap="square" lIns="0" rIns="0" tIns="0" bIns="0" anchor="t">
            <a:spAutoFit/>
          </a:bodyPr>
          <a:lstStyle/>
          <a:p>
            <a:pPr algn="l"/>
            <a:r>
              <a:rPr sz="1100" b="0">
                <a:solidFill>
                  <a:srgbClr val="141821"/>
                </a:solidFill>
                <a:latin typeface="Calibri"/>
              </a:rPr>
              <a:t>*ngComponentOutlet mounts it</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If props don't match the Zod schema, the container shows a placeholder — never crashes the chat.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26" name="Rectangle 25"/>
          <p:cNvSpPr/>
          <p:nvPr/>
        </p:nvSpPr>
        <p:spPr>
          <a:xfrm>
            <a:off x="6583680" y="2423160"/>
            <a:ext cx="4967935"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194560"/>
          </a:xfrm>
          <a:prstGeom prst="rect">
            <a:avLst/>
          </a:prstGeom>
          <a:noFill/>
        </p:spPr>
        <p:txBody>
          <a:bodyPr wrap="square" lIns="0" rIns="0" tIns="0" bIns="0">
            <a:spAutoFit/>
          </a:bodyPr>
          <a:lstStyle/>
          <a:p>
            <a:pPr>
              <a:spcAft>
                <a:spcPts val="0"/>
              </a:spcAft>
            </a:pPr>
            <a:r>
              <a:rPr sz="1100">
                <a:solidFill>
                  <a:srgbClr val="E2E8F0"/>
                </a:solidFill>
                <a:latin typeface="Menlo"/>
              </a:rPr>
              <a:t>import { agenticWidget } from '@maverick/agentic-ui';</a:t>
            </a:r>
          </a:p>
          <a:p>
            <a:pPr>
              <a:spcAft>
                <a:spcPts val="0"/>
              </a:spcAft>
            </a:pPr>
            <a:r>
              <a:rPr sz="1100">
                <a:solidFill>
                  <a:srgbClr val="E2E8F0"/>
                </a:solidFill>
                <a:latin typeface="Menlo"/>
              </a:rPr>
              <a:t>import { z } from 'zod';</a:t>
            </a:r>
          </a:p>
          <a:p>
            <a:pPr>
              <a:spcAft>
                <a:spcPts val="0"/>
              </a:spcAft>
            </a:pPr>
            <a:r>
              <a:rPr sz="1100">
                <a:solidFill>
                  <a:srgbClr val="E2E8F0"/>
                </a:solidFill>
                <a:latin typeface="Menlo"/>
              </a:rPr>
              <a:t/>
            </a:r>
          </a:p>
          <a:p>
            <a:pPr>
              <a:spcAft>
                <a:spcPts val="0"/>
              </a:spcAft>
            </a:pPr>
            <a:r>
              <a:rPr sz="1100">
                <a:solidFill>
                  <a:srgbClr val="E2E8F0"/>
                </a:solidFill>
                <a:latin typeface="Menlo"/>
              </a:rPr>
              <a:t>export const flightCard = agenticWidget({</a:t>
            </a:r>
          </a:p>
          <a:p>
            <a:pPr>
              <a:spcAft>
                <a:spcPts val="0"/>
              </a:spcAft>
            </a:pPr>
            <a:r>
              <a:rPr sz="1100">
                <a:solidFill>
                  <a:srgbClr val="E2E8F0"/>
                </a:solidFill>
                <a:latin typeface="Menlo"/>
              </a:rPr>
              <a:t>  name: 'flight-card',</a:t>
            </a:r>
          </a:p>
          <a:p>
            <a:pPr>
              <a:spcAft>
                <a:spcPts val="0"/>
              </a:spcAft>
            </a:pPr>
            <a:r>
              <a:rPr sz="1100">
                <a:solidFill>
                  <a:srgbClr val="E2E8F0"/>
                </a:solidFill>
                <a:latin typeface="Menlo"/>
              </a:rPr>
              <a:t>  component: FlightCardComponent,</a:t>
            </a:r>
          </a:p>
          <a:p>
            <a:pPr>
              <a:spcAft>
                <a:spcPts val="0"/>
              </a:spcAft>
            </a:pPr>
            <a:r>
              <a:rPr sz="1100">
                <a:solidFill>
                  <a:srgbClr val="E2E8F0"/>
                </a:solidFill>
                <a:latin typeface="Menlo"/>
              </a:rPr>
              <a:t>  propsSchema: z.object({</a:t>
            </a:r>
          </a:p>
          <a:p>
            <a:pPr>
              <a:spcAft>
                <a:spcPts val="0"/>
              </a:spcAft>
            </a:pPr>
            <a:r>
              <a:rPr sz="1100">
                <a:solidFill>
                  <a:srgbClr val="E2E8F0"/>
                </a:solidFill>
                <a:latin typeface="Menlo"/>
              </a:rPr>
              <a:t>    flightId: z.string(),</a:t>
            </a:r>
          </a:p>
          <a:p>
            <a:pPr>
              <a:spcAft>
                <a:spcPts val="0"/>
              </a:spcAft>
            </a:pPr>
            <a:r>
              <a:rPr sz="1100">
                <a:solidFill>
                  <a:srgbClr val="E2E8F0"/>
                </a:solidFill>
                <a:latin typeface="Menlo"/>
              </a:rPr>
              <a:t>    from: z.string().length(3),</a:t>
            </a:r>
          </a:p>
          <a:p>
            <a:pPr>
              <a:spcAft>
                <a:spcPts val="0"/>
              </a:spcAft>
            </a:pPr>
            <a:r>
              <a:rPr sz="1100">
                <a:solidFill>
                  <a:srgbClr val="E2E8F0"/>
                </a:solidFill>
                <a:latin typeface="Menlo"/>
              </a:rPr>
              <a:t>    to:   z.string().length(3),</a:t>
            </a:r>
          </a:p>
          <a:p>
            <a:pPr>
              <a:spcAft>
                <a:spcPts val="0"/>
              </a:spcAft>
            </a:pPr>
            <a:r>
              <a:rPr sz="1100">
                <a:solidFill>
                  <a:srgbClr val="E2E8F0"/>
                </a:solidFill>
                <a:latin typeface="Menlo"/>
              </a:rPr>
              <a:t>    price: z.number().positive(),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4937760"/>
            <a:ext cx="4967935" cy="274320"/>
          </a:xfrm>
          <a:prstGeom prst="rect">
            <a:avLst/>
          </a:prstGeom>
          <a:noFill/>
        </p:spPr>
        <p:txBody>
          <a:bodyPr wrap="square" lIns="0" rIns="0" tIns="0" bIns="0" anchor="t">
            <a:spAutoFit/>
          </a:bodyPr>
          <a:lstStyle/>
          <a:p>
            <a:pPr algn="l"/>
            <a:r>
              <a:rPr sz="1000" b="1">
                <a:solidFill>
                  <a:srgbClr val="6B7380"/>
                </a:solidFill>
                <a:latin typeface="Calibri"/>
              </a:rPr>
              <a:t>WHY IT MATTERS</a:t>
            </a:r>
          </a:p>
        </p:txBody>
      </p:sp>
      <p:sp>
        <p:nvSpPr>
          <p:cNvPr id="29" name="TextBox 28"/>
          <p:cNvSpPr txBox="1"/>
          <p:nvPr/>
        </p:nvSpPr>
        <p:spPr>
          <a:xfrm>
            <a:off x="6583680" y="5257800"/>
            <a:ext cx="4967935" cy="137160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Agent owns content; UI owns presentation</a:t>
            </a:r>
          </a:p>
          <a:p>
            <a:pPr>
              <a:spcAft>
                <a:spcPts val="600"/>
              </a:spcAft>
            </a:pPr>
            <a:r>
              <a:rPr sz="1100" b="1">
                <a:solidFill>
                  <a:srgbClr val="2F6F4F"/>
                </a:solidFill>
                <a:latin typeface="Calibri"/>
              </a:rPr>
              <a:t>✓  </a:t>
            </a:r>
            <a:r>
              <a:rPr sz="1100">
                <a:solidFill>
                  <a:srgbClr val="141821"/>
                </a:solidFill>
                <a:latin typeface="Calibri"/>
              </a:rPr>
              <a:t>Zod schemas double as the LLM's tool contract</a:t>
            </a:r>
          </a:p>
          <a:p>
            <a:pPr>
              <a:spcAft>
                <a:spcPts val="600"/>
              </a:spcAft>
            </a:pPr>
            <a:r>
              <a:rPr sz="1100" b="1">
                <a:solidFill>
                  <a:srgbClr val="2F6F4F"/>
                </a:solidFill>
                <a:latin typeface="Calibri"/>
              </a:rPr>
              <a:t>✓  </a:t>
            </a:r>
            <a:r>
              <a:rPr sz="1100">
                <a:solidFill>
                  <a:srgbClr val="141821"/>
                </a:solidFill>
                <a:latin typeface="Calibri"/>
              </a:rPr>
              <a:t>Same component works under any backend (use case 5)</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2 · Tool calling with state mutation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Agent runs bookFlight against your backend, threads the result back into the next turn, and the user can hit Esc to abort mid-execution.</a:t>
            </a:r>
          </a:p>
        </p:txBody>
      </p:sp>
      <p:sp>
        <p:nvSpPr>
          <p:cNvPr id="7" name="Rounded Rectangle 6"/>
          <p:cNvSpPr/>
          <p:nvPr/>
        </p:nvSpPr>
        <p:spPr>
          <a:xfrm>
            <a:off x="640080" y="201168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ONE TOOL CALL · LIFECYCLE</a:t>
            </a:r>
          </a:p>
        </p:txBody>
      </p:sp>
      <p:sp>
        <p:nvSpPr>
          <p:cNvPr id="9" name="Rounded Rectangle 8"/>
          <p:cNvSpPr/>
          <p:nvPr/>
        </p:nvSpPr>
        <p:spPr>
          <a:xfrm>
            <a:off x="914400" y="251460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384048"/>
          </a:xfrm>
          <a:prstGeom prst="rect">
            <a:avLst/>
          </a:prstGeom>
          <a:noFill/>
        </p:spPr>
        <p:txBody>
          <a:bodyPr wrap="square" lIns="0" rIns="0" tIns="0" bIns="0" anchor="ctr">
            <a:spAutoFit/>
          </a:bodyPr>
          <a:lstStyle/>
          <a:p>
            <a:pPr algn="ctr"/>
            <a:r>
              <a:rPr sz="1000" b="1">
                <a:solidFill>
                  <a:srgbClr val="1E3A5F"/>
                </a:solidFill>
                <a:latin typeface="Calibri"/>
              </a:rPr>
              <a:t>tool-call-start</a:t>
            </a:r>
          </a:p>
        </p:txBody>
      </p:sp>
      <p:sp>
        <p:nvSpPr>
          <p:cNvPr id="11" name="TextBox 10"/>
          <p:cNvSpPr txBox="1"/>
          <p:nvPr/>
        </p:nvSpPr>
        <p:spPr>
          <a:xfrm>
            <a:off x="3246120" y="2578608"/>
            <a:ext cx="2926080" cy="292608"/>
          </a:xfrm>
          <a:prstGeom prst="rect">
            <a:avLst/>
          </a:prstGeom>
          <a:noFill/>
        </p:spPr>
        <p:txBody>
          <a:bodyPr wrap="square" lIns="0" rIns="0" tIns="0" bIns="0" anchor="t">
            <a:spAutoFit/>
          </a:bodyPr>
          <a:lstStyle/>
          <a:p>
            <a:pPr algn="l"/>
            <a:r>
              <a:rPr sz="1100" b="0">
                <a:solidFill>
                  <a:srgbClr val="141821"/>
                </a:solidFill>
                <a:latin typeface="Calibri"/>
              </a:rPr>
              <a:t>name + toolCallId reach the host</a:t>
            </a:r>
          </a:p>
        </p:txBody>
      </p:sp>
      <p:sp>
        <p:nvSpPr>
          <p:cNvPr id="12" name="Rounded Rectangle 11"/>
          <p:cNvSpPr/>
          <p:nvPr/>
        </p:nvSpPr>
        <p:spPr>
          <a:xfrm>
            <a:off x="914400" y="322783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27832"/>
            <a:ext cx="2194560" cy="384048"/>
          </a:xfrm>
          <a:prstGeom prst="rect">
            <a:avLst/>
          </a:prstGeom>
          <a:noFill/>
        </p:spPr>
        <p:txBody>
          <a:bodyPr wrap="square" lIns="0" rIns="0" tIns="0" bIns="0" anchor="ctr">
            <a:spAutoFit/>
          </a:bodyPr>
          <a:lstStyle/>
          <a:p>
            <a:pPr algn="ctr"/>
            <a:r>
              <a:rPr sz="1000" b="1">
                <a:solidFill>
                  <a:srgbClr val="356B88"/>
                </a:solidFill>
                <a:latin typeface="Calibri"/>
              </a:rPr>
              <a:t>tool-call-args</a:t>
            </a:r>
          </a:p>
        </p:txBody>
      </p:sp>
      <p:sp>
        <p:nvSpPr>
          <p:cNvPr id="14" name="TextBox 13"/>
          <p:cNvSpPr txBox="1"/>
          <p:nvPr/>
        </p:nvSpPr>
        <p:spPr>
          <a:xfrm>
            <a:off x="3246120" y="3291840"/>
            <a:ext cx="2926080" cy="292608"/>
          </a:xfrm>
          <a:prstGeom prst="rect">
            <a:avLst/>
          </a:prstGeom>
          <a:noFill/>
        </p:spPr>
        <p:txBody>
          <a:bodyPr wrap="square" lIns="0" rIns="0" tIns="0" bIns="0" anchor="t">
            <a:spAutoFit/>
          </a:bodyPr>
          <a:lstStyle/>
          <a:p>
            <a:pPr algn="l"/>
            <a:r>
              <a:rPr sz="1100" b="0">
                <a:solidFill>
                  <a:srgbClr val="141821"/>
                </a:solidFill>
                <a:latin typeface="Calibri"/>
              </a:rPr>
              <a:t>streamed JSON · Zod-validated incrementally</a:t>
            </a:r>
          </a:p>
        </p:txBody>
      </p:sp>
      <p:sp>
        <p:nvSpPr>
          <p:cNvPr id="15" name="Rounded Rectangle 14"/>
          <p:cNvSpPr/>
          <p:nvPr/>
        </p:nvSpPr>
        <p:spPr>
          <a:xfrm>
            <a:off x="914400" y="394106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41064"/>
            <a:ext cx="2194560" cy="384048"/>
          </a:xfrm>
          <a:prstGeom prst="rect">
            <a:avLst/>
          </a:prstGeom>
          <a:noFill/>
        </p:spPr>
        <p:txBody>
          <a:bodyPr wrap="square" lIns="0" rIns="0" tIns="0" bIns="0" anchor="ctr">
            <a:spAutoFit/>
          </a:bodyPr>
          <a:lstStyle/>
          <a:p>
            <a:pPr algn="ctr"/>
            <a:r>
              <a:rPr sz="1000" b="1">
                <a:solidFill>
                  <a:srgbClr val="C48221"/>
                </a:solidFill>
                <a:latin typeface="Calibri"/>
              </a:rPr>
              <a:t>tool-call-end</a:t>
            </a:r>
          </a:p>
        </p:txBody>
      </p:sp>
      <p:sp>
        <p:nvSpPr>
          <p:cNvPr id="17" name="TextBox 16"/>
          <p:cNvSpPr txBox="1"/>
          <p:nvPr/>
        </p:nvSpPr>
        <p:spPr>
          <a:xfrm>
            <a:off x="3246120" y="4005072"/>
            <a:ext cx="2926080" cy="292608"/>
          </a:xfrm>
          <a:prstGeom prst="rect">
            <a:avLst/>
          </a:prstGeom>
          <a:noFill/>
        </p:spPr>
        <p:txBody>
          <a:bodyPr wrap="square" lIns="0" rIns="0" tIns="0" bIns="0" anchor="t">
            <a:spAutoFit/>
          </a:bodyPr>
          <a:lstStyle/>
          <a:p>
            <a:pPr algn="l"/>
            <a:r>
              <a:rPr sz="1100" b="0">
                <a:solidFill>
                  <a:srgbClr val="141821"/>
                </a:solidFill>
                <a:latin typeface="Calibri"/>
              </a:rPr>
              <a:t>args complete · handler invoked</a:t>
            </a:r>
          </a:p>
        </p:txBody>
      </p:sp>
      <p:sp>
        <p:nvSpPr>
          <p:cNvPr id="18" name="Rounded Rectangle 17"/>
          <p:cNvSpPr/>
          <p:nvPr/>
        </p:nvSpPr>
        <p:spPr>
          <a:xfrm>
            <a:off x="914400" y="465429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654296"/>
            <a:ext cx="2194560" cy="384048"/>
          </a:xfrm>
          <a:prstGeom prst="rect">
            <a:avLst/>
          </a:prstGeom>
          <a:noFill/>
        </p:spPr>
        <p:txBody>
          <a:bodyPr wrap="square" lIns="0" rIns="0" tIns="0" bIns="0" anchor="ctr">
            <a:spAutoFit/>
          </a:bodyPr>
          <a:lstStyle/>
          <a:p>
            <a:pPr algn="ctr"/>
            <a:r>
              <a:rPr sz="1000" b="1">
                <a:solidFill>
                  <a:srgbClr val="2F6F4F"/>
                </a:solidFill>
                <a:latin typeface="Calibri"/>
              </a:rPr>
              <a:t>handler(args, ctx)</a:t>
            </a:r>
          </a:p>
        </p:txBody>
      </p:sp>
      <p:sp>
        <p:nvSpPr>
          <p:cNvPr id="20" name="TextBox 19"/>
          <p:cNvSpPr txBox="1"/>
          <p:nvPr/>
        </p:nvSpPr>
        <p:spPr>
          <a:xfrm>
            <a:off x="3246120" y="4718304"/>
            <a:ext cx="2926080" cy="292608"/>
          </a:xfrm>
          <a:prstGeom prst="rect">
            <a:avLst/>
          </a:prstGeom>
          <a:noFill/>
        </p:spPr>
        <p:txBody>
          <a:bodyPr wrap="square" lIns="0" rIns="0" tIns="0" bIns="0" anchor="t">
            <a:spAutoFit/>
          </a:bodyPr>
          <a:lstStyle/>
          <a:p>
            <a:pPr algn="l"/>
            <a:r>
              <a:rPr sz="1100" b="0">
                <a:solidFill>
                  <a:srgbClr val="141821"/>
                </a:solidFill>
                <a:latin typeface="Calibri"/>
              </a:rPr>
              <a:t>ctx.signal threads abort to fetch()</a:t>
            </a:r>
          </a:p>
        </p:txBody>
      </p:sp>
      <p:sp>
        <p:nvSpPr>
          <p:cNvPr id="21" name="Rounded Rectangle 20"/>
          <p:cNvSpPr/>
          <p:nvPr/>
        </p:nvSpPr>
        <p:spPr>
          <a:xfrm>
            <a:off x="914400" y="536752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367528"/>
            <a:ext cx="2194560" cy="384048"/>
          </a:xfrm>
          <a:prstGeom prst="rect">
            <a:avLst/>
          </a:prstGeom>
          <a:noFill/>
        </p:spPr>
        <p:txBody>
          <a:bodyPr wrap="square" lIns="0" rIns="0" tIns="0" bIns="0" anchor="ctr">
            <a:spAutoFit/>
          </a:bodyPr>
          <a:lstStyle/>
          <a:p>
            <a:pPr algn="ctr"/>
            <a:r>
              <a:rPr sz="1000" b="1">
                <a:solidFill>
                  <a:srgbClr val="12243D"/>
                </a:solidFill>
                <a:latin typeface="Calibri"/>
              </a:rPr>
              <a:t>tool-call-result</a:t>
            </a:r>
          </a:p>
        </p:txBody>
      </p:sp>
      <p:sp>
        <p:nvSpPr>
          <p:cNvPr id="23" name="TextBox 22"/>
          <p:cNvSpPr txBox="1"/>
          <p:nvPr/>
        </p:nvSpPr>
        <p:spPr>
          <a:xfrm>
            <a:off x="3246120" y="5431536"/>
            <a:ext cx="2926080" cy="292608"/>
          </a:xfrm>
          <a:prstGeom prst="rect">
            <a:avLst/>
          </a:prstGeom>
          <a:noFill/>
        </p:spPr>
        <p:txBody>
          <a:bodyPr wrap="square" lIns="0" rIns="0" tIns="0" bIns="0" anchor="t">
            <a:spAutoFit/>
          </a:bodyPr>
          <a:lstStyle/>
          <a:p>
            <a:pPr algn="l"/>
            <a:r>
              <a:rPr sz="1100" b="0">
                <a:solidFill>
                  <a:srgbClr val="141821"/>
                </a:solidFill>
                <a:latin typeface="Calibri"/>
              </a:rPr>
              <a:t>payload becomes the next-turn input</a:t>
            </a:r>
          </a:p>
        </p:txBody>
      </p:sp>
      <p:sp>
        <p:nvSpPr>
          <p:cNvPr id="24" name="TextBox 23"/>
          <p:cNvSpPr txBox="1"/>
          <p:nvPr/>
        </p:nvSpPr>
        <p:spPr>
          <a:xfrm>
            <a:off x="822960" y="5806440"/>
            <a:ext cx="5303520" cy="320040"/>
          </a:xfrm>
          <a:prstGeom prst="rect">
            <a:avLst/>
          </a:prstGeom>
          <a:noFill/>
        </p:spPr>
        <p:txBody>
          <a:bodyPr wrap="square" lIns="0" rIns="0" tIns="0" bIns="0" anchor="t">
            <a:spAutoFit/>
          </a:bodyPr>
          <a:lstStyle/>
          <a:p>
            <a:pPr algn="ctr"/>
            <a:r>
              <a:rPr sz="1000" b="0">
                <a:solidFill>
                  <a:srgbClr val="6B7380"/>
                </a:solidFill>
                <a:latin typeface="Calibri"/>
              </a:rPr>
              <a:t>User hits Esc → AbortController fires → handler's fetch cancels → tool-call-result emits an error event.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HANDLER</a:t>
            </a:r>
          </a:p>
        </p:txBody>
      </p:sp>
      <p:sp>
        <p:nvSpPr>
          <p:cNvPr id="26" name="Rectangle 25"/>
          <p:cNvSpPr/>
          <p:nvPr/>
        </p:nvSpPr>
        <p:spPr>
          <a:xfrm>
            <a:off x="6583680" y="2423160"/>
            <a:ext cx="4967935" cy="2606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423160"/>
          </a:xfrm>
          <a:prstGeom prst="rect">
            <a:avLst/>
          </a:prstGeom>
          <a:noFill/>
        </p:spPr>
        <p:txBody>
          <a:bodyPr wrap="square" lIns="0" rIns="0" tIns="0" bIns="0">
            <a:spAutoFit/>
          </a:bodyPr>
          <a:lstStyle/>
          <a:p>
            <a:pPr>
              <a:spcAft>
                <a:spcPts val="0"/>
              </a:spcAft>
            </a:pPr>
            <a:r>
              <a:rPr sz="1100">
                <a:solidFill>
                  <a:srgbClr val="E2E8F0"/>
                </a:solidFill>
                <a:latin typeface="Menlo"/>
              </a:rPr>
              <a:t>agenticTool({</a:t>
            </a:r>
          </a:p>
          <a:p>
            <a:pPr>
              <a:spcAft>
                <a:spcPts val="0"/>
              </a:spcAft>
            </a:pPr>
            <a:r>
              <a:rPr sz="1100">
                <a:solidFill>
                  <a:srgbClr val="E2E8F0"/>
                </a:solidFill>
                <a:latin typeface="Menlo"/>
              </a:rPr>
              <a:t>  name: 'bookFlight',</a:t>
            </a:r>
          </a:p>
          <a:p>
            <a:pPr>
              <a:spcAft>
                <a:spcPts val="0"/>
              </a:spcAft>
            </a:pPr>
            <a:r>
              <a:rPr sz="1100">
                <a:solidFill>
                  <a:srgbClr val="E2E8F0"/>
                </a:solidFill>
                <a:latin typeface="Menlo"/>
              </a:rPr>
              <a:t>  description: 'Book a flight, return id.',</a:t>
            </a:r>
          </a:p>
          <a:p>
            <a:pPr>
              <a:spcAft>
                <a:spcPts val="0"/>
              </a:spcAft>
            </a:pPr>
            <a:r>
              <a:rPr sz="1100">
                <a:solidFill>
                  <a:srgbClr val="E2E8F0"/>
                </a:solidFill>
                <a:latin typeface="Menlo"/>
              </a:rPr>
              <a:t>  schema: z.object({ flightId: z.string() }),</a:t>
            </a:r>
          </a:p>
          <a:p>
            <a:pPr>
              <a:spcAft>
                <a:spcPts val="0"/>
              </a:spcAft>
            </a:pPr>
            <a:r>
              <a:rPr sz="1100">
                <a:solidFill>
                  <a:srgbClr val="E2E8F0"/>
                </a:solidFill>
                <a:latin typeface="Menlo"/>
              </a:rPr>
              <a:t>  handler: async ({ flightId }, ctx) =&gt; {</a:t>
            </a:r>
          </a:p>
          <a:p>
            <a:pPr>
              <a:spcAft>
                <a:spcPts val="0"/>
              </a:spcAft>
            </a:pPr>
            <a:r>
              <a:rPr sz="1100">
                <a:solidFill>
                  <a:srgbClr val="E2E8F0"/>
                </a:solidFill>
                <a:latin typeface="Menlo"/>
              </a:rPr>
              <a:t>    ctx.signal.throwIfAborted();</a:t>
            </a:r>
          </a:p>
          <a:p>
            <a:pPr>
              <a:spcAft>
                <a:spcPts val="0"/>
              </a:spcAft>
            </a:pPr>
            <a:r>
              <a:rPr sz="1100">
                <a:solidFill>
                  <a:srgbClr val="E2E8F0"/>
                </a:solidFill>
                <a:latin typeface="Menlo"/>
              </a:rPr>
              <a:t>    const r = await fetch('/api/bookings', {</a:t>
            </a:r>
          </a:p>
          <a:p>
            <a:pPr>
              <a:spcAft>
                <a:spcPts val="0"/>
              </a:spcAft>
            </a:pPr>
            <a:r>
              <a:rPr sz="1100">
                <a:solidFill>
                  <a:srgbClr val="E2E8F0"/>
                </a:solidFill>
                <a:latin typeface="Menlo"/>
              </a:rPr>
              <a:t>      method: 'POST',</a:t>
            </a:r>
          </a:p>
          <a:p>
            <a:pPr>
              <a:spcAft>
                <a:spcPts val="0"/>
              </a:spcAft>
            </a:pPr>
            <a:r>
              <a:rPr sz="1100">
                <a:solidFill>
                  <a:srgbClr val="E2E8F0"/>
                </a:solidFill>
                <a:latin typeface="Menlo"/>
              </a:rPr>
              <a:t>      body: JSON.stringify({ flightId }),</a:t>
            </a:r>
          </a:p>
          <a:p>
            <a:pPr>
              <a:spcAft>
                <a:spcPts val="0"/>
              </a:spcAft>
            </a:pPr>
            <a:r>
              <a:rPr sz="1100">
                <a:solidFill>
                  <a:srgbClr val="E2E8F0"/>
                </a:solidFill>
                <a:latin typeface="Menlo"/>
              </a:rPr>
              <a:t>      signal: ctx.signal,    // forwards abort</a:t>
            </a:r>
          </a:p>
          <a:p>
            <a:pPr>
              <a:spcAft>
                <a:spcPts val="0"/>
              </a:spcAft>
            </a:pPr>
            <a:r>
              <a:rPr sz="1100">
                <a:solidFill>
                  <a:srgbClr val="E2E8F0"/>
                </a:solidFill>
                <a:latin typeface="Menlo"/>
              </a:rPr>
              <a:t>    });</a:t>
            </a:r>
          </a:p>
          <a:p>
            <a:pPr>
              <a:spcAft>
                <a:spcPts val="0"/>
              </a:spcAft>
            </a:pPr>
            <a:r>
              <a:rPr sz="1100">
                <a:solidFill>
                  <a:srgbClr val="E2E8F0"/>
                </a:solidFill>
                <a:latin typeface="Menlo"/>
              </a:rPr>
              <a:t>    return await r.json();</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5166360"/>
            <a:ext cx="4967935" cy="274320"/>
          </a:xfrm>
          <a:prstGeom prst="rect">
            <a:avLst/>
          </a:prstGeom>
          <a:noFill/>
        </p:spPr>
        <p:txBody>
          <a:bodyPr wrap="square" lIns="0" rIns="0" tIns="0" bIns="0" anchor="t">
            <a:spAutoFit/>
          </a:bodyPr>
          <a:lstStyle/>
          <a:p>
            <a:pPr algn="l"/>
            <a:r>
              <a:rPr sz="1000" b="1">
                <a:solidFill>
                  <a:srgbClr val="6B7380"/>
                </a:solidFill>
                <a:latin typeface="Calibri"/>
              </a:rPr>
              <a:t>FOR FEDERATED TOOLS</a:t>
            </a:r>
          </a:p>
        </p:txBody>
      </p:sp>
      <p:sp>
        <p:nvSpPr>
          <p:cNvPr id="29" name="TextBox 28"/>
          <p:cNvSpPr txBox="1"/>
          <p:nvPr/>
        </p:nvSpPr>
        <p:spPr>
          <a:xfrm>
            <a:off x="6583680" y="5486400"/>
            <a:ext cx="4967935" cy="91440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executeIn: 'remote' — handler runs in the remote's injector</a:t>
            </a:r>
          </a:p>
          <a:p>
            <a:pPr>
              <a:spcAft>
                <a:spcPts val="600"/>
              </a:spcAft>
            </a:pPr>
            <a:r>
              <a:rPr sz="1100" b="1">
                <a:solidFill>
                  <a:srgbClr val="1E3A5F"/>
                </a:solidFill>
                <a:latin typeface="Calibri"/>
              </a:rPr>
              <a:t>•  </a:t>
            </a:r>
            <a:r>
              <a:rPr sz="1100">
                <a:solidFill>
                  <a:srgbClr val="141821"/>
                </a:solidFill>
                <a:latin typeface="Calibri"/>
              </a:rPr>
              <a:t>ToolRegistry tags entries with source: 'remote:&lt;name&gt;'</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3 · Federating MFE remotes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Bookings team owns its tools, widgets, and routes; ships independently. Host loads the remote at runtime and the agent's tool list updates within the same turn.</a:t>
            </a:r>
          </a:p>
        </p:txBody>
      </p:sp>
      <p:sp>
        <p:nvSpPr>
          <p:cNvPr id="7" name="Rounded Rectangle 6"/>
          <p:cNvSpPr/>
          <p:nvPr/>
        </p:nvSpPr>
        <p:spPr>
          <a:xfrm>
            <a:off x="640080" y="210312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5303520" cy="274320"/>
          </a:xfrm>
          <a:prstGeom prst="rect">
            <a:avLst/>
          </a:prstGeom>
          <a:noFill/>
        </p:spPr>
        <p:txBody>
          <a:bodyPr wrap="square" lIns="0" rIns="0" tIns="0" bIns="0" anchor="t">
            <a:spAutoFit/>
          </a:bodyPr>
          <a:lstStyle/>
          <a:p>
            <a:pPr algn="l"/>
            <a:r>
              <a:rPr sz="1000" b="1">
                <a:solidFill>
                  <a:srgbClr val="6B7380"/>
                </a:solidFill>
                <a:latin typeface="Calibri"/>
              </a:rPr>
              <a:t>CAPABILITY HANDOFF</a:t>
            </a:r>
          </a:p>
        </p:txBody>
      </p:sp>
      <p:sp>
        <p:nvSpPr>
          <p:cNvPr id="9" name="Rounded Rectangle 8"/>
          <p:cNvSpPr/>
          <p:nvPr/>
        </p:nvSpPr>
        <p:spPr>
          <a:xfrm>
            <a:off x="914400" y="260604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6040"/>
            <a:ext cx="2194560" cy="384048"/>
          </a:xfrm>
          <a:prstGeom prst="rect">
            <a:avLst/>
          </a:prstGeom>
          <a:noFill/>
        </p:spPr>
        <p:txBody>
          <a:bodyPr wrap="square" lIns="0" rIns="0" tIns="0" bIns="0" anchor="ctr">
            <a:spAutoFit/>
          </a:bodyPr>
          <a:lstStyle/>
          <a:p>
            <a:pPr algn="ctr"/>
            <a:r>
              <a:rPr sz="1000" b="1">
                <a:solidFill>
                  <a:srgbClr val="1E3A5F"/>
                </a:solidFill>
                <a:latin typeface="Calibri"/>
              </a:rPr>
              <a:t>MfeRegistry</a:t>
            </a:r>
          </a:p>
        </p:txBody>
      </p:sp>
      <p:sp>
        <p:nvSpPr>
          <p:cNvPr id="11" name="TextBox 10"/>
          <p:cNvSpPr txBox="1"/>
          <p:nvPr/>
        </p:nvSpPr>
        <p:spPr>
          <a:xfrm>
            <a:off x="3246120" y="2670048"/>
            <a:ext cx="2926080" cy="292608"/>
          </a:xfrm>
          <a:prstGeom prst="rect">
            <a:avLst/>
          </a:prstGeom>
          <a:noFill/>
        </p:spPr>
        <p:txBody>
          <a:bodyPr wrap="square" lIns="0" rIns="0" tIns="0" bIns="0" anchor="t">
            <a:spAutoFit/>
          </a:bodyPr>
          <a:lstStyle/>
          <a:p>
            <a:pPr algn="l"/>
            <a:r>
              <a:rPr sz="1100" b="0">
                <a:solidFill>
                  <a:srgbClr val="141821"/>
                </a:solidFill>
                <a:latin typeface="Calibri"/>
              </a:rPr>
              <a:t>discover(env) → RemoteSpec[]</a:t>
            </a:r>
          </a:p>
        </p:txBody>
      </p:sp>
      <p:sp>
        <p:nvSpPr>
          <p:cNvPr id="12" name="Rounded Rectangle 11"/>
          <p:cNvSpPr/>
          <p:nvPr/>
        </p:nvSpPr>
        <p:spPr>
          <a:xfrm>
            <a:off x="914400" y="331927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2194560" cy="384048"/>
          </a:xfrm>
          <a:prstGeom prst="rect">
            <a:avLst/>
          </a:prstGeom>
          <a:noFill/>
        </p:spPr>
        <p:txBody>
          <a:bodyPr wrap="square" lIns="0" rIns="0" tIns="0" bIns="0" anchor="ctr">
            <a:spAutoFit/>
          </a:bodyPr>
          <a:lstStyle/>
          <a:p>
            <a:pPr algn="ctr"/>
            <a:r>
              <a:rPr sz="1000" b="1">
                <a:solidFill>
                  <a:srgbClr val="356B88"/>
                </a:solidFill>
                <a:latin typeface="Calibri"/>
              </a:rPr>
              <a:t>loadRemoteCapabilities</a:t>
            </a:r>
          </a:p>
        </p:txBody>
      </p:sp>
      <p:sp>
        <p:nvSpPr>
          <p:cNvPr id="14" name="TextBox 13"/>
          <p:cNvSpPr txBox="1"/>
          <p:nvPr/>
        </p:nvSpPr>
        <p:spPr>
          <a:xfrm>
            <a:off x="3246120" y="3383280"/>
            <a:ext cx="2926080" cy="292608"/>
          </a:xfrm>
          <a:prstGeom prst="rect">
            <a:avLst/>
          </a:prstGeom>
          <a:noFill/>
        </p:spPr>
        <p:txBody>
          <a:bodyPr wrap="square" lIns="0" rIns="0" tIns="0" bIns="0" anchor="t">
            <a:spAutoFit/>
          </a:bodyPr>
          <a:lstStyle/>
          <a:p>
            <a:pPr algn="l"/>
            <a:r>
              <a:rPr sz="1100" b="0">
                <a:solidFill>
                  <a:srgbClr val="141821"/>
                </a:solidFill>
                <a:latin typeface="Calibri"/>
              </a:rPr>
              <a:t>import './Capability'</a:t>
            </a:r>
          </a:p>
        </p:txBody>
      </p:sp>
      <p:sp>
        <p:nvSpPr>
          <p:cNvPr id="15" name="Rounded Rectangle 14"/>
          <p:cNvSpPr/>
          <p:nvPr/>
        </p:nvSpPr>
        <p:spPr>
          <a:xfrm>
            <a:off x="914400" y="403250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32504"/>
            <a:ext cx="2194560" cy="384048"/>
          </a:xfrm>
          <a:prstGeom prst="rect">
            <a:avLst/>
          </a:prstGeom>
          <a:noFill/>
        </p:spPr>
        <p:txBody>
          <a:bodyPr wrap="square" lIns="0" rIns="0" tIns="0" bIns="0" anchor="ctr">
            <a:spAutoFit/>
          </a:bodyPr>
          <a:lstStyle/>
          <a:p>
            <a:pPr algn="ctr"/>
            <a:r>
              <a:rPr sz="1000" b="1">
                <a:solidFill>
                  <a:srgbClr val="C48221"/>
                </a:solidFill>
                <a:latin typeface="Calibri"/>
              </a:rPr>
              <a:t>CapabilityModule</a:t>
            </a:r>
          </a:p>
        </p:txBody>
      </p:sp>
      <p:sp>
        <p:nvSpPr>
          <p:cNvPr id="17" name="TextBox 16"/>
          <p:cNvSpPr txBox="1"/>
          <p:nvPr/>
        </p:nvSpPr>
        <p:spPr>
          <a:xfrm>
            <a:off x="3246120" y="4096512"/>
            <a:ext cx="2926080" cy="292608"/>
          </a:xfrm>
          <a:prstGeom prst="rect">
            <a:avLst/>
          </a:prstGeom>
          <a:noFill/>
        </p:spPr>
        <p:txBody>
          <a:bodyPr wrap="square" lIns="0" rIns="0" tIns="0" bIns="0" anchor="t">
            <a:spAutoFit/>
          </a:bodyPr>
          <a:lstStyle/>
          <a:p>
            <a:pPr algn="l"/>
            <a:r>
              <a:rPr sz="1100" b="0">
                <a:solidFill>
                  <a:srgbClr val="141821"/>
                </a:solidFill>
                <a:latin typeface="Calibri"/>
              </a:rPr>
              <a:t>registerAll(tools, widgets) · source</a:t>
            </a:r>
          </a:p>
        </p:txBody>
      </p:sp>
      <p:sp>
        <p:nvSpPr>
          <p:cNvPr id="18" name="Rounded Rectangle 17"/>
          <p:cNvSpPr/>
          <p:nvPr/>
        </p:nvSpPr>
        <p:spPr>
          <a:xfrm>
            <a:off x="914400" y="474573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45736"/>
            <a:ext cx="2194560" cy="384048"/>
          </a:xfrm>
          <a:prstGeom prst="rect">
            <a:avLst/>
          </a:prstGeom>
          <a:noFill/>
        </p:spPr>
        <p:txBody>
          <a:bodyPr wrap="square" lIns="0" rIns="0" tIns="0" bIns="0" anchor="ctr">
            <a:spAutoFit/>
          </a:bodyPr>
          <a:lstStyle/>
          <a:p>
            <a:pPr algn="ctr"/>
            <a:r>
              <a:rPr sz="1000" b="1">
                <a:solidFill>
                  <a:srgbClr val="2F6F4F"/>
                </a:solidFill>
                <a:latin typeface="Calibri"/>
              </a:rPr>
              <a:t>Registries</a:t>
            </a:r>
          </a:p>
        </p:txBody>
      </p:sp>
      <p:sp>
        <p:nvSpPr>
          <p:cNvPr id="20" name="TextBox 19"/>
          <p:cNvSpPr txBox="1"/>
          <p:nvPr/>
        </p:nvSpPr>
        <p:spPr>
          <a:xfrm>
            <a:off x="3246120" y="4809744"/>
            <a:ext cx="2926080" cy="292608"/>
          </a:xfrm>
          <a:prstGeom prst="rect">
            <a:avLst/>
          </a:prstGeom>
          <a:noFill/>
        </p:spPr>
        <p:txBody>
          <a:bodyPr wrap="square" lIns="0" rIns="0" tIns="0" bIns="0" anchor="t">
            <a:spAutoFit/>
          </a:bodyPr>
          <a:lstStyle/>
          <a:p>
            <a:pPr algn="l"/>
            <a:r>
              <a:rPr sz="1100" b="0">
                <a:solidFill>
                  <a:srgbClr val="141821"/>
                </a:solidFill>
                <a:latin typeface="Calibri"/>
              </a:rPr>
              <a:t>signal() emits → next chat turn</a:t>
            </a:r>
          </a:p>
        </p:txBody>
      </p:sp>
      <p:sp>
        <p:nvSpPr>
          <p:cNvPr id="21" name="Rounded Rectangle 20"/>
          <p:cNvSpPr/>
          <p:nvPr/>
        </p:nvSpPr>
        <p:spPr>
          <a:xfrm>
            <a:off x="914400" y="5458968"/>
            <a:ext cx="2194560" cy="384048"/>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458968"/>
            <a:ext cx="2194560" cy="384048"/>
          </a:xfrm>
          <a:prstGeom prst="rect">
            <a:avLst/>
          </a:prstGeom>
          <a:noFill/>
        </p:spPr>
        <p:txBody>
          <a:bodyPr wrap="square" lIns="0" rIns="0" tIns="0" bIns="0" anchor="ctr">
            <a:spAutoFit/>
          </a:bodyPr>
          <a:lstStyle/>
          <a:p>
            <a:pPr algn="ctr"/>
            <a:r>
              <a:rPr sz="1000" b="1">
                <a:solidFill>
                  <a:srgbClr val="A8332A"/>
                </a:solidFill>
                <a:latin typeface="Calibri"/>
              </a:rPr>
              <a:t>On unload</a:t>
            </a:r>
          </a:p>
        </p:txBody>
      </p:sp>
      <p:sp>
        <p:nvSpPr>
          <p:cNvPr id="23" name="TextBox 22"/>
          <p:cNvSpPr txBox="1"/>
          <p:nvPr/>
        </p:nvSpPr>
        <p:spPr>
          <a:xfrm>
            <a:off x="3246120" y="5522976"/>
            <a:ext cx="2926080" cy="292608"/>
          </a:xfrm>
          <a:prstGeom prst="rect">
            <a:avLst/>
          </a:prstGeom>
          <a:noFill/>
        </p:spPr>
        <p:txBody>
          <a:bodyPr wrap="square" lIns="0" rIns="0" tIns="0" bIns="0" anchor="t">
            <a:spAutoFit/>
          </a:bodyPr>
          <a:lstStyle/>
          <a:p>
            <a:pPr algn="l"/>
            <a:r>
              <a:rPr sz="1100" b="0">
                <a:solidFill>
                  <a:srgbClr val="141821"/>
                </a:solidFill>
                <a:latin typeface="Calibri"/>
              </a:rPr>
              <a:t>removeBySource('remote:&lt;n&gt;') everywhere</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Both Native Federation (esbuild) and webpack Module Federation are first-class — same CapabilityModule shape.</a:t>
            </a:r>
          </a:p>
        </p:txBody>
      </p:sp>
      <p:sp>
        <p:nvSpPr>
          <p:cNvPr id="25" name="TextBox 24"/>
          <p:cNvSpPr txBox="1"/>
          <p:nvPr/>
        </p:nvSpPr>
        <p:spPr>
          <a:xfrm>
            <a:off x="6583680" y="2194560"/>
            <a:ext cx="4967935" cy="274320"/>
          </a:xfrm>
          <a:prstGeom prst="rect">
            <a:avLst/>
          </a:prstGeom>
          <a:noFill/>
        </p:spPr>
        <p:txBody>
          <a:bodyPr wrap="square" lIns="0" rIns="0" tIns="0" bIns="0" anchor="t">
            <a:spAutoFit/>
          </a:bodyPr>
          <a:lstStyle/>
          <a:p>
            <a:pPr algn="l"/>
            <a:r>
              <a:rPr sz="1000" b="1">
                <a:solidFill>
                  <a:srgbClr val="6B7380"/>
                </a:solidFill>
                <a:latin typeface="Calibri"/>
              </a:rPr>
              <a:t>REMOTE</a:t>
            </a:r>
          </a:p>
        </p:txBody>
      </p:sp>
      <p:sp>
        <p:nvSpPr>
          <p:cNvPr id="26" name="Rectangle 25"/>
          <p:cNvSpPr/>
          <p:nvPr/>
        </p:nvSpPr>
        <p:spPr>
          <a:xfrm>
            <a:off x="6583680" y="2514600"/>
            <a:ext cx="49679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606040"/>
            <a:ext cx="4693615" cy="1280160"/>
          </a:xfrm>
          <a:prstGeom prst="rect">
            <a:avLst/>
          </a:prstGeom>
          <a:noFill/>
        </p:spPr>
        <p:txBody>
          <a:bodyPr wrap="square" lIns="0" rIns="0" tIns="0" bIns="0">
            <a:spAutoFit/>
          </a:bodyPr>
          <a:lstStyle/>
          <a:p>
            <a:pPr>
              <a:spcAft>
                <a:spcPts val="0"/>
              </a:spcAft>
            </a:pPr>
            <a:r>
              <a:rPr sz="1100">
                <a:solidFill>
                  <a:srgbClr val="E2E8F0"/>
                </a:solidFill>
                <a:latin typeface="Menlo"/>
              </a:rPr>
              <a:t>// remote/src/app/capability.ts</a:t>
            </a:r>
          </a:p>
          <a:p>
            <a:pPr>
              <a:spcAft>
                <a:spcPts val="0"/>
              </a:spcAft>
            </a:pPr>
            <a:r>
              <a:rPr sz="1100">
                <a:solidFill>
                  <a:srgbClr val="E2E8F0"/>
                </a:solidFill>
                <a:latin typeface="Menlo"/>
              </a:rPr>
              <a:t>export default defineCapabilityModule({</a:t>
            </a:r>
          </a:p>
          <a:p>
            <a:pPr>
              <a:spcAft>
                <a:spcPts val="0"/>
              </a:spcAft>
            </a:pPr>
            <a:r>
              <a:rPr sz="1100">
                <a:solidFill>
                  <a:srgbClr val="E2E8F0"/>
                </a:solidFill>
                <a:latin typeface="Menlo"/>
              </a:rPr>
              <a:t>  tools:   [bookFlight, cancelFlight],</a:t>
            </a:r>
          </a:p>
          <a:p>
            <a:pPr>
              <a:spcAft>
                <a:spcPts val="0"/>
              </a:spcAft>
            </a:pPr>
            <a:r>
              <a:rPr sz="1100">
                <a:solidFill>
                  <a:srgbClr val="E2E8F0"/>
                </a:solidFill>
                <a:latin typeface="Menlo"/>
              </a:rPr>
              <a:t>  widgets: [flightCard],</a:t>
            </a:r>
          </a:p>
          <a:p>
            <a:pPr>
              <a:spcAft>
                <a:spcPts val="0"/>
              </a:spcAft>
            </a:pPr>
            <a:r>
              <a:rPr sz="1100">
                <a:solidFill>
                  <a:srgbClr val="E2E8F0"/>
                </a:solidFill>
                <a:latin typeface="Menlo"/>
              </a:rPr>
              <a:t>});</a:t>
            </a:r>
          </a:p>
        </p:txBody>
      </p:sp>
      <p:sp>
        <p:nvSpPr>
          <p:cNvPr id="28" name="TextBox 27"/>
          <p:cNvSpPr txBox="1"/>
          <p:nvPr/>
        </p:nvSpPr>
        <p:spPr>
          <a:xfrm>
            <a:off x="6583680" y="4069080"/>
            <a:ext cx="4967935" cy="274320"/>
          </a:xfrm>
          <a:prstGeom prst="rect">
            <a:avLst/>
          </a:prstGeom>
          <a:noFill/>
        </p:spPr>
        <p:txBody>
          <a:bodyPr wrap="square" lIns="0" rIns="0" tIns="0" bIns="0" anchor="t">
            <a:spAutoFit/>
          </a:bodyPr>
          <a:lstStyle/>
          <a:p>
            <a:pPr algn="l"/>
            <a:r>
              <a:rPr sz="1000" b="1">
                <a:solidFill>
                  <a:srgbClr val="6B7380"/>
                </a:solidFill>
                <a:latin typeface="Calibri"/>
              </a:rPr>
              <a:t>HOST</a:t>
            </a:r>
          </a:p>
        </p:txBody>
      </p:sp>
      <p:sp>
        <p:nvSpPr>
          <p:cNvPr id="29" name="Rectangle 28"/>
          <p:cNvSpPr/>
          <p:nvPr/>
        </p:nvSpPr>
        <p:spPr>
          <a:xfrm>
            <a:off x="6583680" y="4389120"/>
            <a:ext cx="496793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480560"/>
            <a:ext cx="4693615" cy="118872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mfe: {</a:t>
            </a:r>
          </a:p>
          <a:p>
            <a:pPr>
              <a:spcAft>
                <a:spcPts val="0"/>
              </a:spcAft>
            </a:pPr>
            <a:r>
              <a:rPr sz="1100">
                <a:solidFill>
                  <a:srgbClr val="E2E8F0"/>
                </a:solidFill>
                <a:latin typeface="Menlo"/>
              </a:rPr>
              <a:t>    federation: 'native',</a:t>
            </a:r>
          </a:p>
          <a:p>
            <a:pPr>
              <a:spcAft>
                <a:spcPts val="0"/>
              </a:spcAft>
            </a:pPr>
            <a:r>
              <a:rPr sz="1100">
                <a:solidFill>
                  <a:srgbClr val="E2E8F0"/>
                </a:solidFill>
                <a:latin typeface="Menlo"/>
              </a:rPr>
              <a:t>    remotes: [{ remoteName: 'bookings',</a:t>
            </a:r>
          </a:p>
          <a:p>
            <a:pPr>
              <a:spcAft>
                <a:spcPts val="0"/>
              </a:spcAft>
            </a:pPr>
            <a:r>
              <a:rPr sz="1100">
                <a:solidFill>
                  <a:srgbClr val="E2E8F0"/>
                </a:solidFill>
                <a:latin typeface="Menlo"/>
              </a:rPr>
              <a:t>                remoteEntry: '/remoteEntry.json'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1" name="TextBox 30"/>
          <p:cNvSpPr txBox="1"/>
          <p:nvPr/>
        </p:nvSpPr>
        <p:spPr>
          <a:xfrm>
            <a:off x="6583680" y="5852159"/>
            <a:ext cx="4967935" cy="365760"/>
          </a:xfrm>
          <a:prstGeom prst="rect">
            <a:avLst/>
          </a:prstGeom>
          <a:noFill/>
        </p:spPr>
        <p:txBody>
          <a:bodyPr wrap="square" lIns="0" rIns="0" tIns="0" bIns="0" anchor="t">
            <a:spAutoFit/>
          </a:bodyPr>
          <a:lstStyle/>
          <a:p>
            <a:pPr algn="l"/>
            <a:r>
              <a:rPr sz="1000" b="0">
                <a:solidFill>
                  <a:srgbClr val="6B7380"/>
                </a:solidFill>
                <a:latin typeface="Calibri"/>
              </a:rPr>
              <a:t>Or: provideSpringBootMfeRegistry({ url }) for runtime discovery.</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4 · Per-persona entitlement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Vendor Reviewer must only see read + tag tools — never markPrivileged, never createProductionSet. The agent shouldn't even consider tools the active user can't invoke. Library handles input + output gating; server still verifies.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THREE LAYERS OF RESPONSIBILITY</a:t>
            </a:r>
          </a:p>
        </p:txBody>
      </p:sp>
      <p:sp>
        <p:nvSpPr>
          <p:cNvPr id="9" name="Rectangle 8"/>
          <p:cNvSpPr/>
          <p:nvPr/>
        </p:nvSpPr>
        <p:spPr>
          <a:xfrm>
            <a:off x="914400" y="2697480"/>
            <a:ext cx="45720" cy="1005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43200"/>
            <a:ext cx="5212080" cy="274320"/>
          </a:xfrm>
          <a:prstGeom prst="rect">
            <a:avLst/>
          </a:prstGeom>
          <a:noFill/>
        </p:spPr>
        <p:txBody>
          <a:bodyPr wrap="square" lIns="0" rIns="0" tIns="0" bIns="0" anchor="t">
            <a:spAutoFit/>
          </a:bodyPr>
          <a:lstStyle/>
          <a:p>
            <a:pPr algn="l"/>
            <a:r>
              <a:rPr sz="1100" b="1">
                <a:solidFill>
                  <a:srgbClr val="1E3A5F"/>
                </a:solidFill>
                <a:latin typeface="Calibri"/>
              </a:rPr>
              <a:t>LIBRARY</a:t>
            </a:r>
          </a:p>
        </p:txBody>
      </p:sp>
      <p:sp>
        <p:nvSpPr>
          <p:cNvPr id="11" name="TextBox 10"/>
          <p:cNvSpPr txBox="1"/>
          <p:nvPr/>
        </p:nvSpPr>
        <p:spPr>
          <a:xfrm>
            <a:off x="1097280" y="3063240"/>
            <a:ext cx="5212080" cy="640080"/>
          </a:xfrm>
          <a:prstGeom prst="rect">
            <a:avLst/>
          </a:prstGeom>
          <a:noFill/>
        </p:spPr>
        <p:txBody>
          <a:bodyPr wrap="square" lIns="0" rIns="0" tIns="0" bIns="0" anchor="t">
            <a:spAutoFit/>
          </a:bodyPr>
          <a:lstStyle/>
          <a:p>
            <a:pPr algn="l"/>
            <a:r>
              <a:rPr sz="1000" b="0">
                <a:solidFill>
                  <a:srgbClr val="141821"/>
                </a:solidFill>
                <a:latin typeface="Calibri"/>
              </a:rPr>
              <a:t>Filters list() / get() / signal() reads through your scope policy. Tools the persona can't invoke never reach the LLM.</a:t>
            </a:r>
          </a:p>
        </p:txBody>
      </p:sp>
      <p:sp>
        <p:nvSpPr>
          <p:cNvPr id="12" name="Rectangle 11"/>
          <p:cNvSpPr/>
          <p:nvPr/>
        </p:nvSpPr>
        <p:spPr>
          <a:xfrm>
            <a:off x="914400" y="3794760"/>
            <a:ext cx="45720" cy="100584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5212080" cy="274320"/>
          </a:xfrm>
          <a:prstGeom prst="rect">
            <a:avLst/>
          </a:prstGeom>
          <a:noFill/>
        </p:spPr>
        <p:txBody>
          <a:bodyPr wrap="square" lIns="0" rIns="0" tIns="0" bIns="0" anchor="t">
            <a:spAutoFit/>
          </a:bodyPr>
          <a:lstStyle/>
          <a:p>
            <a:pPr algn="l"/>
            <a:r>
              <a:rPr sz="1100" b="1">
                <a:solidFill>
                  <a:srgbClr val="356B88"/>
                </a:solidFill>
                <a:latin typeface="Calibri"/>
              </a:rPr>
              <a:t>APPLICATION</a:t>
            </a:r>
          </a:p>
        </p:txBody>
      </p:sp>
      <p:sp>
        <p:nvSpPr>
          <p:cNvPr id="14" name="TextBox 13"/>
          <p:cNvSpPr txBox="1"/>
          <p:nvPr/>
        </p:nvSpPr>
        <p:spPr>
          <a:xfrm>
            <a:off x="1097280" y="4160520"/>
            <a:ext cx="5212080" cy="640080"/>
          </a:xfrm>
          <a:prstGeom prst="rect">
            <a:avLst/>
          </a:prstGeom>
          <a:noFill/>
        </p:spPr>
        <p:txBody>
          <a:bodyPr wrap="square" lIns="0" rIns="0" tIns="0" bIns="0" anchor="t">
            <a:spAutoFit/>
          </a:bodyPr>
          <a:lstStyle/>
          <a:p>
            <a:pPr algn="l"/>
            <a:r>
              <a:rPr sz="1000" b="0">
                <a:solidFill>
                  <a:srgbClr val="141821"/>
                </a:solidFill>
                <a:latin typeface="Calibri"/>
              </a:rPr>
              <a:t>Your PersonaService decides which entries each role is allowed to read. The library calls your predicate with each RegistryEntry.</a:t>
            </a:r>
          </a:p>
        </p:txBody>
      </p:sp>
      <p:sp>
        <p:nvSpPr>
          <p:cNvPr id="15" name="Rectangle 14"/>
          <p:cNvSpPr/>
          <p:nvPr/>
        </p:nvSpPr>
        <p:spPr>
          <a:xfrm>
            <a:off x="914400" y="4892040"/>
            <a:ext cx="45720"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37760"/>
            <a:ext cx="5212080" cy="274320"/>
          </a:xfrm>
          <a:prstGeom prst="rect">
            <a:avLst/>
          </a:prstGeom>
          <a:noFill/>
        </p:spPr>
        <p:txBody>
          <a:bodyPr wrap="square" lIns="0" rIns="0" tIns="0" bIns="0" anchor="t">
            <a:spAutoFit/>
          </a:bodyPr>
          <a:lstStyle/>
          <a:p>
            <a:pPr algn="l"/>
            <a:r>
              <a:rPr sz="1100" b="1">
                <a:solidFill>
                  <a:srgbClr val="C48221"/>
                </a:solidFill>
                <a:latin typeface="Calibri"/>
              </a:rPr>
              <a:t>AGENT SERVER</a:t>
            </a:r>
          </a:p>
        </p:txBody>
      </p:sp>
      <p:sp>
        <p:nvSpPr>
          <p:cNvPr id="17" name="TextBox 16"/>
          <p:cNvSpPr txBox="1"/>
          <p:nvPr/>
        </p:nvSpPr>
        <p:spPr>
          <a:xfrm>
            <a:off x="1097280" y="5257800"/>
            <a:ext cx="5212080" cy="640080"/>
          </a:xfrm>
          <a:prstGeom prst="rect">
            <a:avLst/>
          </a:prstGeom>
          <a:noFill/>
        </p:spPr>
        <p:txBody>
          <a:bodyPr wrap="square" lIns="0" rIns="0" tIns="0" bIns="0" anchor="t">
            <a:spAutoFit/>
          </a:bodyPr>
          <a:lstStyle/>
          <a:p>
            <a:pPr algn="l"/>
            <a:r>
              <a:rPr sz="1000" b="0">
                <a:solidFill>
                  <a:srgbClr val="141821"/>
                </a:solidFill>
                <a:latin typeface="Calibri"/>
              </a:rPr>
              <a:t>Re-verifies entitlement from the trusted session. Client-claimed personas are an UX hint, not a security boundary.</a:t>
            </a:r>
          </a:p>
        </p:txBody>
      </p:sp>
      <p:sp>
        <p:nvSpPr>
          <p:cNvPr id="18" name="TextBox 17"/>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getRaw / listRaw bypass the policy on purpose — for governance UIs that show the unfiltered set.</a:t>
            </a:r>
          </a:p>
        </p:txBody>
      </p:sp>
      <p:sp>
        <p:nvSpPr>
          <p:cNvPr id="19" name="TextBox 18"/>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 (1.1.0)</a:t>
            </a:r>
          </a:p>
        </p:txBody>
      </p:sp>
      <p:sp>
        <p:nvSpPr>
          <p:cNvPr id="20" name="Rectangle 19"/>
          <p:cNvSpPr/>
          <p:nvPr/>
        </p:nvSpPr>
        <p:spPr>
          <a:xfrm>
            <a:off x="6766560" y="2606040"/>
            <a:ext cx="4785055" cy="21945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697480"/>
            <a:ext cx="4510735" cy="2011680"/>
          </a:xfrm>
          <a:prstGeom prst="rect">
            <a:avLst/>
          </a:prstGeom>
          <a:noFill/>
        </p:spPr>
        <p:txBody>
          <a:bodyPr wrap="square" lIns="0" rIns="0" tIns="0" bIns="0">
            <a:spAutoFit/>
          </a:bodyPr>
          <a:lstStyle/>
          <a:p>
            <a:pPr>
              <a:spcAft>
                <a:spcPts val="0"/>
              </a:spcAft>
            </a:pPr>
            <a:r>
              <a:rPr sz="1100">
                <a:solidFill>
                  <a:srgbClr val="E2E8F0"/>
                </a:solidFill>
                <a:latin typeface="Menlo"/>
              </a:rPr>
              <a:t>function installPersonaScopePolicy() {</a:t>
            </a:r>
          </a:p>
          <a:p>
            <a:pPr>
              <a:spcAft>
                <a:spcPts val="0"/>
              </a:spcAft>
            </a:pPr>
            <a:r>
              <a:rPr sz="1100">
                <a:solidFill>
                  <a:srgbClr val="E2E8F0"/>
                </a:solidFill>
                <a:latin typeface="Menlo"/>
              </a:rPr>
              <a:t>  return 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const tools   = inject(ToolRegistry);</a:t>
            </a:r>
          </a:p>
          <a:p>
            <a:pPr>
              <a:spcAft>
                <a:spcPts val="0"/>
              </a:spcAft>
            </a:pPr>
            <a:r>
              <a:rPr sz="1100">
                <a:solidFill>
                  <a:srgbClr val="E2E8F0"/>
                </a:solidFill>
                <a:latin typeface="Menlo"/>
              </a:rPr>
              <a:t>    tools.setScopePolicy((entry)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2" name="TextBox 21"/>
          <p:cNvSpPr txBox="1"/>
          <p:nvPr/>
        </p:nvSpPr>
        <p:spPr>
          <a:xfrm>
            <a:off x="6766560" y="4937760"/>
            <a:ext cx="4785055" cy="274320"/>
          </a:xfrm>
          <a:prstGeom prst="rect">
            <a:avLst/>
          </a:prstGeom>
          <a:noFill/>
        </p:spPr>
        <p:txBody>
          <a:bodyPr wrap="square" lIns="0" rIns="0" tIns="0" bIns="0" anchor="t">
            <a:spAutoFit/>
          </a:bodyPr>
          <a:lstStyle/>
          <a:p>
            <a:pPr algn="l"/>
            <a:r>
              <a:rPr sz="1000" b="1">
                <a:solidFill>
                  <a:srgbClr val="6B7380"/>
                </a:solidFill>
                <a:latin typeface="Calibri"/>
              </a:rPr>
              <a:t>WHAT YOU GET</a:t>
            </a:r>
          </a:p>
        </p:txBody>
      </p:sp>
      <p:sp>
        <p:nvSpPr>
          <p:cNvPr id="23" name="TextBox 22"/>
          <p:cNvSpPr txBox="1"/>
          <p:nvPr/>
        </p:nvSpPr>
        <p:spPr>
          <a:xfrm>
            <a:off x="6766560" y="5257800"/>
            <a:ext cx="4785055" cy="109728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Sidebar tool-count drops live on persona switch</a:t>
            </a:r>
          </a:p>
          <a:p>
            <a:pPr>
              <a:spcAft>
                <a:spcPts val="600"/>
              </a:spcAft>
            </a:pPr>
            <a:r>
              <a:rPr sz="1100" b="1">
                <a:solidFill>
                  <a:srgbClr val="2F6F4F"/>
                </a:solidFill>
                <a:latin typeface="Calibri"/>
              </a:rPr>
              <a:t>✓  </a:t>
            </a:r>
            <a:r>
              <a:rPr sz="1100">
                <a:solidFill>
                  <a:srgbClr val="141821"/>
                </a:solidFill>
                <a:latin typeface="Calibri"/>
              </a:rPr>
              <a:t>Same predicate works on every registry</a:t>
            </a:r>
          </a:p>
          <a:p>
            <a:pPr>
              <a:spcAft>
                <a:spcPts val="600"/>
              </a:spcAft>
            </a:pPr>
            <a:r>
              <a:rPr sz="1100" b="1">
                <a:solidFill>
                  <a:srgbClr val="2F6F4F"/>
                </a:solidFill>
                <a:latin typeface="Calibri"/>
              </a:rPr>
              <a:t>✓  </a:t>
            </a:r>
            <a:r>
              <a:rPr sz="1100">
                <a:solidFill>
                  <a:srgbClr val="141821"/>
                </a:solidFill>
                <a:latin typeface="Calibri"/>
              </a:rPr>
              <a:t>Composes with use case 7 (keyword filter)</a:t>
            </a:r>
          </a:p>
        </p:txBody>
      </p:sp>
      <p:sp>
        <p:nvSpPr>
          <p:cNvPr id="24" name="Rectangle 2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6" name="TextBox 2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7" name="TextBox 2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5 · Backend swap (AG-UI ↔ Hashbrown ↔ A2UI)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v1 ships against AG-UI for SSE-streaming. v2 you want Hashbrown for client-side LLM. The chat shell never sees the protocol — only the AgenticBackend interface.</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INTERFACE · THREE ADAPTERS</a:t>
            </a:r>
          </a:p>
        </p:txBody>
      </p:sp>
      <p:sp>
        <p:nvSpPr>
          <p:cNvPr id="9" name="Rounded Rectangle 8"/>
          <p:cNvSpPr/>
          <p:nvPr/>
        </p:nvSpPr>
        <p:spPr>
          <a:xfrm>
            <a:off x="914400" y="2788920"/>
            <a:ext cx="170688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1706880" cy="50292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11" name="Rounded Rectangle 10"/>
          <p:cNvSpPr/>
          <p:nvPr/>
        </p:nvSpPr>
        <p:spPr>
          <a:xfrm>
            <a:off x="2712720" y="2788920"/>
            <a:ext cx="170688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2720" y="2788920"/>
            <a:ext cx="1706880" cy="50292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13" name="Rounded Rectangle 12"/>
          <p:cNvSpPr/>
          <p:nvPr/>
        </p:nvSpPr>
        <p:spPr>
          <a:xfrm>
            <a:off x="4511040" y="2788920"/>
            <a:ext cx="1706880" cy="50292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2788920"/>
            <a:ext cx="1706880" cy="50292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15" name="Rounded Rectangle 14"/>
          <p:cNvSpPr/>
          <p:nvPr/>
        </p:nvSpPr>
        <p:spPr>
          <a:xfrm>
            <a:off x="914400" y="3840480"/>
            <a:ext cx="5303520" cy="50292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0480"/>
            <a:ext cx="5303520" cy="502920"/>
          </a:xfrm>
          <a:prstGeom prst="rect">
            <a:avLst/>
          </a:prstGeom>
          <a:noFill/>
        </p:spPr>
        <p:txBody>
          <a:bodyPr wrap="square" lIns="0" rIns="0" tIns="0" bIns="0" anchor="ctr">
            <a:spAutoFit/>
          </a:bodyPr>
          <a:lstStyle/>
          <a:p>
            <a:pPr algn="ctr"/>
            <a:r>
              <a:rPr sz="1100" b="1">
                <a:solidFill>
                  <a:srgbClr val="F7F7F5"/>
                </a:solidFill>
                <a:latin typeface="Calibri"/>
              </a:rPr>
              <a:t>AgenticBackend.run(input) → AsyncIterable&lt;AgenticEvent&gt;</a:t>
            </a:r>
          </a:p>
        </p:txBody>
      </p:sp>
      <p:sp>
        <p:nvSpPr>
          <p:cNvPr id="17" name="Rounded Rectangle 16"/>
          <p:cNvSpPr/>
          <p:nvPr/>
        </p:nvSpPr>
        <p:spPr>
          <a:xfrm>
            <a:off x="914400" y="4892040"/>
            <a:ext cx="530352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92040"/>
            <a:ext cx="5303520" cy="502920"/>
          </a:xfrm>
          <a:prstGeom prst="rect">
            <a:avLst/>
          </a:prstGeom>
          <a:noFill/>
        </p:spPr>
        <p:txBody>
          <a:bodyPr wrap="square" lIns="0" rIns="0" tIns="0" bIns="0" anchor="ctr">
            <a:spAutoFit/>
          </a:bodyPr>
          <a:lstStyle/>
          <a:p>
            <a:pPr algn="ctr"/>
            <a:r>
              <a:rPr sz="1100" b="1">
                <a:solidFill>
                  <a:srgbClr val="1E3A5F"/>
                </a:solidFill>
                <a:latin typeface="Calibri"/>
              </a:rPr>
              <a:t>&lt;mvk-chat-shell&gt;  ·  unchanged code, swap providers</a:t>
            </a:r>
          </a:p>
        </p:txBody>
      </p:sp>
      <p:cxnSp>
        <p:nvCxnSpPr>
          <p:cNvPr id="19" name="Connector 18"/>
          <p:cNvCxnSpPr/>
          <p:nvPr/>
        </p:nvCxnSpPr>
        <p:spPr>
          <a:xfrm>
            <a:off x="176784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56616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6448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66160.0" y="4343400"/>
            <a:ext cx="1.0" cy="5486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Each adapter announces capability flags (clientTools / generativeUi / uiActions) — the shell feature-detects.</a:t>
            </a:r>
          </a:p>
        </p:txBody>
      </p:sp>
      <p:sp>
        <p:nvSpPr>
          <p:cNvPr id="24" name="TextBox 23"/>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BOOT-TIME PICK</a:t>
            </a:r>
          </a:p>
        </p:txBody>
      </p:sp>
      <p:sp>
        <p:nvSpPr>
          <p:cNvPr id="25" name="Rectangle 24"/>
          <p:cNvSpPr/>
          <p:nvPr/>
        </p:nvSpPr>
        <p:spPr>
          <a:xfrm>
            <a:off x="6766560" y="2606040"/>
            <a:ext cx="4785055" cy="1280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697480"/>
            <a:ext cx="4510735" cy="109728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backend: provideAgUiBackend({</a:t>
            </a:r>
          </a:p>
          <a:p>
            <a:pPr>
              <a:spcAft>
                <a:spcPts val="0"/>
              </a:spcAft>
            </a:pPr>
            <a:r>
              <a:rPr sz="1100">
                <a:solidFill>
                  <a:srgbClr val="E2E8F0"/>
                </a:solidFill>
                <a:latin typeface="Menlo"/>
              </a:rPr>
              <a:t>    url: '/api/ag-ui',</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7" name="TextBox 26"/>
          <p:cNvSpPr txBox="1"/>
          <p:nvPr/>
        </p:nvSpPr>
        <p:spPr>
          <a:xfrm>
            <a:off x="6766560" y="4023360"/>
            <a:ext cx="4785055" cy="274320"/>
          </a:xfrm>
          <a:prstGeom prst="rect">
            <a:avLst/>
          </a:prstGeom>
          <a:noFill/>
        </p:spPr>
        <p:txBody>
          <a:bodyPr wrap="square" lIns="0" rIns="0" tIns="0" bIns="0" anchor="t">
            <a:spAutoFit/>
          </a:bodyPr>
          <a:lstStyle/>
          <a:p>
            <a:pPr algn="l"/>
            <a:r>
              <a:rPr sz="1000" b="1">
                <a:solidFill>
                  <a:srgbClr val="6B7380"/>
                </a:solidFill>
                <a:latin typeface="Calibri"/>
              </a:rPr>
              <a:t>RUNTIME SWITCH (DEBUG)</a:t>
            </a:r>
          </a:p>
        </p:txBody>
      </p:sp>
      <p:sp>
        <p:nvSpPr>
          <p:cNvPr id="28" name="Rectangle 27"/>
          <p:cNvSpPr/>
          <p:nvPr/>
        </p:nvSpPr>
        <p:spPr>
          <a:xfrm>
            <a:off x="6766560" y="4343400"/>
            <a:ext cx="478505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4434840"/>
            <a:ext cx="4510735" cy="1188720"/>
          </a:xfrm>
          <a:prstGeom prst="rect">
            <a:avLst/>
          </a:prstGeom>
          <a:noFill/>
        </p:spPr>
        <p:txBody>
          <a:bodyPr wrap="square" lIns="0" rIns="0" tIns="0" bIns="0">
            <a:spAutoFit/>
          </a:bodyPr>
          <a:lstStyle/>
          <a:p>
            <a:pPr>
              <a:spcAft>
                <a:spcPts val="0"/>
              </a:spcAft>
            </a:pPr>
            <a:r>
              <a:rPr sz="1100">
                <a:solidFill>
                  <a:srgbClr val="E2E8F0"/>
                </a:solidFill>
                <a:latin typeface="Menlo"/>
              </a:rPr>
              <a:t>const backends = inject(BackendRegistry);</a:t>
            </a:r>
          </a:p>
          <a:p>
            <a:pPr>
              <a:spcAft>
                <a:spcPts val="0"/>
              </a:spcAft>
            </a:pPr>
            <a:r>
              <a:rPr sz="1100">
                <a:solidFill>
                  <a:srgbClr val="E2E8F0"/>
                </a:solidFill>
                <a:latin typeface="Menlo"/>
              </a:rPr>
              <a:t>backends.register({</a:t>
            </a:r>
          </a:p>
          <a:p>
            <a:pPr>
              <a:spcAft>
                <a:spcPts val="0"/>
              </a:spcAft>
            </a:pPr>
            <a:r>
              <a:rPr sz="1100">
                <a:solidFill>
                  <a:srgbClr val="E2E8F0"/>
                </a:solidFill>
                <a:latin typeface="Menlo"/>
              </a:rPr>
              <a:t>  id: 'ag-ui',     factory: () =&gt; agUi,</a:t>
            </a:r>
          </a:p>
          <a:p>
            <a:pPr>
              <a:spcAft>
                <a:spcPts val="0"/>
              </a:spcAft>
            </a:pPr>
            <a:r>
              <a:rPr sz="1100">
                <a:solidFill>
                  <a:srgbClr val="E2E8F0"/>
                </a:solidFill>
                <a:latin typeface="Menlo"/>
              </a:rPr>
              <a:t>  label: 'AG-UI · SSE',</a:t>
            </a:r>
          </a:p>
          <a:p>
            <a:pPr>
              <a:spcAft>
                <a:spcPts val="0"/>
              </a:spcAft>
            </a:pPr>
            <a:r>
              <a:rPr sz="1100">
                <a:solidFill>
                  <a:srgbClr val="E2E8F0"/>
                </a:solidFill>
                <a:latin typeface="Menlo"/>
              </a:rPr>
              <a:t>});</a:t>
            </a:r>
          </a:p>
          <a:p>
            <a:pPr>
              <a:spcAft>
                <a:spcPts val="0"/>
              </a:spcAft>
            </a:pPr>
            <a:r>
              <a:rPr sz="1100">
                <a:solidFill>
                  <a:srgbClr val="E2E8F0"/>
                </a:solidFill>
                <a:latin typeface="Menlo"/>
              </a:rPr>
              <a:t>backends.register({ id: 'hashbrown', ...});</a:t>
            </a:r>
          </a:p>
        </p:txBody>
      </p:sp>
      <p:sp>
        <p:nvSpPr>
          <p:cNvPr id="30" name="TextBox 29"/>
          <p:cNvSpPr txBox="1"/>
          <p:nvPr/>
        </p:nvSpPr>
        <p:spPr>
          <a:xfrm>
            <a:off x="6766560" y="5852160"/>
            <a:ext cx="4785055" cy="548640"/>
          </a:xfrm>
          <a:prstGeom prst="rect">
            <a:avLst/>
          </a:prstGeom>
          <a:noFill/>
        </p:spPr>
        <p:txBody>
          <a:bodyPr wrap="square" lIns="0" rIns="0" tIns="0" bIns="0" anchor="t">
            <a:spAutoFit/>
          </a:bodyPr>
          <a:lstStyle/>
          <a:p>
            <a:pPr algn="l"/>
            <a:r>
              <a:rPr sz="1000" b="0">
                <a:solidFill>
                  <a:srgbClr val="6B7380"/>
                </a:solidFill>
                <a:latin typeface="Calibri"/>
              </a:rPr>
              <a:t>Conformance suite in /testing runs the same tests against every adapter — drift fails CI.</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6 · Multi-agent orchestration · sticky routing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chat panel for the whole matter. Custodian question → collection specialist; privilege flag → review; Bates assignment → production. Routing stays sticky so users can say 'what about that one?' without naming a specialist.</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ROUTING LOOP</a:t>
            </a:r>
          </a:p>
        </p:txBody>
      </p:sp>
      <p:sp>
        <p:nvSpPr>
          <p:cNvPr id="9" name="Rounded Rectangle 8"/>
          <p:cNvSpPr/>
          <p:nvPr/>
        </p:nvSpPr>
        <p:spPr>
          <a:xfrm>
            <a:off x="914400" y="269748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194560" cy="384048"/>
          </a:xfrm>
          <a:prstGeom prst="rect">
            <a:avLst/>
          </a:prstGeom>
          <a:noFill/>
        </p:spPr>
        <p:txBody>
          <a:bodyPr wrap="square" lIns="0" rIns="0" tIns="0" bIns="0" anchor="ctr">
            <a:spAutoFit/>
          </a:bodyPr>
          <a:lstStyle/>
          <a:p>
            <a:pPr algn="ctr"/>
            <a:r>
              <a:rPr sz="1000" b="1">
                <a:solidFill>
                  <a:srgbClr val="1E3A5F"/>
                </a:solidFill>
                <a:latin typeface="Calibri"/>
              </a:rPr>
              <a:t>User turn</a:t>
            </a:r>
          </a:p>
        </p:txBody>
      </p:sp>
      <p:sp>
        <p:nvSpPr>
          <p:cNvPr id="11" name="TextBox 10"/>
          <p:cNvSpPr txBox="1"/>
          <p:nvPr/>
        </p:nvSpPr>
        <p:spPr>
          <a:xfrm>
            <a:off x="3246120" y="2761488"/>
            <a:ext cx="3108960" cy="292608"/>
          </a:xfrm>
          <a:prstGeom prst="rect">
            <a:avLst/>
          </a:prstGeom>
          <a:noFill/>
        </p:spPr>
        <p:txBody>
          <a:bodyPr wrap="square" lIns="0" rIns="0" tIns="0" bIns="0" anchor="t">
            <a:spAutoFit/>
          </a:bodyPr>
          <a:lstStyle/>
          <a:p>
            <a:pPr algn="l"/>
            <a:r>
              <a:rPr sz="1100" b="0">
                <a:solidFill>
                  <a:srgbClr val="141821"/>
                </a:solidFill>
                <a:latin typeface="Calibri"/>
              </a:rPr>
              <a:t>free text into the chat shell</a:t>
            </a:r>
          </a:p>
        </p:txBody>
      </p:sp>
      <p:sp>
        <p:nvSpPr>
          <p:cNvPr id="12" name="Rounded Rectangle 11"/>
          <p:cNvSpPr/>
          <p:nvPr/>
        </p:nvSpPr>
        <p:spPr>
          <a:xfrm>
            <a:off x="914400" y="341071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0712"/>
            <a:ext cx="2194560" cy="384048"/>
          </a:xfrm>
          <a:prstGeom prst="rect">
            <a:avLst/>
          </a:prstGeom>
          <a:noFill/>
        </p:spPr>
        <p:txBody>
          <a:bodyPr wrap="square" lIns="0" rIns="0" tIns="0" bIns="0" anchor="ctr">
            <a:spAutoFit/>
          </a:bodyPr>
          <a:lstStyle/>
          <a:p>
            <a:pPr algn="ctr"/>
            <a:r>
              <a:rPr sz="1000" b="1">
                <a:solidFill>
                  <a:srgbClr val="356B88"/>
                </a:solidFill>
                <a:latin typeface="Calibri"/>
              </a:rPr>
              <a:t>Orchestrator</a:t>
            </a:r>
          </a:p>
        </p:txBody>
      </p:sp>
      <p:sp>
        <p:nvSpPr>
          <p:cNvPr id="14" name="TextBox 13"/>
          <p:cNvSpPr txBox="1"/>
          <p:nvPr/>
        </p:nvSpPr>
        <p:spPr>
          <a:xfrm>
            <a:off x="3246120" y="3474720"/>
            <a:ext cx="3108960" cy="292608"/>
          </a:xfrm>
          <a:prstGeom prst="rect">
            <a:avLst/>
          </a:prstGeom>
          <a:noFill/>
        </p:spPr>
        <p:txBody>
          <a:bodyPr wrap="square" lIns="0" rIns="0" tIns="0" bIns="0" anchor="t">
            <a:spAutoFit/>
          </a:bodyPr>
          <a:lstStyle/>
          <a:p>
            <a:pPr algn="l"/>
            <a:r>
              <a:rPr sz="1100" b="0">
                <a:solidFill>
                  <a:srgbClr val="141821"/>
                </a:solidFill>
                <a:latin typeface="Calibri"/>
              </a:rPr>
              <a:t>classifies via LLM · descriptions + examples</a:t>
            </a:r>
          </a:p>
        </p:txBody>
      </p:sp>
      <p:sp>
        <p:nvSpPr>
          <p:cNvPr id="15" name="Rounded Rectangle 14"/>
          <p:cNvSpPr/>
          <p:nvPr/>
        </p:nvSpPr>
        <p:spPr>
          <a:xfrm>
            <a:off x="914400" y="412394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23944"/>
            <a:ext cx="2194560" cy="384048"/>
          </a:xfrm>
          <a:prstGeom prst="rect">
            <a:avLst/>
          </a:prstGeom>
          <a:noFill/>
        </p:spPr>
        <p:txBody>
          <a:bodyPr wrap="square" lIns="0" rIns="0" tIns="0" bIns="0" anchor="ctr">
            <a:spAutoFit/>
          </a:bodyPr>
          <a:lstStyle/>
          <a:p>
            <a:pPr algn="ctr"/>
            <a:r>
              <a:rPr sz="1000" b="1">
                <a:solidFill>
                  <a:srgbClr val="C48221"/>
                </a:solidFill>
                <a:latin typeface="Calibri"/>
              </a:rPr>
              <a:t>ThreadStateStore</a:t>
            </a:r>
          </a:p>
        </p:txBody>
      </p:sp>
      <p:sp>
        <p:nvSpPr>
          <p:cNvPr id="17" name="TextBox 16"/>
          <p:cNvSpPr txBox="1"/>
          <p:nvPr/>
        </p:nvSpPr>
        <p:spPr>
          <a:xfrm>
            <a:off x="3246120" y="4187952"/>
            <a:ext cx="3108960" cy="292608"/>
          </a:xfrm>
          <a:prstGeom prst="rect">
            <a:avLst/>
          </a:prstGeom>
          <a:noFill/>
        </p:spPr>
        <p:txBody>
          <a:bodyPr wrap="square" lIns="0" rIns="0" tIns="0" bIns="0" anchor="t">
            <a:spAutoFit/>
          </a:bodyPr>
          <a:lstStyle/>
          <a:p>
            <a:pPr algn="l"/>
            <a:r>
              <a:rPr sz="1100" b="0">
                <a:solidFill>
                  <a:srgbClr val="141821"/>
                </a:solidFill>
                <a:latin typeface="Calibri"/>
              </a:rPr>
              <a:t>stamps last specialist · per-thread</a:t>
            </a:r>
          </a:p>
        </p:txBody>
      </p:sp>
      <p:sp>
        <p:nvSpPr>
          <p:cNvPr id="18" name="Rounded Rectangle 17"/>
          <p:cNvSpPr/>
          <p:nvPr/>
        </p:nvSpPr>
        <p:spPr>
          <a:xfrm>
            <a:off x="914400" y="483717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37176"/>
            <a:ext cx="2194560" cy="384048"/>
          </a:xfrm>
          <a:prstGeom prst="rect">
            <a:avLst/>
          </a:prstGeom>
          <a:noFill/>
        </p:spPr>
        <p:txBody>
          <a:bodyPr wrap="square" lIns="0" rIns="0" tIns="0" bIns="0" anchor="ctr">
            <a:spAutoFit/>
          </a:bodyPr>
          <a:lstStyle/>
          <a:p>
            <a:pPr algn="ctr"/>
            <a:r>
              <a:rPr sz="1000" b="1">
                <a:solidFill>
                  <a:srgbClr val="2F6F4F"/>
                </a:solidFill>
                <a:latin typeface="Calibri"/>
              </a:rPr>
              <a:t>Specialist runs</a:t>
            </a:r>
          </a:p>
        </p:txBody>
      </p:sp>
      <p:sp>
        <p:nvSpPr>
          <p:cNvPr id="20" name="TextBox 19"/>
          <p:cNvSpPr txBox="1"/>
          <p:nvPr/>
        </p:nvSpPr>
        <p:spPr>
          <a:xfrm>
            <a:off x="3246120" y="4901184"/>
            <a:ext cx="3108960" cy="292608"/>
          </a:xfrm>
          <a:prstGeom prst="rect">
            <a:avLst/>
          </a:prstGeom>
          <a:noFill/>
        </p:spPr>
        <p:txBody>
          <a:bodyPr wrap="square" lIns="0" rIns="0" tIns="0" bIns="0" anchor="t">
            <a:spAutoFit/>
          </a:bodyPr>
          <a:lstStyle/>
          <a:p>
            <a:pPr algn="l"/>
            <a:r>
              <a:rPr sz="1100" b="0">
                <a:solidFill>
                  <a:srgbClr val="141821"/>
                </a:solidFill>
                <a:latin typeface="Calibri"/>
              </a:rPr>
              <a:t>GeminiAgent with its own tool subset</a:t>
            </a:r>
          </a:p>
        </p:txBody>
      </p:sp>
      <p:sp>
        <p:nvSpPr>
          <p:cNvPr id="21" name="Rounded Rectangle 20"/>
          <p:cNvSpPr/>
          <p:nvPr/>
        </p:nvSpPr>
        <p:spPr>
          <a:xfrm>
            <a:off x="914400" y="555040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2194560" cy="384048"/>
          </a:xfrm>
          <a:prstGeom prst="rect">
            <a:avLst/>
          </a:prstGeom>
          <a:noFill/>
        </p:spPr>
        <p:txBody>
          <a:bodyPr wrap="square" lIns="0" rIns="0" tIns="0" bIns="0" anchor="ctr">
            <a:spAutoFit/>
          </a:bodyPr>
          <a:lstStyle/>
          <a:p>
            <a:pPr algn="ctr"/>
            <a:r>
              <a:rPr sz="1000" b="1">
                <a:solidFill>
                  <a:srgbClr val="12243D"/>
                </a:solidFill>
                <a:latin typeface="Calibri"/>
              </a:rPr>
              <a:t>Sticky next turn</a:t>
            </a:r>
          </a:p>
        </p:txBody>
      </p:sp>
      <p:sp>
        <p:nvSpPr>
          <p:cNvPr id="23" name="TextBox 22"/>
          <p:cNvSpPr txBox="1"/>
          <p:nvPr/>
        </p:nvSpPr>
        <p:spPr>
          <a:xfrm>
            <a:off x="3246120" y="5614416"/>
            <a:ext cx="3108960" cy="292608"/>
          </a:xfrm>
          <a:prstGeom prst="rect">
            <a:avLst/>
          </a:prstGeom>
          <a:noFill/>
        </p:spPr>
        <p:txBody>
          <a:bodyPr wrap="square" lIns="0" rIns="0" tIns="0" bIns="0" anchor="t">
            <a:spAutoFit/>
          </a:bodyPr>
          <a:lstStyle/>
          <a:p>
            <a:pPr algn="l"/>
            <a:r>
              <a:rPr sz="1100" b="0">
                <a:solidFill>
                  <a:srgbClr val="141821"/>
                </a:solidFill>
                <a:latin typeface="Calibri"/>
              </a:rPr>
              <a:t>follow-ups replay specialist unless switched</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From the host's view it's still ONE AgenticBackend — the shell never knows there are 4 agents under it.</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SERVER-SIDE WIRING</a:t>
            </a:r>
          </a:p>
        </p:txBody>
      </p:sp>
      <p:sp>
        <p:nvSpPr>
          <p:cNvPr id="26" name="Rectangle 25"/>
          <p:cNvSpPr/>
          <p:nvPr/>
        </p:nvSpPr>
        <p:spPr>
          <a:xfrm>
            <a:off x="6766560" y="2606040"/>
            <a:ext cx="4785055" cy="2926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743200"/>
          </a:xfrm>
          <a:prstGeom prst="rect">
            <a:avLst/>
          </a:prstGeom>
          <a:noFill/>
        </p:spPr>
        <p:txBody>
          <a:bodyPr wrap="square" lIns="0" rIns="0" tIns="0" bIns="0">
            <a:spAutoFit/>
          </a:bodyPr>
          <a:lstStyle/>
          <a:p>
            <a:pPr>
              <a:spcAft>
                <a:spcPts val="0"/>
              </a:spcAft>
            </a:pPr>
            <a:r>
              <a:rPr sz="1100">
                <a:solidFill>
                  <a:srgbClr val="E2E8F0"/>
                </a:solidFill>
                <a:latin typeface="Menlo"/>
              </a:rPr>
              <a:t>new OrchestratorAgent('coordinator', {</a:t>
            </a:r>
          </a:p>
          <a:p>
            <a:pPr>
              <a:spcAft>
                <a:spcPts val="0"/>
              </a:spcAft>
            </a:pPr>
            <a:r>
              <a:rPr sz="1100">
                <a:solidFill>
                  <a:srgbClr val="E2E8F0"/>
                </a:solidFill>
                <a:latin typeface="Menlo"/>
              </a:rPr>
              <a:t>  apiKey, model: 'gemini-2.0-flash',</a:t>
            </a:r>
          </a:p>
          <a:p>
            <a:pPr>
              <a:spcAft>
                <a:spcPts val="0"/>
              </a:spcAft>
            </a:pPr>
            <a:r>
              <a:rPr sz="1100">
                <a:solidFill>
                  <a:srgbClr val="E2E8F0"/>
                </a:solidFill>
                <a:latin typeface="Menlo"/>
              </a:rPr>
              <a:t>  subAgents: [</a:t>
            </a:r>
          </a:p>
          <a:p>
            <a:pPr>
              <a:spcAft>
                <a:spcPts val="0"/>
              </a:spcAft>
            </a:pPr>
            <a:r>
              <a:rPr sz="1100">
                <a:solidFill>
                  <a:srgbClr val="E2E8F0"/>
                </a:solidFill>
                <a:latin typeface="Menlo"/>
              </a:rPr>
              <a:t>    { id: 'collection',</a:t>
            </a:r>
          </a:p>
          <a:p>
            <a:pPr>
              <a:spcAft>
                <a:spcPts val="0"/>
              </a:spcAft>
            </a:pPr>
            <a:r>
              <a:rPr sz="1100">
                <a:solidFill>
                  <a:srgbClr val="E2E8F0"/>
                </a:solidFill>
                <a:latin typeface="Menlo"/>
              </a:rPr>
              <a:t>      description: 'custodians, holds',</a:t>
            </a:r>
          </a:p>
          <a:p>
            <a:pPr>
              <a:spcAft>
                <a:spcPts val="0"/>
              </a:spcAft>
            </a:pPr>
            <a:r>
              <a:rPr sz="1100">
                <a:solidFill>
                  <a:srgbClr val="E2E8F0"/>
                </a:solidFill>
                <a:latin typeface="Menlo"/>
              </a:rPr>
              <a:t>      examples: ['Add Sarah as a custodian'],</a:t>
            </a:r>
          </a:p>
          <a:p>
            <a:pPr>
              <a:spcAft>
                <a:spcPts val="0"/>
              </a:spcAft>
            </a:pPr>
            <a:r>
              <a:rPr sz="1100">
                <a:solidFill>
                  <a:srgbClr val="E2E8F0"/>
                </a:solidFill>
                <a:latin typeface="Menlo"/>
              </a:rPr>
              <a:t>      factory: (id) =&gt; new GeminiAgent(id, ...) },</a:t>
            </a:r>
          </a:p>
          <a:p>
            <a:pPr>
              <a:spcAft>
                <a:spcPts val="0"/>
              </a:spcAft>
            </a:pPr>
            <a:r>
              <a:rPr sz="1100">
                <a:solidFill>
                  <a:srgbClr val="E2E8F0"/>
                </a:solidFill>
                <a:latin typeface="Menlo"/>
              </a:rPr>
              <a:t>    { id: 'review', ... },</a:t>
            </a:r>
          </a:p>
          <a:p>
            <a:pPr>
              <a:spcAft>
                <a:spcPts val="0"/>
              </a:spcAft>
            </a:pPr>
            <a:r>
              <a:rPr sz="1100">
                <a:solidFill>
                  <a:srgbClr val="E2E8F0"/>
                </a:solidFill>
                <a:latin typeface="Menlo"/>
              </a:rPr>
              <a:t>    { id: 'production', ... },</a:t>
            </a:r>
          </a:p>
          <a:p>
            <a:pPr>
              <a:spcAft>
                <a:spcPts val="0"/>
              </a:spcAft>
            </a:pPr>
            <a:r>
              <a:rPr sz="1100">
                <a:solidFill>
                  <a:srgbClr val="E2E8F0"/>
                </a:solidFill>
                <a:latin typeface="Menlo"/>
              </a:rPr>
              <a:t>    { id: 'search', ...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715000"/>
            <a:ext cx="4785055" cy="548640"/>
          </a:xfrm>
          <a:prstGeom prst="rect">
            <a:avLst/>
          </a:prstGeom>
          <a:noFill/>
        </p:spPr>
        <p:txBody>
          <a:bodyPr wrap="square" lIns="0" rIns="0" tIns="0" bIns="0" anchor="t">
            <a:spAutoFit/>
          </a:bodyPr>
          <a:lstStyle/>
          <a:p>
            <a:pPr algn="l"/>
            <a:r>
              <a:rPr sz="1000" b="0">
                <a:solidFill>
                  <a:srgbClr val="6B7380"/>
                </a:solidFill>
                <a:latin typeface="Calibri"/>
              </a:rPr>
              <a:t>ThreadStateStore: in-memory default · Redis adapter in cookbook for horizontal scaling.</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7 · Per-turn tool budget at scale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50+ tools across federated remotes blow your context budget. Solution: extract keywords from the prompt, score each tool, send the top-K to the LLM. Composes with persona scope.</a:t>
            </a:r>
          </a:p>
        </p:txBody>
      </p:sp>
      <p:sp>
        <p:nvSpPr>
          <p:cNvPr id="7" name="Rounded Rectangle 6"/>
          <p:cNvSpPr/>
          <p:nvPr/>
        </p:nvSpPr>
        <p:spPr>
          <a:xfrm>
            <a:off x="640080" y="2286000"/>
            <a:ext cx="5364327" cy="365760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4907127" cy="365760"/>
          </a:xfrm>
          <a:prstGeom prst="rect">
            <a:avLst/>
          </a:prstGeom>
          <a:noFill/>
        </p:spPr>
        <p:txBody>
          <a:bodyPr wrap="square" lIns="0" rIns="0" tIns="0" bIns="0" anchor="t">
            <a:spAutoFit/>
          </a:bodyPr>
          <a:lstStyle/>
          <a:p>
            <a:pPr algn="l"/>
            <a:r>
              <a:rPr sz="1400" b="1">
                <a:solidFill>
                  <a:srgbClr val="A8332A"/>
                </a:solidFill>
                <a:latin typeface="Calibri"/>
              </a:rPr>
              <a:t>WITHOUT FILTERING</a:t>
            </a:r>
          </a:p>
        </p:txBody>
      </p:sp>
      <p:sp>
        <p:nvSpPr>
          <p:cNvPr id="9" name="TextBox 8"/>
          <p:cNvSpPr txBox="1"/>
          <p:nvPr/>
        </p:nvSpPr>
        <p:spPr>
          <a:xfrm>
            <a:off x="868680" y="2926080"/>
            <a:ext cx="4907127" cy="2880360"/>
          </a:xfrm>
          <a:prstGeom prst="rect">
            <a:avLst/>
          </a:prstGeom>
          <a:noFill/>
        </p:spPr>
        <p:txBody>
          <a:bodyPr wrap="square" lIns="0" rIns="0" tIns="0" bIns="0">
            <a:spAutoFit/>
          </a:bodyPr>
          <a:lstStyle/>
          <a:p>
            <a:pPr>
              <a:spcAft>
                <a:spcPts val="800"/>
              </a:spcAft>
            </a:pPr>
            <a:r>
              <a:rPr sz="1100" b="1">
                <a:solidFill>
                  <a:srgbClr val="A8332A"/>
                </a:solidFill>
                <a:latin typeface="Calibri"/>
              </a:rPr>
              <a:t>✗  </a:t>
            </a:r>
            <a:r>
              <a:rPr sz="1100" b="1">
                <a:solidFill>
                  <a:srgbClr val="141821"/>
                </a:solidFill>
                <a:latin typeface="Calibri"/>
              </a:rPr>
              <a:t>All 50 tools sent each turn. </a:t>
            </a:r>
            <a:r>
              <a:rPr sz="1100">
                <a:solidFill>
                  <a:srgbClr val="141821"/>
                </a:solidFill>
                <a:latin typeface="Calibri"/>
              </a:rPr>
              <a:t>12k tokens of schema + descriptions before the user prompt.</a:t>
            </a:r>
          </a:p>
          <a:p>
            <a:pPr>
              <a:spcAft>
                <a:spcPts val="800"/>
              </a:spcAft>
            </a:pPr>
            <a:r>
              <a:rPr sz="1100" b="1">
                <a:solidFill>
                  <a:srgbClr val="A8332A"/>
                </a:solidFill>
                <a:latin typeface="Calibri"/>
              </a:rPr>
              <a:t>✗  </a:t>
            </a:r>
            <a:r>
              <a:rPr sz="1100" b="1">
                <a:solidFill>
                  <a:srgbClr val="141821"/>
                </a:solidFill>
                <a:latin typeface="Calibri"/>
              </a:rPr>
              <a:t>Latency. </a:t>
            </a:r>
            <a:r>
              <a:rPr sz="1100">
                <a:solidFill>
                  <a:srgbClr val="141821"/>
                </a:solidFill>
                <a:latin typeface="Calibri"/>
              </a:rPr>
              <a:t>Gemini 2-3s slower per turn at the upper end.</a:t>
            </a:r>
          </a:p>
          <a:p>
            <a:pPr>
              <a:spcAft>
                <a:spcPts val="800"/>
              </a:spcAft>
            </a:pPr>
            <a:r>
              <a:rPr sz="1100" b="1">
                <a:solidFill>
                  <a:srgbClr val="A8332A"/>
                </a:solidFill>
                <a:latin typeface="Calibri"/>
              </a:rPr>
              <a:t>✗  </a:t>
            </a:r>
            <a:r>
              <a:rPr sz="1100" b="1">
                <a:solidFill>
                  <a:srgbClr val="141821"/>
                </a:solidFill>
                <a:latin typeface="Calibri"/>
              </a:rPr>
              <a:t>Cost. </a:t>
            </a:r>
            <a:r>
              <a:rPr sz="1100">
                <a:solidFill>
                  <a:srgbClr val="141821"/>
                </a:solidFill>
                <a:latin typeface="Calibri"/>
              </a:rPr>
              <a:t>Roughly 4x token spend on tool definitions alone.</a:t>
            </a:r>
          </a:p>
          <a:p>
            <a:pPr>
              <a:spcAft>
                <a:spcPts val="800"/>
              </a:spcAft>
            </a:pPr>
            <a:r>
              <a:rPr sz="1100" b="1">
                <a:solidFill>
                  <a:srgbClr val="A8332A"/>
                </a:solidFill>
                <a:latin typeface="Calibri"/>
              </a:rPr>
              <a:t>✗  </a:t>
            </a:r>
            <a:r>
              <a:rPr sz="1100" b="1">
                <a:solidFill>
                  <a:srgbClr val="141821"/>
                </a:solidFill>
                <a:latin typeface="Calibri"/>
              </a:rPr>
              <a:t>Hallucination risk. </a:t>
            </a:r>
            <a:r>
              <a:rPr sz="1100">
                <a:solidFill>
                  <a:srgbClr val="141821"/>
                </a:solidFill>
                <a:latin typeface="Calibri"/>
              </a:rPr>
              <a:t>More plausible-sounding wrong tools to choose from.</a:t>
            </a:r>
          </a:p>
        </p:txBody>
      </p:sp>
      <p:sp>
        <p:nvSpPr>
          <p:cNvPr id="10" name="Rounded Rectangle 9"/>
          <p:cNvSpPr/>
          <p:nvPr/>
        </p:nvSpPr>
        <p:spPr>
          <a:xfrm>
            <a:off x="6187287" y="2286000"/>
            <a:ext cx="5364327" cy="365760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5887" y="2423160"/>
            <a:ext cx="4907127" cy="365760"/>
          </a:xfrm>
          <a:prstGeom prst="rect">
            <a:avLst/>
          </a:prstGeom>
          <a:noFill/>
        </p:spPr>
        <p:txBody>
          <a:bodyPr wrap="square" lIns="0" rIns="0" tIns="0" bIns="0" anchor="t">
            <a:spAutoFit/>
          </a:bodyPr>
          <a:lstStyle/>
          <a:p>
            <a:pPr algn="l"/>
            <a:r>
              <a:rPr sz="1400" b="1">
                <a:solidFill>
                  <a:srgbClr val="2F6F4F"/>
                </a:solidFill>
                <a:latin typeface="Calibri"/>
              </a:rPr>
              <a:t>WITH KEYWORD FILTER</a:t>
            </a:r>
          </a:p>
        </p:txBody>
      </p:sp>
      <p:sp>
        <p:nvSpPr>
          <p:cNvPr id="12" name="TextBox 11"/>
          <p:cNvSpPr txBox="1"/>
          <p:nvPr/>
        </p:nvSpPr>
        <p:spPr>
          <a:xfrm>
            <a:off x="6415887" y="2926080"/>
            <a:ext cx="4907127" cy="2880360"/>
          </a:xfrm>
          <a:prstGeom prst="rect">
            <a:avLst/>
          </a:prstGeom>
          <a:noFill/>
        </p:spPr>
        <p:txBody>
          <a:bodyPr wrap="square" lIns="0" rIns="0" tIns="0" bIns="0">
            <a:spAutoFit/>
          </a:bodyPr>
          <a:lstStyle/>
          <a:p>
            <a:pPr>
              <a:spcAft>
                <a:spcPts val="800"/>
              </a:spcAft>
            </a:pPr>
            <a:r>
              <a:rPr sz="1100" b="1">
                <a:solidFill>
                  <a:srgbClr val="2F6F4F"/>
                </a:solidFill>
                <a:latin typeface="Calibri"/>
              </a:rPr>
              <a:t>✓  </a:t>
            </a:r>
            <a:r>
              <a:rPr sz="1100" b="1">
                <a:solidFill>
                  <a:srgbClr val="141821"/>
                </a:solidFill>
                <a:latin typeface="Calibri"/>
              </a:rPr>
              <a:t>Top-12 tools per turn. </a:t>
            </a:r>
            <a:r>
              <a:rPr sz="1100">
                <a:solidFill>
                  <a:srgbClr val="141821"/>
                </a:solidFill>
                <a:latin typeface="Calibri"/>
              </a:rPr>
              <a:t>Keyword match against the latest user message.</a:t>
            </a:r>
          </a:p>
          <a:p>
            <a:pPr>
              <a:spcAft>
                <a:spcPts val="800"/>
              </a:spcAft>
            </a:pPr>
            <a:r>
              <a:rPr sz="1100" b="1">
                <a:solidFill>
                  <a:srgbClr val="2F6F4F"/>
                </a:solidFill>
                <a:latin typeface="Calibri"/>
              </a:rPr>
              <a:t>✓  </a:t>
            </a:r>
            <a:r>
              <a:rPr sz="1100" b="1">
                <a:solidFill>
                  <a:srgbClr val="141821"/>
                </a:solidFill>
                <a:latin typeface="Calibri"/>
              </a:rPr>
              <a:t>Floor of 5 'core' tools always present. </a:t>
            </a:r>
            <a:r>
              <a:rPr sz="1100">
                <a:solidFill>
                  <a:srgbClr val="141821"/>
                </a:solidFill>
                <a:latin typeface="Calibri"/>
              </a:rPr>
              <a:t>Search, list, status — never filtered out.</a:t>
            </a:r>
          </a:p>
          <a:p>
            <a:pPr>
              <a:spcAft>
                <a:spcPts val="800"/>
              </a:spcAft>
            </a:pPr>
            <a:r>
              <a:rPr sz="1100" b="1">
                <a:solidFill>
                  <a:srgbClr val="2F6F4F"/>
                </a:solidFill>
                <a:latin typeface="Calibri"/>
              </a:rPr>
              <a:t>✓  </a:t>
            </a:r>
            <a:r>
              <a:rPr sz="1100" b="1">
                <a:solidFill>
                  <a:srgbClr val="141821"/>
                </a:solidFill>
                <a:latin typeface="Calibri"/>
              </a:rPr>
              <a:t>~70% smaller prompt. </a:t>
            </a:r>
            <a:r>
              <a:rPr sz="1100">
                <a:solidFill>
                  <a:srgbClr val="141821"/>
                </a:solidFill>
                <a:latin typeface="Calibri"/>
              </a:rPr>
              <a:t>Measured in eDiscovery's 18-tool inventory.</a:t>
            </a:r>
          </a:p>
          <a:p>
            <a:pPr>
              <a:spcAft>
                <a:spcPts val="800"/>
              </a:spcAft>
            </a:pPr>
            <a:r>
              <a:rPr sz="1100" b="1">
                <a:solidFill>
                  <a:srgbClr val="2F6F4F"/>
                </a:solidFill>
                <a:latin typeface="Calibri"/>
              </a:rPr>
              <a:t>✓  </a:t>
            </a:r>
            <a:r>
              <a:rPr sz="1100" b="1">
                <a:solidFill>
                  <a:srgbClr val="141821"/>
                </a:solidFill>
                <a:latin typeface="Calibri"/>
              </a:rPr>
              <a:t>Composes with persona scope. </a:t>
            </a:r>
            <a:r>
              <a:rPr sz="1100">
                <a:solidFill>
                  <a:srgbClr val="141821"/>
                </a:solidFill>
                <a:latin typeface="Calibri"/>
              </a:rPr>
              <a:t>Filter runs after setScopePolicy — both layers stack.</a:t>
            </a:r>
          </a:p>
        </p:txBody>
      </p:sp>
      <p:sp>
        <p:nvSpPr>
          <p:cNvPr id="13" name="Rectangle 12"/>
          <p:cNvSpPr/>
          <p:nvPr/>
        </p:nvSpPr>
        <p:spPr>
          <a:xfrm>
            <a:off x="640080" y="6080760"/>
            <a:ext cx="10911535"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172200"/>
            <a:ext cx="10637215" cy="59436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 providers: [</a:t>
            </a:r>
          </a:p>
          <a:p>
            <a:pPr>
              <a:spcAft>
                <a:spcPts val="0"/>
              </a:spcAft>
            </a:pPr>
            <a:r>
              <a:rPr sz="1100">
                <a:solidFill>
                  <a:srgbClr val="E2E8F0"/>
                </a:solidFill>
                <a:latin typeface="Menlo"/>
              </a:rPr>
              <a:t>  provideToolFilter(keywordToolFilter({ maxTools: 12, floor: 5 })),</a:t>
            </a:r>
          </a:p>
          <a:p>
            <a:pPr>
              <a:spcAft>
                <a:spcPts val="0"/>
              </a:spcAft>
            </a:pPr>
            <a:r>
              <a:rPr sz="1100">
                <a:solidFill>
                  <a:srgbClr val="E2E8F0"/>
                </a:solidFill>
                <a:latin typeface="Menlo"/>
              </a:rPr>
              <a:t>  installPersonaScopePolicy(),    // runs first; the keyword filter narrows the scoped set</a:t>
            </a:r>
          </a:p>
          <a:p>
            <a:pPr>
              <a:spcAft>
                <a:spcPts val="0"/>
              </a:spcAft>
            </a:pPr>
            <a:r>
              <a:rPr sz="1100">
                <a:solidFill>
                  <a:srgbClr val="E2E8F0"/>
                </a:solidFill>
                <a:latin typeface="Menlo"/>
              </a:rPr>
              <a:t>] });</a:t>
            </a:r>
          </a:p>
        </p:txBody>
      </p:sp>
      <p:sp>
        <p:nvSpPr>
          <p:cNvPr id="15" name="Rectangle 1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7" name="TextBox 1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8" name="TextBox 1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8 · MCP — same tools power analyst desktops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Your tool definitions are valuable IP. Make them callable from your chat shell, Claude Desktop, Cursor, and Zed via the Model Context Protocol — one source of truth, three surfaces.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TOOLDEF · THREE SURFACES</a:t>
            </a:r>
          </a:p>
        </p:txBody>
      </p:sp>
      <p:sp>
        <p:nvSpPr>
          <p:cNvPr id="9" name="Rounded Rectangle 8"/>
          <p:cNvSpPr/>
          <p:nvPr/>
        </p:nvSpPr>
        <p:spPr>
          <a:xfrm>
            <a:off x="2560320" y="4023360"/>
            <a:ext cx="2011680" cy="64008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4023360"/>
            <a:ext cx="2011680" cy="640080"/>
          </a:xfrm>
          <a:prstGeom prst="rect">
            <a:avLst/>
          </a:prstGeom>
          <a:noFill/>
        </p:spPr>
        <p:txBody>
          <a:bodyPr wrap="square" lIns="0" rIns="0" tIns="0" bIns="0" anchor="ctr">
            <a:spAutoFit/>
          </a:bodyPr>
          <a:lstStyle/>
          <a:p>
            <a:pPr algn="ctr"/>
            <a:r>
              <a:rPr sz="1400" b="1">
                <a:solidFill>
                  <a:srgbClr val="F7F7F5"/>
                </a:solidFill>
                <a:latin typeface="Calibri"/>
              </a:rPr>
              <a:t>ToolDef[]</a:t>
            </a:r>
          </a:p>
        </p:txBody>
      </p:sp>
      <p:sp>
        <p:nvSpPr>
          <p:cNvPr id="11" name="TextBox 10"/>
          <p:cNvSpPr txBox="1"/>
          <p:nvPr/>
        </p:nvSpPr>
        <p:spPr>
          <a:xfrm>
            <a:off x="2560320" y="4709160"/>
            <a:ext cx="2011680" cy="274320"/>
          </a:xfrm>
          <a:prstGeom prst="rect">
            <a:avLst/>
          </a:prstGeom>
          <a:noFill/>
        </p:spPr>
        <p:txBody>
          <a:bodyPr wrap="square" lIns="0" rIns="0" tIns="0" bIns="0" anchor="t">
            <a:spAutoFit/>
          </a:bodyPr>
          <a:lstStyle/>
          <a:p>
            <a:pPr algn="ctr"/>
            <a:r>
              <a:rPr sz="1000" b="0">
                <a:solidFill>
                  <a:srgbClr val="6B7380"/>
                </a:solidFill>
                <a:latin typeface="Calibri"/>
              </a:rPr>
              <a:t>Zod schema · handler</a:t>
            </a:r>
          </a:p>
        </p:txBody>
      </p:sp>
      <p:sp>
        <p:nvSpPr>
          <p:cNvPr id="12" name="Rounded Rectangle 11"/>
          <p:cNvSpPr/>
          <p:nvPr/>
        </p:nvSpPr>
        <p:spPr>
          <a:xfrm>
            <a:off x="1005840" y="2834640"/>
            <a:ext cx="182880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34640"/>
            <a:ext cx="1828800" cy="502920"/>
          </a:xfrm>
          <a:prstGeom prst="rect">
            <a:avLst/>
          </a:prstGeom>
          <a:noFill/>
        </p:spPr>
        <p:txBody>
          <a:bodyPr wrap="square" lIns="0" rIns="0" tIns="0" bIns="0" anchor="ctr">
            <a:spAutoFit/>
          </a:bodyPr>
          <a:lstStyle/>
          <a:p>
            <a:pPr algn="ctr"/>
            <a:r>
              <a:rPr sz="1100" b="1">
                <a:solidFill>
                  <a:srgbClr val="1E3A5F"/>
                </a:solidFill>
                <a:latin typeface="Calibri"/>
              </a:rPr>
              <a:t>&lt;mvk-chat-shell&gt;</a:t>
            </a:r>
          </a:p>
        </p:txBody>
      </p:sp>
      <p:cxnSp>
        <p:nvCxnSpPr>
          <p:cNvPr id="14" name="Connector 13"/>
          <p:cNvCxnSpPr/>
          <p:nvPr/>
        </p:nvCxnSpPr>
        <p:spPr>
          <a:xfrm flipH="1" flipV="1">
            <a:off x="1920240" y="3108960"/>
            <a:ext cx="1645920" cy="123444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2834640"/>
            <a:ext cx="1828800" cy="50292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834640"/>
            <a:ext cx="1828800" cy="502920"/>
          </a:xfrm>
          <a:prstGeom prst="rect">
            <a:avLst/>
          </a:prstGeom>
          <a:noFill/>
        </p:spPr>
        <p:txBody>
          <a:bodyPr wrap="square" lIns="0" rIns="0" tIns="0" bIns="0" anchor="ctr">
            <a:spAutoFit/>
          </a:bodyPr>
          <a:lstStyle/>
          <a:p>
            <a:pPr algn="ctr"/>
            <a:r>
              <a:rPr sz="1100" b="1">
                <a:solidFill>
                  <a:srgbClr val="356B88"/>
                </a:solidFill>
                <a:latin typeface="Calibri"/>
              </a:rPr>
              <a:t>Claude Desktop</a:t>
            </a:r>
          </a:p>
        </p:txBody>
      </p:sp>
      <p:cxnSp>
        <p:nvCxnSpPr>
          <p:cNvPr id="17" name="Connector 16"/>
          <p:cNvCxnSpPr/>
          <p:nvPr/>
        </p:nvCxnSpPr>
        <p:spPr>
          <a:xfrm flipV="1">
            <a:off x="3566160" y="3108960"/>
            <a:ext cx="2011680" cy="1234440"/>
          </a:xfrm>
          <a:prstGeom prst="line">
            <a:avLst/>
          </a:prstGeom>
          <a:ln w="127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34640" y="5394960"/>
            <a:ext cx="182880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34640" y="5394960"/>
            <a:ext cx="1828800" cy="502920"/>
          </a:xfrm>
          <a:prstGeom prst="rect">
            <a:avLst/>
          </a:prstGeom>
          <a:noFill/>
        </p:spPr>
        <p:txBody>
          <a:bodyPr wrap="square" lIns="0" rIns="0" tIns="0" bIns="0" anchor="ctr">
            <a:spAutoFit/>
          </a:bodyPr>
          <a:lstStyle/>
          <a:p>
            <a:pPr algn="ctr"/>
            <a:r>
              <a:rPr sz="1100" b="1">
                <a:solidFill>
                  <a:srgbClr val="2F6F4F"/>
                </a:solidFill>
                <a:latin typeface="Calibri"/>
              </a:rPr>
              <a:t>Cursor / Zed (MCP)</a:t>
            </a:r>
          </a:p>
        </p:txBody>
      </p:sp>
      <p:cxnSp>
        <p:nvCxnSpPr>
          <p:cNvPr id="20" name="Connector 19"/>
          <p:cNvCxnSpPr/>
          <p:nvPr/>
        </p:nvCxnSpPr>
        <p:spPr>
          <a:xfrm>
            <a:off x="3566160" y="4343400"/>
            <a:ext cx="182880" cy="1325880"/>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Persona scope from use case 4 still applies — MCP also reads through ToolRegistry.</a:t>
            </a:r>
          </a:p>
        </p:txBody>
      </p:sp>
      <p:sp>
        <p:nvSpPr>
          <p:cNvPr id="22" name="TextBox 21"/>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MCP SERVER WIRING</a:t>
            </a:r>
          </a:p>
        </p:txBody>
      </p:sp>
      <p:sp>
        <p:nvSpPr>
          <p:cNvPr id="23" name="Rectangle 22"/>
          <p:cNvSpPr/>
          <p:nvPr/>
        </p:nvSpPr>
        <p:spPr>
          <a:xfrm>
            <a:off x="6766560" y="2606040"/>
            <a:ext cx="4785055" cy="18288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697480"/>
            <a:ext cx="4510735" cy="1645920"/>
          </a:xfrm>
          <a:prstGeom prst="rect">
            <a:avLst/>
          </a:prstGeom>
          <a:noFill/>
        </p:spPr>
        <p:txBody>
          <a:bodyPr wrap="square" lIns="0" rIns="0" tIns="0" bIns="0">
            <a:spAutoFit/>
          </a:bodyPr>
          <a:lstStyle/>
          <a:p>
            <a:pPr>
              <a:spcAft>
                <a:spcPts val="0"/>
              </a:spcAft>
            </a:pPr>
            <a:r>
              <a:rPr sz="1100">
                <a:solidFill>
                  <a:srgbClr val="E2E8F0"/>
                </a:solidFill>
                <a:latin typeface="Menlo"/>
              </a:rPr>
              <a:t>import { createMcpServer }</a:t>
            </a:r>
          </a:p>
          <a:p>
            <a:pPr>
              <a:spcAft>
                <a:spcPts val="0"/>
              </a:spcAft>
            </a:pPr>
            <a:r>
              <a:rPr sz="1100">
                <a:solidFill>
                  <a:srgbClr val="E2E8F0"/>
                </a:solidFill>
                <a:latin typeface="Menlo"/>
              </a:rPr>
              <a:t>  from '@maverick/agentic-ui-mcp';</a:t>
            </a:r>
          </a:p>
          <a:p>
            <a:pPr>
              <a:spcAft>
                <a:spcPts val="0"/>
              </a:spcAft>
            </a:pPr>
            <a:r>
              <a:rPr sz="1100">
                <a:solidFill>
                  <a:srgbClr val="E2E8F0"/>
                </a:solidFill>
                <a:latin typeface="Menlo"/>
              </a:rPr>
              <a:t/>
            </a:r>
          </a:p>
          <a:p>
            <a:pPr>
              <a:spcAft>
                <a:spcPts val="0"/>
              </a:spcAft>
            </a:pPr>
            <a:r>
              <a:rPr sz="1100">
                <a:solidFill>
                  <a:srgbClr val="E2E8F0"/>
                </a:solidFill>
                <a:latin typeface="Menlo"/>
              </a:rPr>
              <a:t>const mcp = createMcpServer({</a:t>
            </a:r>
          </a:p>
          <a:p>
            <a:pPr>
              <a:spcAft>
                <a:spcPts val="0"/>
              </a:spcAft>
            </a:pPr>
            <a:r>
              <a:rPr sz="1100">
                <a:solidFill>
                  <a:srgbClr val="E2E8F0"/>
                </a:solidFill>
                <a:latin typeface="Menlo"/>
              </a:rPr>
              <a:t>  name: 'ediscovery-paralegal',</a:t>
            </a:r>
          </a:p>
          <a:p>
            <a:pPr>
              <a:spcAft>
                <a:spcPts val="0"/>
              </a:spcAft>
            </a:pPr>
            <a:r>
              <a:rPr sz="1100">
                <a:solidFill>
                  <a:srgbClr val="E2E8F0"/>
                </a:solidFill>
                <a:latin typeface="Menlo"/>
              </a:rPr>
              <a:t>  tools: [searchDocuments,</a:t>
            </a:r>
          </a:p>
          <a:p>
            <a:pPr>
              <a:spcAft>
                <a:spcPts val="0"/>
              </a:spcAft>
            </a:pPr>
            <a:r>
              <a:rPr sz="1100">
                <a:solidFill>
                  <a:srgbClr val="E2E8F0"/>
                </a:solidFill>
                <a:latin typeface="Menlo"/>
              </a:rPr>
              <a:t>          markPrivileged, tagDocument],</a:t>
            </a:r>
          </a:p>
          <a:p>
            <a:pPr>
              <a:spcAft>
                <a:spcPts val="0"/>
              </a:spcAft>
            </a:pPr>
            <a:r>
              <a:rPr sz="1100">
                <a:solidFill>
                  <a:srgbClr val="E2E8F0"/>
                </a:solidFill>
                <a:latin typeface="Menlo"/>
              </a:rPr>
              <a:t>});</a:t>
            </a:r>
          </a:p>
          <a:p>
            <a:pPr>
              <a:spcAft>
                <a:spcPts val="0"/>
              </a:spcAft>
            </a:pPr>
            <a:r>
              <a:rPr sz="1100">
                <a:solidFill>
                  <a:srgbClr val="E2E8F0"/>
                </a:solidFill>
                <a:latin typeface="Menlo"/>
              </a:rPr>
              <a:t>app.route('/mcp', mcp);</a:t>
            </a:r>
          </a:p>
        </p:txBody>
      </p:sp>
      <p:sp>
        <p:nvSpPr>
          <p:cNvPr id="25" name="TextBox 24"/>
          <p:cNvSpPr txBox="1"/>
          <p:nvPr/>
        </p:nvSpPr>
        <p:spPr>
          <a:xfrm>
            <a:off x="6766560" y="4572000"/>
            <a:ext cx="4785055" cy="274320"/>
          </a:xfrm>
          <a:prstGeom prst="rect">
            <a:avLst/>
          </a:prstGeom>
          <a:noFill/>
        </p:spPr>
        <p:txBody>
          <a:bodyPr wrap="square" lIns="0" rIns="0" tIns="0" bIns="0" anchor="t">
            <a:spAutoFit/>
          </a:bodyPr>
          <a:lstStyle/>
          <a:p>
            <a:pPr algn="l"/>
            <a:r>
              <a:rPr sz="1000" b="1">
                <a:solidFill>
                  <a:srgbClr val="6B7380"/>
                </a:solidFill>
                <a:latin typeface="Calibri"/>
              </a:rPr>
              <a:t>TRANSPORTS</a:t>
            </a:r>
          </a:p>
        </p:txBody>
      </p:sp>
      <p:sp>
        <p:nvSpPr>
          <p:cNvPr id="26" name="TextBox 25"/>
          <p:cNvSpPr txBox="1"/>
          <p:nvPr/>
        </p:nvSpPr>
        <p:spPr>
          <a:xfrm>
            <a:off x="6766560" y="4892040"/>
            <a:ext cx="4785055" cy="109728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stdio · for Claude Desktop's spawn-and-pipe</a:t>
            </a:r>
          </a:p>
          <a:p>
            <a:pPr>
              <a:spcAft>
                <a:spcPts val="600"/>
              </a:spcAft>
            </a:pPr>
            <a:r>
              <a:rPr sz="1100" b="1">
                <a:solidFill>
                  <a:srgbClr val="1E3A5F"/>
                </a:solidFill>
                <a:latin typeface="Calibri"/>
              </a:rPr>
              <a:t>•  </a:t>
            </a:r>
            <a:r>
              <a:rPr sz="1100">
                <a:solidFill>
                  <a:srgbClr val="141821"/>
                </a:solidFill>
                <a:latin typeface="Calibri"/>
              </a:rPr>
              <a:t>SSE · streaming over HTTP</a:t>
            </a:r>
          </a:p>
          <a:p>
            <a:pPr>
              <a:spcAft>
                <a:spcPts val="600"/>
              </a:spcAft>
            </a:pPr>
            <a:r>
              <a:rPr sz="1100" b="1">
                <a:solidFill>
                  <a:srgbClr val="1E3A5F"/>
                </a:solidFill>
                <a:latin typeface="Calibri"/>
              </a:rPr>
              <a:t>•  </a:t>
            </a:r>
            <a:r>
              <a:rPr sz="1100">
                <a:solidFill>
                  <a:srgbClr val="141821"/>
                </a:solidFill>
                <a:latin typeface="Calibri"/>
              </a:rPr>
              <a:t>text/html;profile=mcp-app · in-browser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9 · Observability — distributed tracing per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user prompt fans out into LLM calls, tool calls, widget renders, persistence writes. You want one trace covering all of them, with traceparent propagating across the SSE boundary.</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TRACE · END-TO-END</a:t>
            </a:r>
          </a:p>
        </p:txBody>
      </p:sp>
      <p:sp>
        <p:nvSpPr>
          <p:cNvPr id="9" name="Rounded Rectangle 8"/>
          <p:cNvSpPr/>
          <p:nvPr/>
        </p:nvSpPr>
        <p:spPr>
          <a:xfrm>
            <a:off x="914400" y="2697480"/>
            <a:ext cx="228600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286000" cy="384048"/>
          </a:xfrm>
          <a:prstGeom prst="rect">
            <a:avLst/>
          </a:prstGeom>
          <a:noFill/>
        </p:spPr>
        <p:txBody>
          <a:bodyPr wrap="square" lIns="0" rIns="0" tIns="0" bIns="0" anchor="ctr">
            <a:spAutoFit/>
          </a:bodyPr>
          <a:lstStyle/>
          <a:p>
            <a:pPr algn="ctr"/>
            <a:r>
              <a:rPr sz="1000" b="1">
                <a:solidFill>
                  <a:srgbClr val="1E3A5F"/>
                </a:solidFill>
                <a:latin typeface="Calibri"/>
              </a:rPr>
              <a:t>agentic.run</a:t>
            </a:r>
          </a:p>
        </p:txBody>
      </p:sp>
      <p:sp>
        <p:nvSpPr>
          <p:cNvPr id="11" name="Rounded Rectangle 10"/>
          <p:cNvSpPr/>
          <p:nvPr/>
        </p:nvSpPr>
        <p:spPr>
          <a:xfrm>
            <a:off x="3337560" y="276148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276148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13" name="TextBox 12"/>
          <p:cNvSpPr txBox="1"/>
          <p:nvPr/>
        </p:nvSpPr>
        <p:spPr>
          <a:xfrm>
            <a:off x="4251960" y="2761488"/>
            <a:ext cx="2103121" cy="292608"/>
          </a:xfrm>
          <a:prstGeom prst="rect">
            <a:avLst/>
          </a:prstGeom>
          <a:noFill/>
        </p:spPr>
        <p:txBody>
          <a:bodyPr wrap="square" lIns="0" rIns="0" tIns="0" bIns="0" anchor="t">
            <a:spAutoFit/>
          </a:bodyPr>
          <a:lstStyle/>
          <a:p>
            <a:pPr algn="l"/>
            <a:r>
              <a:rPr sz="900" b="0">
                <a:solidFill>
                  <a:srgbClr val="141821"/>
                </a:solidFill>
                <a:latin typeface="Calibri"/>
              </a:rPr>
              <a:t>thread_id, run_id, backend.id</a:t>
            </a:r>
          </a:p>
        </p:txBody>
      </p:sp>
      <p:sp>
        <p:nvSpPr>
          <p:cNvPr id="14" name="Rounded Rectangle 13"/>
          <p:cNvSpPr/>
          <p:nvPr/>
        </p:nvSpPr>
        <p:spPr>
          <a:xfrm>
            <a:off x="914400" y="3264408"/>
            <a:ext cx="228600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64408"/>
            <a:ext cx="2286000" cy="384048"/>
          </a:xfrm>
          <a:prstGeom prst="rect">
            <a:avLst/>
          </a:prstGeom>
          <a:noFill/>
        </p:spPr>
        <p:txBody>
          <a:bodyPr wrap="square" lIns="0" rIns="0" tIns="0" bIns="0" anchor="ctr">
            <a:spAutoFit/>
          </a:bodyPr>
          <a:lstStyle/>
          <a:p>
            <a:pPr algn="ctr"/>
            <a:r>
              <a:rPr sz="1000" b="1">
                <a:solidFill>
                  <a:srgbClr val="356B88"/>
                </a:solidFill>
                <a:latin typeface="Calibri"/>
              </a:rPr>
              <a:t>agentic.backend.stream</a:t>
            </a:r>
          </a:p>
        </p:txBody>
      </p:sp>
      <p:sp>
        <p:nvSpPr>
          <p:cNvPr id="16" name="Rounded Rectangle 15"/>
          <p:cNvSpPr/>
          <p:nvPr/>
        </p:nvSpPr>
        <p:spPr>
          <a:xfrm>
            <a:off x="3337560" y="332841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328416"/>
            <a:ext cx="777240" cy="292608"/>
          </a:xfrm>
          <a:prstGeom prst="rect">
            <a:avLst/>
          </a:prstGeom>
          <a:noFill/>
        </p:spPr>
        <p:txBody>
          <a:bodyPr wrap="none" lIns="0" rIns="0" tIns="0" bIns="0" anchor="ctr">
            <a:spAutoFit/>
          </a:bodyPr>
          <a:lstStyle/>
          <a:p>
            <a:pPr algn="ctr"/>
            <a:r>
              <a:rPr sz="900" b="1">
                <a:solidFill>
                  <a:srgbClr val="FFFFFF"/>
                </a:solidFill>
                <a:latin typeface="Calibri"/>
              </a:rPr>
              <a:t>CLIENT</a:t>
            </a:r>
          </a:p>
        </p:txBody>
      </p:sp>
      <p:sp>
        <p:nvSpPr>
          <p:cNvPr id="18" name="TextBox 17"/>
          <p:cNvSpPr txBox="1"/>
          <p:nvPr/>
        </p:nvSpPr>
        <p:spPr>
          <a:xfrm>
            <a:off x="4251960" y="3328416"/>
            <a:ext cx="2103121" cy="292608"/>
          </a:xfrm>
          <a:prstGeom prst="rect">
            <a:avLst/>
          </a:prstGeom>
          <a:noFill/>
        </p:spPr>
        <p:txBody>
          <a:bodyPr wrap="square" lIns="0" rIns="0" tIns="0" bIns="0" anchor="t">
            <a:spAutoFit/>
          </a:bodyPr>
          <a:lstStyle/>
          <a:p>
            <a:pPr algn="l"/>
            <a:r>
              <a:rPr sz="900" b="0">
                <a:solidFill>
                  <a:srgbClr val="141821"/>
                </a:solidFill>
                <a:latin typeface="Calibri"/>
              </a:rPr>
              <a:t>http.url, status, traceparent</a:t>
            </a:r>
          </a:p>
        </p:txBody>
      </p:sp>
      <p:sp>
        <p:nvSpPr>
          <p:cNvPr id="19" name="TextBox 18"/>
          <p:cNvSpPr txBox="1"/>
          <p:nvPr/>
        </p:nvSpPr>
        <p:spPr>
          <a:xfrm>
            <a:off x="914400" y="3877056"/>
            <a:ext cx="5303520" cy="292608"/>
          </a:xfrm>
          <a:prstGeom prst="rect">
            <a:avLst/>
          </a:prstGeom>
          <a:noFill/>
        </p:spPr>
        <p:txBody>
          <a:bodyPr wrap="square" lIns="0" rIns="0" tIns="0" bIns="0" anchor="t">
            <a:spAutoFit/>
          </a:bodyPr>
          <a:lstStyle/>
          <a:p>
            <a:pPr algn="ctr"/>
            <a:r>
              <a:rPr sz="1000" b="0">
                <a:solidFill>
                  <a:srgbClr val="6B7380"/>
                </a:solidFill>
                <a:latin typeface="Calibri"/>
              </a:rPr>
              <a:t>[ SSE boundary — traceparent ]</a:t>
            </a:r>
          </a:p>
        </p:txBody>
      </p:sp>
      <p:sp>
        <p:nvSpPr>
          <p:cNvPr id="20" name="Rounded Rectangle 19"/>
          <p:cNvSpPr/>
          <p:nvPr/>
        </p:nvSpPr>
        <p:spPr>
          <a:xfrm>
            <a:off x="914400" y="4398264"/>
            <a:ext cx="228600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98264"/>
            <a:ext cx="2286000" cy="384048"/>
          </a:xfrm>
          <a:prstGeom prst="rect">
            <a:avLst/>
          </a:prstGeom>
          <a:noFill/>
        </p:spPr>
        <p:txBody>
          <a:bodyPr wrap="square" lIns="0" rIns="0" tIns="0" bIns="0" anchor="ctr">
            <a:spAutoFit/>
          </a:bodyPr>
          <a:lstStyle/>
          <a:p>
            <a:pPr algn="ctr"/>
            <a:r>
              <a:rPr sz="1000" b="1">
                <a:solidFill>
                  <a:srgbClr val="C48221"/>
                </a:solidFill>
                <a:latin typeface="Calibri"/>
              </a:rPr>
              <a:t>agentic.tool_call</a:t>
            </a:r>
          </a:p>
        </p:txBody>
      </p:sp>
      <p:sp>
        <p:nvSpPr>
          <p:cNvPr id="22" name="Rounded Rectangle 21"/>
          <p:cNvSpPr/>
          <p:nvPr/>
        </p:nvSpPr>
        <p:spPr>
          <a:xfrm>
            <a:off x="3337560" y="4462272"/>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462272"/>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4" name="TextBox 23"/>
          <p:cNvSpPr txBox="1"/>
          <p:nvPr/>
        </p:nvSpPr>
        <p:spPr>
          <a:xfrm>
            <a:off x="4251960" y="4462272"/>
            <a:ext cx="2103121" cy="292608"/>
          </a:xfrm>
          <a:prstGeom prst="rect">
            <a:avLst/>
          </a:prstGeom>
          <a:noFill/>
        </p:spPr>
        <p:txBody>
          <a:bodyPr wrap="square" lIns="0" rIns="0" tIns="0" bIns="0" anchor="t">
            <a:spAutoFit/>
          </a:bodyPr>
          <a:lstStyle/>
          <a:p>
            <a:pPr algn="l"/>
            <a:r>
              <a:rPr sz="900" b="0">
                <a:solidFill>
                  <a:srgbClr val="141821"/>
                </a:solidFill>
                <a:latin typeface="Calibri"/>
              </a:rPr>
              <a:t>tool.name, tool.source, success</a:t>
            </a:r>
          </a:p>
        </p:txBody>
      </p:sp>
      <p:sp>
        <p:nvSpPr>
          <p:cNvPr id="25" name="Rounded Rectangle 24"/>
          <p:cNvSpPr/>
          <p:nvPr/>
        </p:nvSpPr>
        <p:spPr>
          <a:xfrm>
            <a:off x="914400" y="4965192"/>
            <a:ext cx="228600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965192"/>
            <a:ext cx="2286000" cy="384048"/>
          </a:xfrm>
          <a:prstGeom prst="rect">
            <a:avLst/>
          </a:prstGeom>
          <a:noFill/>
        </p:spPr>
        <p:txBody>
          <a:bodyPr wrap="square" lIns="0" rIns="0" tIns="0" bIns="0" anchor="ctr">
            <a:spAutoFit/>
          </a:bodyPr>
          <a:lstStyle/>
          <a:p>
            <a:pPr algn="ctr"/>
            <a:r>
              <a:rPr sz="1000" b="1">
                <a:solidFill>
                  <a:srgbClr val="2F6F4F"/>
                </a:solidFill>
                <a:latin typeface="Calibri"/>
              </a:rPr>
              <a:t>agentic.federation.load</a:t>
            </a:r>
          </a:p>
        </p:txBody>
      </p:sp>
      <p:sp>
        <p:nvSpPr>
          <p:cNvPr id="27" name="Rounded Rectangle 26"/>
          <p:cNvSpPr/>
          <p:nvPr/>
        </p:nvSpPr>
        <p:spPr>
          <a:xfrm>
            <a:off x="3337560" y="5029200"/>
            <a:ext cx="7772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5029200"/>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9" name="TextBox 28"/>
          <p:cNvSpPr txBox="1"/>
          <p:nvPr/>
        </p:nvSpPr>
        <p:spPr>
          <a:xfrm>
            <a:off x="4251960" y="5029200"/>
            <a:ext cx="2103121" cy="292608"/>
          </a:xfrm>
          <a:prstGeom prst="rect">
            <a:avLst/>
          </a:prstGeom>
          <a:noFill/>
        </p:spPr>
        <p:txBody>
          <a:bodyPr wrap="square" lIns="0" rIns="0" tIns="0" bIns="0" anchor="t">
            <a:spAutoFit/>
          </a:bodyPr>
          <a:lstStyle/>
          <a:p>
            <a:pPr algn="l"/>
            <a:r>
              <a:rPr sz="900" b="0">
                <a:solidFill>
                  <a:srgbClr val="141821"/>
                </a:solidFill>
                <a:latin typeface="Calibri"/>
              </a:rPr>
              <a:t>remote_name, version, load_ms</a:t>
            </a:r>
          </a:p>
        </p:txBody>
      </p:sp>
      <p:sp>
        <p:nvSpPr>
          <p:cNvPr id="30" name="Rounded Rectangle 29"/>
          <p:cNvSpPr/>
          <p:nvPr/>
        </p:nvSpPr>
        <p:spPr>
          <a:xfrm>
            <a:off x="914400" y="5532120"/>
            <a:ext cx="228600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532120"/>
            <a:ext cx="2286000" cy="384048"/>
          </a:xfrm>
          <a:prstGeom prst="rect">
            <a:avLst/>
          </a:prstGeom>
          <a:noFill/>
        </p:spPr>
        <p:txBody>
          <a:bodyPr wrap="square" lIns="0" rIns="0" tIns="0" bIns="0" anchor="ctr">
            <a:spAutoFit/>
          </a:bodyPr>
          <a:lstStyle/>
          <a:p>
            <a:pPr algn="ctr"/>
            <a:r>
              <a:rPr sz="1000" b="1">
                <a:solidFill>
                  <a:srgbClr val="12243D"/>
                </a:solidFill>
                <a:latin typeface="Calibri"/>
              </a:rPr>
              <a:t>agentic.persistence.write</a:t>
            </a:r>
          </a:p>
        </p:txBody>
      </p:sp>
      <p:sp>
        <p:nvSpPr>
          <p:cNvPr id="32" name="Rounded Rectangle 31"/>
          <p:cNvSpPr/>
          <p:nvPr/>
        </p:nvSpPr>
        <p:spPr>
          <a:xfrm>
            <a:off x="3337560" y="5596128"/>
            <a:ext cx="7772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37560" y="559612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34" name="TextBox 33"/>
          <p:cNvSpPr txBox="1"/>
          <p:nvPr/>
        </p:nvSpPr>
        <p:spPr>
          <a:xfrm>
            <a:off x="4251960" y="5596128"/>
            <a:ext cx="2103121" cy="292608"/>
          </a:xfrm>
          <a:prstGeom prst="rect">
            <a:avLst/>
          </a:prstGeom>
          <a:noFill/>
        </p:spPr>
        <p:txBody>
          <a:bodyPr wrap="square" lIns="0" rIns="0" tIns="0" bIns="0" anchor="t">
            <a:spAutoFit/>
          </a:bodyPr>
          <a:lstStyle/>
          <a:p>
            <a:pPr algn="l"/>
            <a:r>
              <a:rPr sz="900" b="0">
                <a:solidFill>
                  <a:srgbClr val="141821"/>
                </a:solidFill>
                <a:latin typeface="Calibri"/>
              </a:rPr>
              <a:t>adapter, bytes</a:t>
            </a:r>
          </a:p>
        </p:txBody>
      </p:sp>
      <p:sp>
        <p:nvSpPr>
          <p:cNvPr id="35" name="TextBox 34"/>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Default: tool args / message bodies are NEVER captured — only sizes + stable hashes. Opt-in field-by-field.</a:t>
            </a:r>
          </a:p>
        </p:txBody>
      </p:sp>
      <p:sp>
        <p:nvSpPr>
          <p:cNvPr id="36" name="TextBox 35"/>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37" name="Rectangle 36"/>
          <p:cNvSpPr/>
          <p:nvPr/>
        </p:nvSpPr>
        <p:spPr>
          <a:xfrm>
            <a:off x="6766560" y="2606040"/>
            <a:ext cx="4785055" cy="2743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2697480"/>
            <a:ext cx="4510735" cy="2560320"/>
          </a:xfrm>
          <a:prstGeom prst="rect">
            <a:avLst/>
          </a:prstGeom>
          <a:noFill/>
        </p:spPr>
        <p:txBody>
          <a:bodyPr wrap="square" lIns="0" rIns="0" tIns="0" bIns="0">
            <a:spAutoFit/>
          </a:bodyPr>
          <a:lstStyle/>
          <a:p>
            <a:pPr>
              <a:spcAft>
                <a:spcPts val="0"/>
              </a:spcAft>
            </a:pPr>
            <a:r>
              <a:rPr sz="1100">
                <a:solidFill>
                  <a:srgbClr val="E2E8F0"/>
                </a:solidFill>
                <a:latin typeface="Menlo"/>
              </a:rPr>
              <a:t>import { provideAgenticTelemetry }</a:t>
            </a:r>
          </a:p>
          <a:p>
            <a:pPr>
              <a:spcAft>
                <a:spcPts val="0"/>
              </a:spcAft>
            </a:pPr>
            <a:r>
              <a:rPr sz="1100">
                <a:solidFill>
                  <a:srgbClr val="E2E8F0"/>
                </a:solidFill>
                <a:latin typeface="Menlo"/>
              </a:rPr>
              <a:t>  from '@maverick/agentic-ui/otel';</a:t>
            </a:r>
          </a:p>
          <a:p>
            <a:pPr>
              <a:spcAft>
                <a:spcPts val="0"/>
              </a:spcAft>
            </a:pPr>
            <a:r>
              <a:rPr sz="1100">
                <a:solidFill>
                  <a:srgbClr val="E2E8F0"/>
                </a:solidFill>
                <a:latin typeface="Menlo"/>
              </a:rPr>
              <a:t/>
            </a:r>
          </a:p>
          <a:p>
            <a:pPr>
              <a:spcAft>
                <a:spcPts val="0"/>
              </a:spcAft>
            </a:pPr>
            <a:r>
              <a:rPr sz="1100">
                <a:solidFill>
                  <a:srgbClr val="E2E8F0"/>
                </a:solidFill>
                <a:latin typeface="Menlo"/>
              </a:rPr>
              <a:t>telemetry: provideAgenticTelemetry({</a:t>
            </a:r>
          </a:p>
          <a:p>
            <a:pPr>
              <a:spcAft>
                <a:spcPts val="0"/>
              </a:spcAft>
            </a:pPr>
            <a:r>
              <a:rPr sz="1100">
                <a:solidFill>
                  <a:srgbClr val="E2E8F0"/>
                </a:solidFill>
                <a:latin typeface="Menlo"/>
              </a:rPr>
              <a:t>  serviceName: 'demo-shell',</a:t>
            </a:r>
          </a:p>
          <a:p>
            <a:pPr>
              <a:spcAft>
                <a:spcPts val="0"/>
              </a:spcAft>
            </a:pPr>
            <a:r>
              <a:rPr sz="1100">
                <a:solidFill>
                  <a:srgbClr val="E2E8F0"/>
                </a:solidFill>
                <a:latin typeface="Menlo"/>
              </a:rPr>
              <a:t>  exporter: 'otlp-http',</a:t>
            </a:r>
          </a:p>
          <a:p>
            <a:pPr>
              <a:spcAft>
                <a:spcPts val="0"/>
              </a:spcAft>
            </a:pPr>
            <a:r>
              <a:rPr sz="1100">
                <a:solidFill>
                  <a:srgbClr val="E2E8F0"/>
                </a:solidFill>
                <a:latin typeface="Menlo"/>
              </a:rPr>
              <a:t>  endpoint: 'http://collector:4318/...',</a:t>
            </a:r>
          </a:p>
          <a:p>
            <a:pPr>
              <a:spcAft>
                <a:spcPts val="0"/>
              </a:spcAft>
            </a:pPr>
            <a:r>
              <a:rPr sz="1100">
                <a:solidFill>
                  <a:srgbClr val="E2E8F0"/>
                </a:solidFill>
                <a:latin typeface="Menlo"/>
              </a:rPr>
              <a:t>  sampler: { kind: 'ratio', ratio: 0.1 },</a:t>
            </a:r>
          </a:p>
          <a:p>
            <a:pPr>
              <a:spcAft>
                <a:spcPts val="0"/>
              </a:spcAft>
            </a:pPr>
            <a:r>
              <a:rPr sz="1100">
                <a:solidFill>
                  <a:srgbClr val="E2E8F0"/>
                </a:solidFill>
                <a:latin typeface="Menlo"/>
              </a:rPr>
              <a:t>  redaction: {</a:t>
            </a:r>
          </a:p>
          <a:p>
            <a:pPr>
              <a:spcAft>
                <a:spcPts val="0"/>
              </a:spcAft>
            </a:pPr>
            <a:r>
              <a:rPr sz="1100">
                <a:solidFill>
                  <a:srgbClr val="E2E8F0"/>
                </a:solidFill>
                <a:latin typeface="Menlo"/>
              </a:rPr>
              <a:t>    argsAllowList: ['flightId','docId'],</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9" name="TextBox 38"/>
          <p:cNvSpPr txBox="1"/>
          <p:nvPr/>
        </p:nvSpPr>
        <p:spPr>
          <a:xfrm>
            <a:off x="6766560" y="5532120"/>
            <a:ext cx="4785055" cy="640080"/>
          </a:xfrm>
          <a:prstGeom prst="rect">
            <a:avLst/>
          </a:prstGeom>
          <a:noFill/>
        </p:spPr>
        <p:txBody>
          <a:bodyPr wrap="square" lIns="0" rIns="0" tIns="0" bIns="0" anchor="t">
            <a:spAutoFit/>
          </a:bodyPr>
          <a:lstStyle/>
          <a:p>
            <a:pPr algn="l"/>
            <a:r>
              <a:rPr sz="1000" b="0">
                <a:solidFill>
                  <a:srgbClr val="6B7380"/>
                </a:solidFill>
                <a:latin typeface="Calibri"/>
              </a:rPr>
              <a:t>Default sink is no-op — apps that don't import /otel pay zero bytes.</a:t>
            </a:r>
          </a:p>
        </p:txBody>
      </p:sp>
      <p:sp>
        <p:nvSpPr>
          <p:cNvPr id="40" name="Rectangle 3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42" name="TextBox 4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3" name="TextBox 4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10 · Audit trail · chain-of-custody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Regulated domain. Every state-mutating tool call must land in an immutable audit log: who, what, when, before, after. A hash chain makes any tamper attempt visibly break the chain.</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TAMPER-EVIDENT CHAIN</a:t>
            </a:r>
          </a:p>
        </p:txBody>
      </p:sp>
      <p:sp>
        <p:nvSpPr>
          <p:cNvPr id="9" name="Rectangle 8"/>
          <p:cNvSpPr/>
          <p:nvPr/>
        </p:nvSpPr>
        <p:spPr>
          <a:xfrm>
            <a:off x="914400" y="2743200"/>
            <a:ext cx="45720" cy="6400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88920"/>
            <a:ext cx="5212080" cy="292608"/>
          </a:xfrm>
          <a:prstGeom prst="rect">
            <a:avLst/>
          </a:prstGeom>
          <a:noFill/>
        </p:spPr>
        <p:txBody>
          <a:bodyPr wrap="square" lIns="0" rIns="0" tIns="0" bIns="0" anchor="t">
            <a:spAutoFit/>
          </a:bodyPr>
          <a:lstStyle/>
          <a:p>
            <a:pPr algn="l"/>
            <a:r>
              <a:rPr sz="1100" b="1">
                <a:solidFill>
                  <a:srgbClr val="141821"/>
                </a:solidFill>
                <a:latin typeface="Calibri"/>
              </a:rPr>
              <a:t>HOLD-001 issued</a:t>
            </a:r>
          </a:p>
        </p:txBody>
      </p:sp>
      <p:sp>
        <p:nvSpPr>
          <p:cNvPr id="11" name="TextBox 10"/>
          <p:cNvSpPr txBox="1"/>
          <p:nvPr/>
        </p:nvSpPr>
        <p:spPr>
          <a:xfrm>
            <a:off x="1097280" y="3108960"/>
            <a:ext cx="5212080" cy="274320"/>
          </a:xfrm>
          <a:prstGeom prst="rect">
            <a:avLst/>
          </a:prstGeom>
          <a:noFill/>
        </p:spPr>
        <p:txBody>
          <a:bodyPr wrap="square" lIns="0" rIns="0" tIns="0" bIns="0" anchor="t">
            <a:spAutoFit/>
          </a:bodyPr>
          <a:lstStyle/>
          <a:p>
            <a:pPr algn="l"/>
            <a:r>
              <a:rPr sz="900" b="0">
                <a:solidFill>
                  <a:srgbClr val="6B7380"/>
                </a:solidFill>
                <a:latin typeface="Menlo"/>
              </a:rPr>
              <a:t>actor: eleanor  ·  prevHash: null</a:t>
            </a:r>
          </a:p>
        </p:txBody>
      </p:sp>
      <p:cxnSp>
        <p:nvCxnSpPr>
          <p:cNvPr id="12" name="Connector 11"/>
          <p:cNvCxnSpPr/>
          <p:nvPr/>
        </p:nvCxnSpPr>
        <p:spPr>
          <a:xfrm>
            <a:off x="1143000" y="338328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14400" y="3611880"/>
            <a:ext cx="45720" cy="64008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57600"/>
            <a:ext cx="5212080" cy="292608"/>
          </a:xfrm>
          <a:prstGeom prst="rect">
            <a:avLst/>
          </a:prstGeom>
          <a:noFill/>
        </p:spPr>
        <p:txBody>
          <a:bodyPr wrap="square" lIns="0" rIns="0" tIns="0" bIns="0" anchor="t">
            <a:spAutoFit/>
          </a:bodyPr>
          <a:lstStyle/>
          <a:p>
            <a:pPr algn="l"/>
            <a:r>
              <a:rPr sz="1100" b="1">
                <a:solidFill>
                  <a:srgbClr val="141821"/>
                </a:solidFill>
                <a:latin typeface="Calibri"/>
              </a:rPr>
              <a:t>DOC-789 marked priv</a:t>
            </a:r>
          </a:p>
        </p:txBody>
      </p:sp>
      <p:sp>
        <p:nvSpPr>
          <p:cNvPr id="15" name="TextBox 14"/>
          <p:cNvSpPr txBox="1"/>
          <p:nvPr/>
        </p:nvSpPr>
        <p:spPr>
          <a:xfrm>
            <a:off x="1097280" y="3977640"/>
            <a:ext cx="5212080" cy="274320"/>
          </a:xfrm>
          <a:prstGeom prst="rect">
            <a:avLst/>
          </a:prstGeom>
          <a:noFill/>
        </p:spPr>
        <p:txBody>
          <a:bodyPr wrap="square" lIns="0" rIns="0" tIns="0" bIns="0" anchor="t">
            <a:spAutoFit/>
          </a:bodyPr>
          <a:lstStyle/>
          <a:p>
            <a:pPr algn="l"/>
            <a:r>
              <a:rPr sz="900" b="0">
                <a:solidFill>
                  <a:srgbClr val="6B7380"/>
                </a:solidFill>
                <a:latin typeface="Menlo"/>
              </a:rPr>
              <a:t>actor: associate  ·  prevHash: hash(HOLD)</a:t>
            </a:r>
          </a:p>
        </p:txBody>
      </p:sp>
      <p:cxnSp>
        <p:nvCxnSpPr>
          <p:cNvPr id="16" name="Connector 15"/>
          <p:cNvCxnSpPr/>
          <p:nvPr/>
        </p:nvCxnSpPr>
        <p:spPr>
          <a:xfrm>
            <a:off x="1143000" y="425196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4480560"/>
            <a:ext cx="45720" cy="64008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52628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created</a:t>
            </a:r>
          </a:p>
        </p:txBody>
      </p:sp>
      <p:sp>
        <p:nvSpPr>
          <p:cNvPr id="19" name="TextBox 18"/>
          <p:cNvSpPr txBox="1"/>
          <p:nvPr/>
        </p:nvSpPr>
        <p:spPr>
          <a:xfrm>
            <a:off x="1097280" y="4846320"/>
            <a:ext cx="5212080" cy="274320"/>
          </a:xfrm>
          <a:prstGeom prst="rect">
            <a:avLst/>
          </a:prstGeom>
          <a:noFill/>
        </p:spPr>
        <p:txBody>
          <a:bodyPr wrap="square" lIns="0" rIns="0" tIns="0" bIns="0" anchor="t">
            <a:spAutoFit/>
          </a:bodyPr>
          <a:lstStyle/>
          <a:p>
            <a:pPr algn="l"/>
            <a:r>
              <a:rPr sz="900" b="0">
                <a:solidFill>
                  <a:srgbClr val="6B7380"/>
                </a:solidFill>
                <a:latin typeface="Menlo"/>
              </a:rPr>
              <a:t>actor: paralegal  ·  prevHash: hash(DOC)</a:t>
            </a:r>
          </a:p>
        </p:txBody>
      </p:sp>
      <p:cxnSp>
        <p:nvCxnSpPr>
          <p:cNvPr id="20" name="Connector 19"/>
          <p:cNvCxnSpPr/>
          <p:nvPr/>
        </p:nvCxnSpPr>
        <p:spPr>
          <a:xfrm>
            <a:off x="1143000" y="512064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14400" y="5349240"/>
            <a:ext cx="45720" cy="64008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9496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delivered</a:t>
            </a:r>
          </a:p>
        </p:txBody>
      </p:sp>
      <p:sp>
        <p:nvSpPr>
          <p:cNvPr id="23" name="TextBox 22"/>
          <p:cNvSpPr txBox="1"/>
          <p:nvPr/>
        </p:nvSpPr>
        <p:spPr>
          <a:xfrm>
            <a:off x="1097280" y="5715000"/>
            <a:ext cx="5212080" cy="274320"/>
          </a:xfrm>
          <a:prstGeom prst="rect">
            <a:avLst/>
          </a:prstGeom>
          <a:noFill/>
        </p:spPr>
        <p:txBody>
          <a:bodyPr wrap="square" lIns="0" rIns="0" tIns="0" bIns="0" anchor="t">
            <a:spAutoFit/>
          </a:bodyPr>
          <a:lstStyle/>
          <a:p>
            <a:pPr algn="l"/>
            <a:r>
              <a:rPr sz="900" b="0">
                <a:solidFill>
                  <a:srgbClr val="6B7380"/>
                </a:solidFill>
                <a:latin typeface="Menlo"/>
              </a:rPr>
              <a:t>actor: lead  ·  prevHash: hash(PROD-c)</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Audit Trail page verifies the chain on render — green badge if hashes match end-to-end, red if tamper detected.</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PATTERN — NOT CORE LIB</a:t>
            </a:r>
          </a:p>
        </p:txBody>
      </p:sp>
      <p:sp>
        <p:nvSpPr>
          <p:cNvPr id="26" name="Rectangle 25"/>
          <p:cNvSpPr/>
          <p:nvPr/>
        </p:nvSpPr>
        <p:spPr>
          <a:xfrm>
            <a:off x="6766560" y="2606040"/>
            <a:ext cx="4785055" cy="24688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286000"/>
          </a:xfrm>
          <a:prstGeom prst="rect">
            <a:avLst/>
          </a:prstGeom>
          <a:noFill/>
        </p:spPr>
        <p:txBody>
          <a:bodyPr wrap="square" lIns="0" rIns="0" tIns="0" bIns="0">
            <a:spAutoFit/>
          </a:bodyPr>
          <a:lstStyle/>
          <a:p>
            <a:pPr>
              <a:spcAft>
                <a:spcPts val="0"/>
              </a:spcAft>
            </a:pPr>
            <a:r>
              <a:rPr sz="1100">
                <a:solidFill>
                  <a:srgbClr val="E2E8F0"/>
                </a:solidFill>
                <a:latin typeface="Menlo"/>
              </a:rPr>
              <a:t>function appendAudit(event) {</a:t>
            </a:r>
          </a:p>
          <a:p>
            <a:pPr>
              <a:spcAft>
                <a:spcPts val="0"/>
              </a:spcAft>
            </a:pPr>
            <a:r>
              <a:rPr sz="1100">
                <a:solidFill>
                  <a:srgbClr val="E2E8F0"/>
                </a:solidFill>
                <a:latin typeface="Menlo"/>
              </a:rPr>
              <a:t>  const prev = audit.list().at(-1);</a:t>
            </a:r>
          </a:p>
          <a:p>
            <a:pPr>
              <a:spcAft>
                <a:spcPts val="0"/>
              </a:spcAft>
            </a:pPr>
            <a:r>
              <a:rPr sz="1100">
                <a:solidFill>
                  <a:srgbClr val="E2E8F0"/>
                </a:solidFill>
                <a:latin typeface="Menlo"/>
              </a:rPr>
              <a:t>  audit.append({</a:t>
            </a:r>
          </a:p>
          <a:p>
            <a:pPr>
              <a:spcAft>
                <a:spcPts val="0"/>
              </a:spcAft>
            </a:pPr>
            <a:r>
              <a:rPr sz="1100">
                <a:solidFill>
                  <a:srgbClr val="E2E8F0"/>
                </a:solidFill>
                <a:latin typeface="Menlo"/>
              </a:rPr>
              <a:t>    ...event,</a:t>
            </a:r>
          </a:p>
          <a:p>
            <a:pPr>
              <a:spcAft>
                <a:spcPts val="0"/>
              </a:spcAft>
            </a:pPr>
            <a:r>
              <a:rPr sz="1100">
                <a:solidFill>
                  <a:srgbClr val="E2E8F0"/>
                </a:solidFill>
                <a:latin typeface="Menlo"/>
              </a:rPr>
              <a:t>    timestamp: new Date().toISOString(),</a:t>
            </a:r>
          </a:p>
          <a:p>
            <a:pPr>
              <a:spcAft>
                <a:spcPts val="0"/>
              </a:spcAft>
            </a:pPr>
            <a:r>
              <a:rPr sz="1100">
                <a:solidFill>
                  <a:srgbClr val="E2E8F0"/>
                </a:solidFill>
                <a:latin typeface="Menlo"/>
              </a:rPr>
              <a:t>    prevHash: prev?.chainHash ?? null,</a:t>
            </a:r>
          </a:p>
          <a:p>
            <a:pPr>
              <a:spcAft>
                <a:spcPts val="0"/>
              </a:spcAft>
            </a:pPr>
            <a:r>
              <a:rPr sz="1100">
                <a:solidFill>
                  <a:srgbClr val="E2E8F0"/>
                </a:solidFill>
                <a:latin typeface="Menlo"/>
              </a:rPr>
              <a:t>    chainHash: hash({</a:t>
            </a:r>
          </a:p>
          <a:p>
            <a:pPr>
              <a:spcAft>
                <a:spcPts val="0"/>
              </a:spcAft>
            </a:pPr>
            <a:r>
              <a:rPr sz="1100">
                <a:solidFill>
                  <a:srgbClr val="E2E8F0"/>
                </a:solidFill>
                <a:latin typeface="Menlo"/>
              </a:rPr>
              <a:t>      ...event,</a:t>
            </a:r>
          </a:p>
          <a:p>
            <a:pPr>
              <a:spcAft>
                <a:spcPts val="0"/>
              </a:spcAft>
            </a:pPr>
            <a:r>
              <a:rPr sz="1100">
                <a:solidFill>
                  <a:srgbClr val="E2E8F0"/>
                </a:solidFill>
                <a:latin typeface="Menlo"/>
              </a:rPr>
              <a:t>      prevHash: prev?.chainHash,</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166360"/>
            <a:ext cx="4785055" cy="274320"/>
          </a:xfrm>
          <a:prstGeom prst="rect">
            <a:avLst/>
          </a:prstGeom>
          <a:noFill/>
        </p:spPr>
        <p:txBody>
          <a:bodyPr wrap="square" lIns="0" rIns="0" tIns="0" bIns="0" anchor="t">
            <a:spAutoFit/>
          </a:bodyPr>
          <a:lstStyle/>
          <a:p>
            <a:pPr algn="l"/>
            <a:r>
              <a:rPr sz="1000" b="1">
                <a:solidFill>
                  <a:srgbClr val="6B7380"/>
                </a:solidFill>
                <a:latin typeface="Calibri"/>
              </a:rPr>
              <a:t>THREE-PIECE COMPLIANCE STACK</a:t>
            </a:r>
          </a:p>
        </p:txBody>
      </p:sp>
      <p:sp>
        <p:nvSpPr>
          <p:cNvPr id="29" name="TextBox 28"/>
          <p:cNvSpPr txBox="1"/>
          <p:nvPr/>
        </p:nvSpPr>
        <p:spPr>
          <a:xfrm>
            <a:off x="6766560" y="5486400"/>
            <a:ext cx="4785055" cy="1097280"/>
          </a:xfrm>
          <a:prstGeom prst="rect">
            <a:avLst/>
          </a:prstGeom>
          <a:noFill/>
        </p:spPr>
        <p:txBody>
          <a:bodyPr wrap="square" lIns="0" rIns="0" tIns="0" bIns="0">
            <a:spAutoFit/>
          </a:bodyPr>
          <a:lstStyle/>
          <a:p>
            <a:pPr>
              <a:spcAft>
                <a:spcPts val="500"/>
              </a:spcAft>
            </a:pPr>
            <a:r>
              <a:rPr sz="1000" b="1">
                <a:solidFill>
                  <a:srgbClr val="2F6F4F"/>
                </a:solidFill>
                <a:latin typeface="Calibri"/>
              </a:rPr>
              <a:t>✓  </a:t>
            </a:r>
            <a:r>
              <a:rPr sz="1000">
                <a:solidFill>
                  <a:srgbClr val="141821"/>
                </a:solidFill>
                <a:latin typeface="Calibri"/>
              </a:rPr>
              <a:t>Use 4 — who CAN do it (persona scope)</a:t>
            </a:r>
          </a:p>
          <a:p>
            <a:pPr>
              <a:spcAft>
                <a:spcPts val="500"/>
              </a:spcAft>
            </a:pPr>
            <a:r>
              <a:rPr sz="1000" b="1">
                <a:solidFill>
                  <a:srgbClr val="2F6F4F"/>
                </a:solidFill>
                <a:latin typeface="Calibri"/>
              </a:rPr>
              <a:t>✓  </a:t>
            </a:r>
            <a:r>
              <a:rPr sz="1000">
                <a:solidFill>
                  <a:srgbClr val="141821"/>
                </a:solidFill>
                <a:latin typeface="Calibri"/>
              </a:rPr>
              <a:t>Use 9 — what HAPPENED (telemetry / OTel)</a:t>
            </a:r>
          </a:p>
          <a:p>
            <a:pPr>
              <a:spcAft>
                <a:spcPts val="500"/>
              </a:spcAft>
            </a:pPr>
            <a:r>
              <a:rPr sz="1000" b="1">
                <a:solidFill>
                  <a:srgbClr val="2F6F4F"/>
                </a:solidFill>
                <a:latin typeface="Calibri"/>
              </a:rPr>
              <a:t>✓  </a:t>
            </a:r>
            <a:r>
              <a:rPr sz="1000">
                <a:solidFill>
                  <a:srgbClr val="141821"/>
                </a:solidFill>
                <a:latin typeface="Calibri"/>
              </a:rPr>
              <a:t>Use 10 — verifiable WHO DID IT (this slide)</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user prompt → five things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flow.png"/>
          <p:cNvPicPr>
            <a:picLocks noChangeAspect="1"/>
          </p:cNvPicPr>
          <p:nvPr/>
        </p:nvPicPr>
        <p:blipFill>
          <a:blip r:embed="rId2"/>
          <a:stretch>
            <a:fillRect/>
          </a:stretch>
        </p:blipFill>
        <p:spPr>
          <a:xfrm>
            <a:off x="1182143" y="1554480"/>
            <a:ext cx="982740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Sequence: 1 prompt → LLM picks tool → handler runs → LLM picks UI component → host mounts it (Zod-validated props) → LLM closes with text. Each arrow is a library seam you can swap, scope, or instrument.</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Five demos in this repo</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Demo</a:t>
            </a:r>
          </a:p>
        </p:txBody>
      </p:sp>
      <p:sp>
        <p:nvSpPr>
          <p:cNvPr id="9" name="TextBox 8"/>
          <p:cNvSpPr txBox="1"/>
          <p:nvPr/>
        </p:nvSpPr>
        <p:spPr>
          <a:xfrm>
            <a:off x="45720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What it shows</a:t>
            </a:r>
          </a:p>
        </p:txBody>
      </p:sp>
      <p:sp>
        <p:nvSpPr>
          <p:cNvPr id="10" name="TextBox 9"/>
          <p:cNvSpPr txBox="1"/>
          <p:nvPr/>
        </p:nvSpPr>
        <p:spPr>
          <a:xfrm>
            <a:off x="7955279"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Library features exercised</a:t>
            </a:r>
          </a:p>
        </p:txBody>
      </p:sp>
      <p:sp>
        <p:nvSpPr>
          <p:cNvPr id="11" name="TextBox 10"/>
          <p:cNvSpPr txBox="1"/>
          <p:nvPr/>
        </p:nvSpPr>
        <p:spPr>
          <a:xfrm>
            <a:off x="868680" y="2057400"/>
            <a:ext cx="3657600" cy="548640"/>
          </a:xfrm>
          <a:prstGeom prst="rect">
            <a:avLst/>
          </a:prstGeom>
          <a:noFill/>
        </p:spPr>
        <p:txBody>
          <a:bodyPr wrap="square" lIns="0" rIns="0" tIns="0" bIns="0" anchor="t">
            <a:spAutoFit/>
          </a:bodyPr>
          <a:lstStyle/>
          <a:p>
            <a:pPr algn="l"/>
            <a:r>
              <a:rPr sz="1200" b="1">
                <a:solidFill>
                  <a:srgbClr val="12243D"/>
                </a:solidFill>
                <a:latin typeface="Menlo"/>
              </a:rPr>
              <a:t>demo-monolith</a:t>
            </a:r>
          </a:p>
        </p:txBody>
      </p:sp>
      <p:sp>
        <p:nvSpPr>
          <p:cNvPr id="12" name="TextBox 11"/>
          <p:cNvSpPr txBox="1"/>
          <p:nvPr/>
        </p:nvSpPr>
        <p:spPr>
          <a:xfrm>
            <a:off x="4572000" y="2057400"/>
            <a:ext cx="3291840" cy="548640"/>
          </a:xfrm>
          <a:prstGeom prst="rect">
            <a:avLst/>
          </a:prstGeom>
          <a:noFill/>
        </p:spPr>
        <p:txBody>
          <a:bodyPr wrap="square" lIns="0" rIns="0" tIns="0" bIns="0" anchor="t">
            <a:spAutoFit/>
          </a:bodyPr>
          <a:lstStyle/>
          <a:p>
            <a:pPr algn="l"/>
            <a:r>
              <a:rPr sz="1100" b="0">
                <a:solidFill>
                  <a:srgbClr val="363D49"/>
                </a:solidFill>
                <a:latin typeface="Calibri"/>
              </a:rPr>
              <a:t>Single-app AG-UI parity</a:t>
            </a:r>
          </a:p>
        </p:txBody>
      </p:sp>
      <p:sp>
        <p:nvSpPr>
          <p:cNvPr id="13" name="TextBox 12"/>
          <p:cNvSpPr txBox="1"/>
          <p:nvPr/>
        </p:nvSpPr>
        <p:spPr>
          <a:xfrm>
            <a:off x="7955279" y="2057400"/>
            <a:ext cx="3749039" cy="548640"/>
          </a:xfrm>
          <a:prstGeom prst="rect">
            <a:avLst/>
          </a:prstGeom>
          <a:noFill/>
        </p:spPr>
        <p:txBody>
          <a:bodyPr wrap="square" lIns="0" rIns="0" tIns="0" bIns="0" anchor="t">
            <a:spAutoFit/>
          </a:bodyPr>
          <a:lstStyle/>
          <a:p>
            <a:pPr algn="l"/>
            <a:r>
              <a:rPr sz="1000" b="0">
                <a:solidFill>
                  <a:srgbClr val="6B7380"/>
                </a:solidFill>
                <a:latin typeface="Calibri"/>
              </a:rPr>
              <a:t>M1 baseline · same shape as flights42</a:t>
            </a:r>
          </a:p>
        </p:txBody>
      </p:sp>
      <p:sp>
        <p:nvSpPr>
          <p:cNvPr id="14" name="TextBox 13"/>
          <p:cNvSpPr txBox="1"/>
          <p:nvPr/>
        </p:nvSpPr>
        <p:spPr>
          <a:xfrm>
            <a:off x="868680" y="2770632"/>
            <a:ext cx="3657600" cy="548640"/>
          </a:xfrm>
          <a:prstGeom prst="rect">
            <a:avLst/>
          </a:prstGeom>
          <a:noFill/>
        </p:spPr>
        <p:txBody>
          <a:bodyPr wrap="square" lIns="0" rIns="0" tIns="0" bIns="0" anchor="t">
            <a:spAutoFit/>
          </a:bodyPr>
          <a:lstStyle/>
          <a:p>
            <a:pPr algn="l"/>
            <a:r>
              <a:rPr sz="1200" b="1">
                <a:solidFill>
                  <a:srgbClr val="12243D"/>
                </a:solidFill>
                <a:latin typeface="Menlo"/>
              </a:rPr>
              <a:t>demo-feature-tour</a:t>
            </a:r>
          </a:p>
        </p:txBody>
      </p:sp>
      <p:sp>
        <p:nvSpPr>
          <p:cNvPr id="15" name="TextBox 14"/>
          <p:cNvSpPr txBox="1"/>
          <p:nvPr/>
        </p:nvSpPr>
        <p:spPr>
          <a:xfrm>
            <a:off x="4572000" y="2770632"/>
            <a:ext cx="3291840" cy="548640"/>
          </a:xfrm>
          <a:prstGeom prst="rect">
            <a:avLst/>
          </a:prstGeom>
          <a:noFill/>
        </p:spPr>
        <p:txBody>
          <a:bodyPr wrap="square" lIns="0" rIns="0" tIns="0" bIns="0" anchor="t">
            <a:spAutoFit/>
          </a:bodyPr>
          <a:lstStyle/>
          <a:p>
            <a:pPr algn="l"/>
            <a:r>
              <a:rPr sz="1100" b="0">
                <a:solidFill>
                  <a:srgbClr val="363D49"/>
                </a:solidFill>
                <a:latin typeface="Calibri"/>
              </a:rPr>
              <a:t>All 13 registries in one app</a:t>
            </a:r>
          </a:p>
        </p:txBody>
      </p:sp>
      <p:sp>
        <p:nvSpPr>
          <p:cNvPr id="16" name="TextBox 15"/>
          <p:cNvSpPr txBox="1"/>
          <p:nvPr/>
        </p:nvSpPr>
        <p:spPr>
          <a:xfrm>
            <a:off x="7955279" y="2770632"/>
            <a:ext cx="3749039" cy="548640"/>
          </a:xfrm>
          <a:prstGeom prst="rect">
            <a:avLst/>
          </a:prstGeom>
          <a:noFill/>
        </p:spPr>
        <p:txBody>
          <a:bodyPr wrap="square" lIns="0" rIns="0" tIns="0" bIns="0" anchor="t">
            <a:spAutoFit/>
          </a:bodyPr>
          <a:lstStyle/>
          <a:p>
            <a:pPr algn="l"/>
            <a:r>
              <a:rPr sz="1000" b="0">
                <a:solidFill>
                  <a:srgbClr val="6B7380"/>
                </a:solidFill>
                <a:latin typeface="Calibri"/>
              </a:rPr>
              <a:t>ActionRegistry, FormRegistry, IntentRegistry, DataSource</a:t>
            </a:r>
          </a:p>
        </p:txBody>
      </p:sp>
      <p:sp>
        <p:nvSpPr>
          <p:cNvPr id="17" name="TextBox 16"/>
          <p:cNvSpPr txBox="1"/>
          <p:nvPr/>
        </p:nvSpPr>
        <p:spPr>
          <a:xfrm>
            <a:off x="868680" y="3483864"/>
            <a:ext cx="3657600" cy="548640"/>
          </a:xfrm>
          <a:prstGeom prst="rect">
            <a:avLst/>
          </a:prstGeom>
          <a:noFill/>
        </p:spPr>
        <p:txBody>
          <a:bodyPr wrap="square" lIns="0" rIns="0" tIns="0" bIns="0" anchor="t">
            <a:spAutoFit/>
          </a:bodyPr>
          <a:lstStyle/>
          <a:p>
            <a:pPr algn="l"/>
            <a:r>
              <a:rPr sz="1200" b="1">
                <a:solidFill>
                  <a:srgbClr val="12243D"/>
                </a:solidFill>
                <a:latin typeface="Menlo"/>
              </a:rPr>
              <a:t>demo-shell + remotes</a:t>
            </a:r>
          </a:p>
        </p:txBody>
      </p:sp>
      <p:sp>
        <p:nvSpPr>
          <p:cNvPr id="18" name="TextBox 17"/>
          <p:cNvSpPr txBox="1"/>
          <p:nvPr/>
        </p:nvSpPr>
        <p:spPr>
          <a:xfrm>
            <a:off x="4572000" y="3483864"/>
            <a:ext cx="3291840" cy="548640"/>
          </a:xfrm>
          <a:prstGeom prst="rect">
            <a:avLst/>
          </a:prstGeom>
          <a:noFill/>
        </p:spPr>
        <p:txBody>
          <a:bodyPr wrap="square" lIns="0" rIns="0" tIns="0" bIns="0" anchor="t">
            <a:spAutoFit/>
          </a:bodyPr>
          <a:lstStyle/>
          <a:p>
            <a:pPr algn="l"/>
            <a:r>
              <a:rPr sz="1100" b="0">
                <a:solidFill>
                  <a:srgbClr val="363D49"/>
                </a:solidFill>
                <a:latin typeface="Calibri"/>
              </a:rPr>
              <a:t>Native Federation host + bookings/loyalty/support</a:t>
            </a:r>
          </a:p>
        </p:txBody>
      </p:sp>
      <p:sp>
        <p:nvSpPr>
          <p:cNvPr id="19" name="TextBox 18"/>
          <p:cNvSpPr txBox="1"/>
          <p:nvPr/>
        </p:nvSpPr>
        <p:spPr>
          <a:xfrm>
            <a:off x="7955279" y="3483864"/>
            <a:ext cx="3749039" cy="548640"/>
          </a:xfrm>
          <a:prstGeom prst="rect">
            <a:avLst/>
          </a:prstGeom>
          <a:noFill/>
        </p:spPr>
        <p:txBody>
          <a:bodyPr wrap="square" lIns="0" rIns="0" tIns="0" bIns="0" anchor="t">
            <a:spAutoFit/>
          </a:bodyPr>
          <a:lstStyle/>
          <a:p>
            <a:pPr algn="l"/>
            <a:r>
              <a:rPr sz="1000" b="0">
                <a:solidFill>
                  <a:srgbClr val="6B7380"/>
                </a:solidFill>
                <a:latin typeface="Calibri"/>
              </a:rPr>
              <a:t>Capability handoff · prefetchCapabilities</a:t>
            </a:r>
          </a:p>
        </p:txBody>
      </p:sp>
      <p:sp>
        <p:nvSpPr>
          <p:cNvPr id="20" name="TextBox 19"/>
          <p:cNvSpPr txBox="1"/>
          <p:nvPr/>
        </p:nvSpPr>
        <p:spPr>
          <a:xfrm>
            <a:off x="868680" y="4197096"/>
            <a:ext cx="3657600" cy="548640"/>
          </a:xfrm>
          <a:prstGeom prst="rect">
            <a:avLst/>
          </a:prstGeom>
          <a:noFill/>
        </p:spPr>
        <p:txBody>
          <a:bodyPr wrap="square" lIns="0" rIns="0" tIns="0" bIns="0" anchor="t">
            <a:spAutoFit/>
          </a:bodyPr>
          <a:lstStyle/>
          <a:p>
            <a:pPr algn="l"/>
            <a:r>
              <a:rPr sz="1200" b="1">
                <a:solidFill>
                  <a:srgbClr val="12243D"/>
                </a:solidFill>
                <a:latin typeface="Menlo"/>
              </a:rPr>
              <a:t>demo-multi-agent</a:t>
            </a:r>
          </a:p>
        </p:txBody>
      </p:sp>
      <p:sp>
        <p:nvSpPr>
          <p:cNvPr id="21" name="TextBox 20"/>
          <p:cNvSpPr txBox="1"/>
          <p:nvPr/>
        </p:nvSpPr>
        <p:spPr>
          <a:xfrm>
            <a:off x="4572000" y="4197096"/>
            <a:ext cx="3291840" cy="548640"/>
          </a:xfrm>
          <a:prstGeom prst="rect">
            <a:avLst/>
          </a:prstGeom>
          <a:noFill/>
        </p:spPr>
        <p:txBody>
          <a:bodyPr wrap="square" lIns="0" rIns="0" tIns="0" bIns="0" anchor="t">
            <a:spAutoFit/>
          </a:bodyPr>
          <a:lstStyle/>
          <a:p>
            <a:pPr algn="l"/>
            <a:r>
              <a:rPr sz="1100" b="0">
                <a:solidFill>
                  <a:srgbClr val="363D49"/>
                </a:solidFill>
                <a:latin typeface="Calibri"/>
              </a:rPr>
              <a:t>OrchestratorAgent + specialists</a:t>
            </a:r>
          </a:p>
        </p:txBody>
      </p:sp>
      <p:sp>
        <p:nvSpPr>
          <p:cNvPr id="22" name="TextBox 21"/>
          <p:cNvSpPr txBox="1"/>
          <p:nvPr/>
        </p:nvSpPr>
        <p:spPr>
          <a:xfrm>
            <a:off x="7955279" y="4197096"/>
            <a:ext cx="3749039" cy="548640"/>
          </a:xfrm>
          <a:prstGeom prst="rect">
            <a:avLst/>
          </a:prstGeom>
          <a:noFill/>
        </p:spPr>
        <p:txBody>
          <a:bodyPr wrap="square" lIns="0" rIns="0" tIns="0" bIns="0" anchor="t">
            <a:spAutoFit/>
          </a:bodyPr>
          <a:lstStyle/>
          <a:p>
            <a:pPr algn="l"/>
            <a:r>
              <a:rPr sz="1000" b="0">
                <a:solidFill>
                  <a:srgbClr val="6B7380"/>
                </a:solidFill>
                <a:latin typeface="Calibri"/>
              </a:rPr>
              <a:t>Sticky routing · ThreadStateStore</a:t>
            </a:r>
          </a:p>
        </p:txBody>
      </p:sp>
      <p:sp>
        <p:nvSpPr>
          <p:cNvPr id="23" name="TextBox 22"/>
          <p:cNvSpPr txBox="1"/>
          <p:nvPr/>
        </p:nvSpPr>
        <p:spPr>
          <a:xfrm>
            <a:off x="868680" y="4910328"/>
            <a:ext cx="3657600" cy="548640"/>
          </a:xfrm>
          <a:prstGeom prst="rect">
            <a:avLst/>
          </a:prstGeom>
          <a:noFill/>
        </p:spPr>
        <p:txBody>
          <a:bodyPr wrap="square" lIns="0" rIns="0" tIns="0" bIns="0" anchor="t">
            <a:spAutoFit/>
          </a:bodyPr>
          <a:lstStyle/>
          <a:p>
            <a:pPr algn="l"/>
            <a:r>
              <a:rPr sz="1200" b="1">
                <a:solidFill>
                  <a:srgbClr val="12243D"/>
                </a:solidFill>
                <a:latin typeface="Menlo"/>
              </a:rPr>
              <a:t>demo-mcp-server</a:t>
            </a:r>
          </a:p>
        </p:txBody>
      </p:sp>
      <p:sp>
        <p:nvSpPr>
          <p:cNvPr id="24" name="TextBox 23"/>
          <p:cNvSpPr txBox="1"/>
          <p:nvPr/>
        </p:nvSpPr>
        <p:spPr>
          <a:xfrm>
            <a:off x="4572000" y="4910328"/>
            <a:ext cx="3291840" cy="548640"/>
          </a:xfrm>
          <a:prstGeom prst="rect">
            <a:avLst/>
          </a:prstGeom>
          <a:noFill/>
        </p:spPr>
        <p:txBody>
          <a:bodyPr wrap="square" lIns="0" rIns="0" tIns="0" bIns="0" anchor="t">
            <a:spAutoFit/>
          </a:bodyPr>
          <a:lstStyle/>
          <a:p>
            <a:pPr algn="l"/>
            <a:r>
              <a:rPr sz="1100" b="0">
                <a:solidFill>
                  <a:srgbClr val="363D49"/>
                </a:solidFill>
                <a:latin typeface="Calibri"/>
              </a:rPr>
              <a:t>Tools as MCP server</a:t>
            </a:r>
          </a:p>
        </p:txBody>
      </p:sp>
      <p:sp>
        <p:nvSpPr>
          <p:cNvPr id="25" name="TextBox 24"/>
          <p:cNvSpPr txBox="1"/>
          <p:nvPr/>
        </p:nvSpPr>
        <p:spPr>
          <a:xfrm>
            <a:off x="7955279" y="4910328"/>
            <a:ext cx="3749039" cy="548640"/>
          </a:xfrm>
          <a:prstGeom prst="rect">
            <a:avLst/>
          </a:prstGeom>
          <a:noFill/>
        </p:spPr>
        <p:txBody>
          <a:bodyPr wrap="square" lIns="0" rIns="0" tIns="0" bIns="0" anchor="t">
            <a:spAutoFit/>
          </a:bodyPr>
          <a:lstStyle/>
          <a:p>
            <a:pPr algn="l"/>
            <a:r>
              <a:rPr sz="1000" b="0">
                <a:solidFill>
                  <a:srgbClr val="6B7380"/>
                </a:solidFill>
                <a:latin typeface="Calibri"/>
              </a:rPr>
              <a:t>Claude Desktop · MCP UI · per-user instances</a:t>
            </a:r>
          </a:p>
        </p:txBody>
      </p:sp>
      <p:sp>
        <p:nvSpPr>
          <p:cNvPr id="26" name="TextBox 25"/>
          <p:cNvSpPr txBox="1"/>
          <p:nvPr/>
        </p:nvSpPr>
        <p:spPr>
          <a:xfrm>
            <a:off x="868680" y="5623560"/>
            <a:ext cx="3657600" cy="548640"/>
          </a:xfrm>
          <a:prstGeom prst="rect">
            <a:avLst/>
          </a:prstGeom>
          <a:noFill/>
        </p:spPr>
        <p:txBody>
          <a:bodyPr wrap="square" lIns="0" rIns="0" tIns="0" bIns="0" anchor="t">
            <a:spAutoFit/>
          </a:bodyPr>
          <a:lstStyle/>
          <a:p>
            <a:pPr algn="l"/>
            <a:r>
              <a:rPr sz="1200" b="1">
                <a:solidFill>
                  <a:srgbClr val="12243D"/>
                </a:solidFill>
                <a:latin typeface="Menlo"/>
              </a:rPr>
              <a:t>demo-ediscovery</a:t>
            </a:r>
          </a:p>
        </p:txBody>
      </p:sp>
      <p:sp>
        <p:nvSpPr>
          <p:cNvPr id="27" name="TextBox 26"/>
          <p:cNvSpPr txBox="1"/>
          <p:nvPr/>
        </p:nvSpPr>
        <p:spPr>
          <a:xfrm>
            <a:off x="4572000" y="5623560"/>
            <a:ext cx="3291840" cy="548640"/>
          </a:xfrm>
          <a:prstGeom prst="rect">
            <a:avLst/>
          </a:prstGeom>
          <a:noFill/>
        </p:spPr>
        <p:txBody>
          <a:bodyPr wrap="square" lIns="0" rIns="0" tIns="0" bIns="0" anchor="t">
            <a:spAutoFit/>
          </a:bodyPr>
          <a:lstStyle/>
          <a:p>
            <a:pPr algn="l"/>
            <a:r>
              <a:rPr sz="1100" b="0">
                <a:solidFill>
                  <a:srgbClr val="363D49"/>
                </a:solidFill>
                <a:latin typeface="Calibri"/>
              </a:rPr>
              <a:t>Enterprise reference app</a:t>
            </a:r>
          </a:p>
        </p:txBody>
      </p:sp>
      <p:sp>
        <p:nvSpPr>
          <p:cNvPr id="28" name="TextBox 27"/>
          <p:cNvSpPr txBox="1"/>
          <p:nvPr/>
        </p:nvSpPr>
        <p:spPr>
          <a:xfrm>
            <a:off x="7955279" y="5623560"/>
            <a:ext cx="3749039" cy="548640"/>
          </a:xfrm>
          <a:prstGeom prst="rect">
            <a:avLst/>
          </a:prstGeom>
          <a:noFill/>
        </p:spPr>
        <p:txBody>
          <a:bodyPr wrap="square" lIns="0" rIns="0" tIns="0" bIns="0" anchor="t">
            <a:spAutoFit/>
          </a:bodyPr>
          <a:lstStyle/>
          <a:p>
            <a:pPr algn="l"/>
            <a:r>
              <a:rPr sz="1000" b="0">
                <a:solidFill>
                  <a:srgbClr val="6B7380"/>
                </a:solidFill>
                <a:latin typeface="Calibri"/>
              </a:rPr>
              <a:t>Federated review remote · audit trail · 5 personas</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An enterprise reference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A federated eDiscovery shell — the demo we use to validate every library feature against a recognisable, regulated, complex domain.</a:t>
            </a:r>
          </a:p>
        </p:txBody>
      </p:sp>
      <p:sp>
        <p:nvSpPr>
          <p:cNvPr id="7" name="Rounded Rectangle 6"/>
          <p:cNvSpPr/>
          <p:nvPr/>
        </p:nvSpPr>
        <p:spPr>
          <a:xfrm>
            <a:off x="640080"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8</a:t>
            </a:r>
          </a:p>
        </p:txBody>
      </p:sp>
      <p:sp>
        <p:nvSpPr>
          <p:cNvPr id="9" name="TextBox 8"/>
          <p:cNvSpPr txBox="1"/>
          <p:nvPr/>
        </p:nvSpPr>
        <p:spPr>
          <a:xfrm>
            <a:off x="777240"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phases shipped</a:t>
            </a:r>
          </a:p>
        </p:txBody>
      </p:sp>
      <p:sp>
        <p:nvSpPr>
          <p:cNvPr id="10" name="Rounded Rectangle 9"/>
          <p:cNvSpPr/>
          <p:nvPr/>
        </p:nvSpPr>
        <p:spPr>
          <a:xfrm>
            <a:off x="2858963"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6123"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18</a:t>
            </a:r>
          </a:p>
        </p:txBody>
      </p:sp>
      <p:sp>
        <p:nvSpPr>
          <p:cNvPr id="12" name="TextBox 11"/>
          <p:cNvSpPr txBox="1"/>
          <p:nvPr/>
        </p:nvSpPr>
        <p:spPr>
          <a:xfrm>
            <a:off x="2996123"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tools · 4 specialists</a:t>
            </a:r>
          </a:p>
        </p:txBody>
      </p:sp>
      <p:sp>
        <p:nvSpPr>
          <p:cNvPr id="13" name="Rounded Rectangle 12"/>
          <p:cNvSpPr/>
          <p:nvPr/>
        </p:nvSpPr>
        <p:spPr>
          <a:xfrm>
            <a:off x="5077846"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5006"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3 + 1</a:t>
            </a:r>
          </a:p>
        </p:txBody>
      </p:sp>
      <p:sp>
        <p:nvSpPr>
          <p:cNvPr id="15" name="TextBox 14"/>
          <p:cNvSpPr txBox="1"/>
          <p:nvPr/>
        </p:nvSpPr>
        <p:spPr>
          <a:xfrm>
            <a:off x="5215006"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MFE remotes + MCP server</a:t>
            </a:r>
          </a:p>
        </p:txBody>
      </p:sp>
      <p:sp>
        <p:nvSpPr>
          <p:cNvPr id="16" name="Rounded Rectangle 15"/>
          <p:cNvSpPr/>
          <p:nvPr/>
        </p:nvSpPr>
        <p:spPr>
          <a:xfrm>
            <a:off x="7296729"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3889"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18" name="TextBox 17"/>
          <p:cNvSpPr txBox="1"/>
          <p:nvPr/>
        </p:nvSpPr>
        <p:spPr>
          <a:xfrm>
            <a:off x="7433889"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registries exercised</a:t>
            </a:r>
          </a:p>
        </p:txBody>
      </p:sp>
      <p:sp>
        <p:nvSpPr>
          <p:cNvPr id="19" name="Rounded Rectangle 18"/>
          <p:cNvSpPr/>
          <p:nvPr/>
        </p:nvSpPr>
        <p:spPr>
          <a:xfrm>
            <a:off x="9515612"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772" y="2542032"/>
            <a:ext cx="176168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21" name="TextBox 20"/>
          <p:cNvSpPr txBox="1"/>
          <p:nvPr/>
        </p:nvSpPr>
        <p:spPr>
          <a:xfrm>
            <a:off x="9652772"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tamper-evident audit</a:t>
            </a:r>
          </a:p>
        </p:txBody>
      </p:sp>
      <p:sp>
        <p:nvSpPr>
          <p:cNvPr id="22" name="TextBox 21"/>
          <p:cNvSpPr txBox="1"/>
          <p:nvPr/>
        </p:nvSpPr>
        <p:spPr>
          <a:xfrm>
            <a:off x="640080"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WHAT THE DEMO SHIPS</a:t>
            </a:r>
          </a:p>
        </p:txBody>
      </p:sp>
      <p:sp>
        <p:nvSpPr>
          <p:cNvPr id="23" name="Rectangle 22"/>
          <p:cNvSpPr/>
          <p:nvPr/>
        </p:nvSpPr>
        <p:spPr>
          <a:xfrm>
            <a:off x="640080"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297680"/>
            <a:ext cx="5272887" cy="2286000"/>
          </a:xfrm>
          <a:prstGeom prst="rect">
            <a:avLst/>
          </a:prstGeom>
          <a:noFill/>
        </p:spPr>
        <p:txBody>
          <a:bodyPr wrap="square" lIns="0" rIns="0" tIns="0" bIns="0">
            <a:spAutoFit/>
          </a:bodyPr>
          <a:lstStyle/>
          <a:p>
            <a:pPr>
              <a:spcAft>
                <a:spcPts val="400"/>
              </a:spcAft>
            </a:pPr>
            <a:r>
              <a:rPr sz="1100" b="1">
                <a:solidFill>
                  <a:srgbClr val="1E3A5F"/>
                </a:solidFill>
                <a:latin typeface="Calibri"/>
              </a:rPr>
              <a:t>•  </a:t>
            </a:r>
            <a:r>
              <a:rPr sz="1100">
                <a:solidFill>
                  <a:srgbClr val="141821"/>
                </a:solidFill>
                <a:latin typeface="Calibri"/>
              </a:rPr>
              <a:t>Custodian intake · legal-hold lifecycle</a:t>
            </a:r>
          </a:p>
          <a:p>
            <a:pPr>
              <a:spcAft>
                <a:spcPts val="400"/>
              </a:spcAft>
            </a:pPr>
            <a:r>
              <a:rPr sz="1100" b="1">
                <a:solidFill>
                  <a:srgbClr val="1E3A5F"/>
                </a:solidFill>
                <a:latin typeface="Calibri"/>
              </a:rPr>
              <a:t>•  </a:t>
            </a:r>
            <a:r>
              <a:rPr sz="1100">
                <a:solidFill>
                  <a:srgbClr val="141821"/>
                </a:solidFill>
                <a:latin typeface="Calibri"/>
              </a:rPr>
              <a:t>Document review with privilege workflow</a:t>
            </a:r>
          </a:p>
          <a:p>
            <a:pPr>
              <a:spcAft>
                <a:spcPts val="400"/>
              </a:spcAft>
            </a:pPr>
            <a:r>
              <a:rPr sz="1100" b="1">
                <a:solidFill>
                  <a:srgbClr val="1E3A5F"/>
                </a:solidFill>
                <a:latin typeface="Calibri"/>
              </a:rPr>
              <a:t>•  </a:t>
            </a:r>
            <a:r>
              <a:rPr sz="1100">
                <a:solidFill>
                  <a:srgbClr val="141821"/>
                </a:solidFill>
                <a:latin typeface="Calibri"/>
              </a:rPr>
              <a:t>Production assembly: create → bates → export</a:t>
            </a:r>
          </a:p>
          <a:p>
            <a:pPr>
              <a:spcAft>
                <a:spcPts val="400"/>
              </a:spcAft>
            </a:pPr>
            <a:r>
              <a:rPr sz="1100" b="1">
                <a:solidFill>
                  <a:srgbClr val="1E3A5F"/>
                </a:solidFill>
                <a:latin typeface="Calibri"/>
              </a:rPr>
              <a:t>•  </a:t>
            </a:r>
            <a:r>
              <a:rPr sz="1100">
                <a:solidFill>
                  <a:srgbClr val="141821"/>
                </a:solidFill>
                <a:latin typeface="Calibri"/>
              </a:rPr>
              <a:t>Search + TAR classifier across the matter</a:t>
            </a:r>
          </a:p>
          <a:p>
            <a:pPr>
              <a:spcAft>
                <a:spcPts val="400"/>
              </a:spcAft>
            </a:pPr>
            <a:r>
              <a:rPr sz="1100" b="1">
                <a:solidFill>
                  <a:srgbClr val="1E3A5F"/>
                </a:solidFill>
                <a:latin typeface="Calibri"/>
              </a:rPr>
              <a:t>•  </a:t>
            </a:r>
            <a:r>
              <a:rPr sz="1100">
                <a:solidFill>
                  <a:srgbClr val="141821"/>
                </a:solidFill>
                <a:latin typeface="Calibri"/>
              </a:rPr>
              <a:t>Tamper-evident chain-of-custody report</a:t>
            </a:r>
          </a:p>
          <a:p>
            <a:pPr>
              <a:spcAft>
                <a:spcPts val="400"/>
              </a:spcAft>
            </a:pPr>
            <a:r>
              <a:rPr sz="1100" b="1">
                <a:solidFill>
                  <a:srgbClr val="1E3A5F"/>
                </a:solidFill>
                <a:latin typeface="Calibri"/>
              </a:rPr>
              <a:t>•  </a:t>
            </a:r>
            <a:r>
              <a:rPr sz="1100">
                <a:solidFill>
                  <a:srgbClr val="141821"/>
                </a:solidFill>
                <a:latin typeface="Calibri"/>
              </a:rPr>
              <a:t>MCP server for Claude Desktop / Cursor / Zed</a:t>
            </a:r>
          </a:p>
          <a:p>
            <a:pPr>
              <a:spcAft>
                <a:spcPts val="400"/>
              </a:spcAft>
            </a:pPr>
            <a:r>
              <a:rPr sz="1100" b="1">
                <a:solidFill>
                  <a:srgbClr val="1E3A5F"/>
                </a:solidFill>
                <a:latin typeface="Calibri"/>
              </a:rPr>
              <a:t>•  </a:t>
            </a:r>
            <a:r>
              <a:rPr sz="1100">
                <a:solidFill>
                  <a:srgbClr val="141821"/>
                </a:solidFill>
                <a:latin typeface="Calibri"/>
              </a:rPr>
              <a:t>Persona-scoped tool surface (5 roles)</a:t>
            </a:r>
          </a:p>
        </p:txBody>
      </p:sp>
      <p:sp>
        <p:nvSpPr>
          <p:cNvPr id="25" name="TextBox 24"/>
          <p:cNvSpPr txBox="1"/>
          <p:nvPr/>
        </p:nvSpPr>
        <p:spPr>
          <a:xfrm>
            <a:off x="6278727"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LIBRARY SEAMS PUT TO WORK</a:t>
            </a:r>
          </a:p>
        </p:txBody>
      </p:sp>
      <p:sp>
        <p:nvSpPr>
          <p:cNvPr id="26" name="Rectangle 25"/>
          <p:cNvSpPr/>
          <p:nvPr/>
        </p:nvSpPr>
        <p:spPr>
          <a:xfrm>
            <a:off x="6278727"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78727" y="4297680"/>
            <a:ext cx="5272887" cy="228600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ToolRegistry · ComponentRegistry · CapabilityRegistry</a:t>
            </a:r>
          </a:p>
          <a:p>
            <a:pPr>
              <a:spcAft>
                <a:spcPts val="600"/>
              </a:spcAft>
            </a:pPr>
            <a:r>
              <a:rPr sz="1200" b="1">
                <a:solidFill>
                  <a:srgbClr val="1E3A5F"/>
                </a:solidFill>
                <a:latin typeface="Calibri"/>
              </a:rPr>
              <a:t>•  </a:t>
            </a:r>
            <a:r>
              <a:rPr sz="1200">
                <a:solidFill>
                  <a:srgbClr val="141821"/>
                </a:solidFill>
                <a:latin typeface="Calibri"/>
              </a:rPr>
              <a:t>ActionRegistry — click-through navigation from widgets</a:t>
            </a:r>
          </a:p>
          <a:p>
            <a:pPr>
              <a:spcAft>
                <a:spcPts val="600"/>
              </a:spcAft>
            </a:pPr>
            <a:r>
              <a:rPr sz="1200" b="1">
                <a:solidFill>
                  <a:srgbClr val="1E3A5F"/>
                </a:solidFill>
                <a:latin typeface="Calibri"/>
              </a:rPr>
              <a:t>•  </a:t>
            </a:r>
            <a:r>
              <a:rPr sz="1200">
                <a:solidFill>
                  <a:srgbClr val="141821"/>
                </a:solidFill>
                <a:latin typeface="Calibri"/>
              </a:rPr>
              <a:t>FormRegistry — productionConfigForm</a:t>
            </a:r>
          </a:p>
          <a:p>
            <a:pPr>
              <a:spcAft>
                <a:spcPts val="600"/>
              </a:spcAft>
            </a:pPr>
            <a:r>
              <a:rPr sz="1200" b="1">
                <a:solidFill>
                  <a:srgbClr val="1E3A5F"/>
                </a:solidFill>
                <a:latin typeface="Calibri"/>
              </a:rPr>
              <a:t>•  </a:t>
            </a:r>
            <a:r>
              <a:rPr sz="1200">
                <a:solidFill>
                  <a:srgbClr val="141821"/>
                </a:solidFill>
                <a:latin typeface="Calibri"/>
              </a:rPr>
              <a:t>ValidationRegistry — Bates pattern conformance</a:t>
            </a:r>
          </a:p>
          <a:p>
            <a:pPr>
              <a:spcAft>
                <a:spcPts val="600"/>
              </a:spcAft>
            </a:pPr>
            <a:r>
              <a:rPr sz="1200" b="1">
                <a:solidFill>
                  <a:srgbClr val="1E3A5F"/>
                </a:solidFill>
                <a:latin typeface="Calibri"/>
              </a:rPr>
              <a:t>•  </a:t>
            </a:r>
            <a:r>
              <a:rPr sz="1200">
                <a:solidFill>
                  <a:srgbClr val="141821"/>
                </a:solidFill>
                <a:latin typeface="Calibri"/>
              </a:rPr>
              <a:t>DataSourceRegistry — pluggable documentIndex</a:t>
            </a:r>
          </a:p>
          <a:p>
            <a:pPr>
              <a:spcAft>
                <a:spcPts val="600"/>
              </a:spcAft>
            </a:pPr>
            <a:r>
              <a:rPr sz="1200" b="1">
                <a:solidFill>
                  <a:srgbClr val="1E3A5F"/>
                </a:solidFill>
                <a:latin typeface="Calibri"/>
              </a:rPr>
              <a:t>•  </a:t>
            </a:r>
            <a:r>
              <a:rPr sz="1200">
                <a:solidFill>
                  <a:srgbClr val="141821"/>
                </a:solidFill>
                <a:latin typeface="Calibri"/>
              </a:rPr>
              <a:t>Telemetry — every tool call audit-logged</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ALL AUDIENCES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the library actually produces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in-action.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Live capture: user typed "Add Sarah Chen as a custodian" → orchestrator routed to the collection specialist → addCustodian tool ran → ComponentRegistry resolved app-custodian-card → host mounted it. None of that flow is hard-coded.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The reference app's dashboard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dashboard.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The host's matter snapshot. KPI cards (Custodians · Documents · Active holds · Audit events) update reactively as tool calls mutate state. Federated remotes register their capabilities at boot — sidebar shows '18 tools · 3 remotes'.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Productions — agent-created, master-detail</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roductions.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Master list on the left (every production set the agent has assembled), detail panel on the right (Bates range, lifecycle status, document table). The agent's createProductionSet tool wrote here via the production specialist — no separate UI for assembly.</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eDiscovery — production chain (Phase 3)</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One prompt drives a 4-step chained tool call · each step renders its own widget · ActionRegistry navigates on click.</a:t>
            </a:r>
          </a:p>
        </p:txBody>
      </p:sp>
      <p:sp>
        <p:nvSpPr>
          <p:cNvPr id="7" name="Rounded Rectangle 6"/>
          <p:cNvSpPr/>
          <p:nvPr/>
        </p:nvSpPr>
        <p:spPr>
          <a:xfrm>
            <a:off x="640080"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2590723" cy="4572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176272"/>
            <a:ext cx="365760" cy="365760"/>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1</a:t>
            </a:r>
          </a:p>
        </p:txBody>
      </p:sp>
      <p:sp>
        <p:nvSpPr>
          <p:cNvPr id="11" name="TextBox 10"/>
          <p:cNvSpPr txBox="1"/>
          <p:nvPr/>
        </p:nvSpPr>
        <p:spPr>
          <a:xfrm>
            <a:off x="1280160" y="2194560"/>
            <a:ext cx="1813483" cy="292608"/>
          </a:xfrm>
          <a:prstGeom prst="rect">
            <a:avLst/>
          </a:prstGeom>
          <a:noFill/>
        </p:spPr>
        <p:txBody>
          <a:bodyPr wrap="square" lIns="0" rIns="0" tIns="0" bIns="0" anchor="t">
            <a:spAutoFit/>
          </a:bodyPr>
          <a:lstStyle/>
          <a:p>
            <a:pPr algn="l"/>
            <a:r>
              <a:rPr sz="1100" b="1">
                <a:solidFill>
                  <a:srgbClr val="1E3A5F"/>
                </a:solidFill>
                <a:latin typeface="Menlo"/>
              </a:rPr>
              <a:t>createProductionSet</a:t>
            </a:r>
          </a:p>
        </p:txBody>
      </p:sp>
      <p:sp>
        <p:nvSpPr>
          <p:cNvPr id="12" name="TextBox 11"/>
          <p:cNvSpPr txBox="1"/>
          <p:nvPr/>
        </p:nvSpPr>
        <p:spPr>
          <a:xfrm>
            <a:off x="822960"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scope filter · format · Bates pattern
Validation: pattern conformance</a:t>
            </a:r>
          </a:p>
        </p:txBody>
      </p:sp>
      <p:sp>
        <p:nvSpPr>
          <p:cNvPr id="13" name="Rounded Rectangle 12"/>
          <p:cNvSpPr/>
          <p:nvPr/>
        </p:nvSpPr>
        <p:spPr>
          <a:xfrm>
            <a:off x="822960"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74720"/>
            <a:ext cx="2133523" cy="548640"/>
          </a:xfrm>
          <a:prstGeom prst="rect">
            <a:avLst/>
          </a:prstGeom>
          <a:noFill/>
        </p:spPr>
        <p:txBody>
          <a:bodyPr wrap="square" lIns="0" rIns="0" tIns="0" bIns="0" anchor="t">
            <a:spAutoFit/>
          </a:bodyPr>
          <a:lstStyle/>
          <a:p>
            <a:pPr algn="l"/>
            <a:r>
              <a:rPr sz="900" b="1">
                <a:solidFill>
                  <a:srgbClr val="1E3A5F"/>
                </a:solidFill>
                <a:latin typeface="Calibri"/>
              </a:rPr>
              <a:t>→ productionSummary widget
   status: draft</a:t>
            </a:r>
          </a:p>
        </p:txBody>
      </p:sp>
      <p:cxnSp>
        <p:nvCxnSpPr>
          <p:cNvPr id="15" name="Connector 14"/>
          <p:cNvCxnSpPr/>
          <p:nvPr/>
        </p:nvCxnSpPr>
        <p:spPr>
          <a:xfrm>
            <a:off x="3230803.75" y="3063240.0"/>
            <a:ext cx="164592.0" cy="1.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3683"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13683" y="2011680"/>
            <a:ext cx="2590723"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96563" y="2176272"/>
            <a:ext cx="365760" cy="36576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6563"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2</a:t>
            </a:r>
          </a:p>
        </p:txBody>
      </p:sp>
      <p:sp>
        <p:nvSpPr>
          <p:cNvPr id="20" name="TextBox 19"/>
          <p:cNvSpPr txBox="1"/>
          <p:nvPr/>
        </p:nvSpPr>
        <p:spPr>
          <a:xfrm>
            <a:off x="4053763" y="2194560"/>
            <a:ext cx="1813483" cy="292608"/>
          </a:xfrm>
          <a:prstGeom prst="rect">
            <a:avLst/>
          </a:prstGeom>
          <a:noFill/>
        </p:spPr>
        <p:txBody>
          <a:bodyPr wrap="square" lIns="0" rIns="0" tIns="0" bIns="0" anchor="t">
            <a:spAutoFit/>
          </a:bodyPr>
          <a:lstStyle/>
          <a:p>
            <a:pPr algn="l"/>
            <a:r>
              <a:rPr sz="1100" b="1">
                <a:solidFill>
                  <a:srgbClr val="12243D"/>
                </a:solidFill>
                <a:latin typeface="Menlo"/>
              </a:rPr>
              <a:t>redactDocument*</a:t>
            </a:r>
          </a:p>
        </p:txBody>
      </p:sp>
      <p:sp>
        <p:nvSpPr>
          <p:cNvPr id="21" name="TextBox 20"/>
          <p:cNvSpPr txBox="1"/>
          <p:nvPr/>
        </p:nvSpPr>
        <p:spPr>
          <a:xfrm>
            <a:off x="3596563"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page · bbox · reason
(* optional, repeatable)</a:t>
            </a:r>
          </a:p>
        </p:txBody>
      </p:sp>
      <p:sp>
        <p:nvSpPr>
          <p:cNvPr id="22" name="Rounded Rectangle 21"/>
          <p:cNvSpPr/>
          <p:nvPr/>
        </p:nvSpPr>
        <p:spPr>
          <a:xfrm>
            <a:off x="3596563"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88003" y="3474720"/>
            <a:ext cx="2133523" cy="548640"/>
          </a:xfrm>
          <a:prstGeom prst="rect">
            <a:avLst/>
          </a:prstGeom>
          <a:noFill/>
        </p:spPr>
        <p:txBody>
          <a:bodyPr wrap="square" lIns="0" rIns="0" tIns="0" bIns="0" anchor="t">
            <a:spAutoFit/>
          </a:bodyPr>
          <a:lstStyle/>
          <a:p>
            <a:pPr algn="l"/>
            <a:r>
              <a:rPr sz="900" b="1">
                <a:solidFill>
                  <a:srgbClr val="12243D"/>
                </a:solidFill>
                <a:latin typeface="Calibri"/>
              </a:rPr>
              <a:t>→ redactionEditor widget
   canvas overlay</a:t>
            </a:r>
          </a:p>
        </p:txBody>
      </p:sp>
      <p:cxnSp>
        <p:nvCxnSpPr>
          <p:cNvPr id="24" name="Connector 23"/>
          <p:cNvCxnSpPr/>
          <p:nvPr/>
        </p:nvCxnSpPr>
        <p:spPr>
          <a:xfrm>
            <a:off x="6004407.5" y="3063240.0"/>
            <a:ext cx="164592.0" cy="1.0"/>
          </a:xfrm>
          <a:prstGeom prst="line">
            <a:avLst/>
          </a:prstGeom>
          <a:ln w="2540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7287"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7" y="2011680"/>
            <a:ext cx="2590723"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70167" y="2176272"/>
            <a:ext cx="365760" cy="365760"/>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3</a:t>
            </a:r>
          </a:p>
        </p:txBody>
      </p:sp>
      <p:sp>
        <p:nvSpPr>
          <p:cNvPr id="29" name="TextBox 28"/>
          <p:cNvSpPr txBox="1"/>
          <p:nvPr/>
        </p:nvSpPr>
        <p:spPr>
          <a:xfrm>
            <a:off x="6827367" y="2194560"/>
            <a:ext cx="1813483" cy="292608"/>
          </a:xfrm>
          <a:prstGeom prst="rect">
            <a:avLst/>
          </a:prstGeom>
          <a:noFill/>
        </p:spPr>
        <p:txBody>
          <a:bodyPr wrap="square" lIns="0" rIns="0" tIns="0" bIns="0" anchor="t">
            <a:spAutoFit/>
          </a:bodyPr>
          <a:lstStyle/>
          <a:p>
            <a:pPr algn="l"/>
            <a:r>
              <a:rPr sz="1100" b="1">
                <a:solidFill>
                  <a:srgbClr val="C48221"/>
                </a:solidFill>
                <a:latin typeface="Menlo"/>
              </a:rPr>
              <a:t>assignBatesNumbers</a:t>
            </a:r>
          </a:p>
        </p:txBody>
      </p:sp>
      <p:sp>
        <p:nvSpPr>
          <p:cNvPr id="30" name="TextBox 29"/>
          <p:cNvSpPr txBox="1"/>
          <p:nvPr/>
        </p:nvSpPr>
        <p:spPr>
          <a:xfrm>
            <a:off x="6370167"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stamp sequential ids per pattern
start = 1 (default)</a:t>
            </a:r>
          </a:p>
        </p:txBody>
      </p:sp>
      <p:sp>
        <p:nvSpPr>
          <p:cNvPr id="31" name="Rounded Rectangle 30"/>
          <p:cNvSpPr/>
          <p:nvPr/>
        </p:nvSpPr>
        <p:spPr>
          <a:xfrm>
            <a:off x="6370167"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3474720"/>
            <a:ext cx="2133523" cy="548640"/>
          </a:xfrm>
          <a:prstGeom prst="rect">
            <a:avLst/>
          </a:prstGeom>
          <a:noFill/>
        </p:spPr>
        <p:txBody>
          <a:bodyPr wrap="square" lIns="0" rIns="0" tIns="0" bIns="0" anchor="t">
            <a:spAutoFit/>
          </a:bodyPr>
          <a:lstStyle/>
          <a:p>
            <a:pPr algn="l"/>
            <a:r>
              <a:rPr sz="900" b="1">
                <a:solidFill>
                  <a:srgbClr val="C48221"/>
                </a:solidFill>
                <a:latin typeface="Calibri"/>
              </a:rPr>
              <a:t>→ batesPreview + summary
   status: review</a:t>
            </a:r>
          </a:p>
        </p:txBody>
      </p:sp>
      <p:cxnSp>
        <p:nvCxnSpPr>
          <p:cNvPr id="33" name="Connector 32"/>
          <p:cNvCxnSpPr/>
          <p:nvPr/>
        </p:nvCxnSpPr>
        <p:spPr>
          <a:xfrm>
            <a:off x="8778011.25" y="3063240.0"/>
            <a:ext cx="16459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960891"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60891" y="2011680"/>
            <a:ext cx="2590723"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3771" y="2176272"/>
            <a:ext cx="365760" cy="36576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3771"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4</a:t>
            </a:r>
          </a:p>
        </p:txBody>
      </p:sp>
      <p:sp>
        <p:nvSpPr>
          <p:cNvPr id="38" name="TextBox 37"/>
          <p:cNvSpPr txBox="1"/>
          <p:nvPr/>
        </p:nvSpPr>
        <p:spPr>
          <a:xfrm>
            <a:off x="9600971" y="2194560"/>
            <a:ext cx="1813483" cy="292608"/>
          </a:xfrm>
          <a:prstGeom prst="rect">
            <a:avLst/>
          </a:prstGeom>
          <a:noFill/>
        </p:spPr>
        <p:txBody>
          <a:bodyPr wrap="square" lIns="0" rIns="0" tIns="0" bIns="0" anchor="t">
            <a:spAutoFit/>
          </a:bodyPr>
          <a:lstStyle/>
          <a:p>
            <a:pPr algn="l"/>
            <a:r>
              <a:rPr sz="1100" b="1">
                <a:solidFill>
                  <a:srgbClr val="2F6F4F"/>
                </a:solidFill>
                <a:latin typeface="Menlo"/>
              </a:rPr>
              <a:t>exportProductionSet</a:t>
            </a:r>
          </a:p>
        </p:txBody>
      </p:sp>
      <p:sp>
        <p:nvSpPr>
          <p:cNvPr id="39" name="TextBox 38"/>
          <p:cNvSpPr txBox="1"/>
          <p:nvPr/>
        </p:nvSpPr>
        <p:spPr>
          <a:xfrm>
            <a:off x="9143771"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deliver: true (irreversible)
requires audit reason</a:t>
            </a:r>
          </a:p>
        </p:txBody>
      </p:sp>
      <p:sp>
        <p:nvSpPr>
          <p:cNvPr id="40" name="Rounded Rectangle 39"/>
          <p:cNvSpPr/>
          <p:nvPr/>
        </p:nvSpPr>
        <p:spPr>
          <a:xfrm>
            <a:off x="9143771"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211" y="3474720"/>
            <a:ext cx="2133523" cy="548640"/>
          </a:xfrm>
          <a:prstGeom prst="rect">
            <a:avLst/>
          </a:prstGeom>
          <a:noFill/>
        </p:spPr>
        <p:txBody>
          <a:bodyPr wrap="square" lIns="0" rIns="0" tIns="0" bIns="0" anchor="t">
            <a:spAutoFit/>
          </a:bodyPr>
          <a:lstStyle/>
          <a:p>
            <a:pPr algn="l"/>
            <a:r>
              <a:rPr sz="900" b="1">
                <a:solidFill>
                  <a:srgbClr val="2F6F4F"/>
                </a:solidFill>
                <a:latin typeface="Calibri"/>
              </a:rPr>
              <a:t>→ productionSummary
   status: delivered</a:t>
            </a:r>
          </a:p>
        </p:txBody>
      </p:sp>
      <p:sp>
        <p:nvSpPr>
          <p:cNvPr id="42" name="Rounded Rectangle 41"/>
          <p:cNvSpPr/>
          <p:nvPr/>
        </p:nvSpPr>
        <p:spPr>
          <a:xfrm>
            <a:off x="640080" y="4389120"/>
            <a:ext cx="10911535" cy="12801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498848"/>
            <a:ext cx="3657600" cy="274320"/>
          </a:xfrm>
          <a:prstGeom prst="rect">
            <a:avLst/>
          </a:prstGeom>
          <a:noFill/>
        </p:spPr>
        <p:txBody>
          <a:bodyPr wrap="square" lIns="0" rIns="0" tIns="0" bIns="0" anchor="t">
            <a:spAutoFit/>
          </a:bodyPr>
          <a:lstStyle/>
          <a:p>
            <a:pPr algn="l"/>
            <a:r>
              <a:rPr sz="1100" b="1">
                <a:solidFill>
                  <a:srgbClr val="12243D"/>
                </a:solidFill>
                <a:latin typeface="Calibri"/>
              </a:rPr>
              <a:t>Library seams exercised</a:t>
            </a:r>
          </a:p>
        </p:txBody>
      </p:sp>
      <p:sp>
        <p:nvSpPr>
          <p:cNvPr id="44" name="Rounded Rectangle 43"/>
          <p:cNvSpPr/>
          <p:nvPr/>
        </p:nvSpPr>
        <p:spPr>
          <a:xfrm>
            <a:off x="868680"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ToolRegistry</a:t>
            </a:r>
          </a:p>
        </p:txBody>
      </p:sp>
      <p:sp>
        <p:nvSpPr>
          <p:cNvPr id="46" name="TextBox 45"/>
          <p:cNvSpPr txBox="1"/>
          <p:nvPr/>
        </p:nvSpPr>
        <p:spPr>
          <a:xfrm>
            <a:off x="2286000"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4 tools registered via federation</a:t>
            </a:r>
          </a:p>
        </p:txBody>
      </p:sp>
      <p:sp>
        <p:nvSpPr>
          <p:cNvPr id="47" name="Rounded Rectangle 46"/>
          <p:cNvSpPr/>
          <p:nvPr/>
        </p:nvSpPr>
        <p:spPr>
          <a:xfrm>
            <a:off x="4617719"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17719"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ComponentRegistry</a:t>
            </a:r>
          </a:p>
        </p:txBody>
      </p:sp>
      <p:sp>
        <p:nvSpPr>
          <p:cNvPr id="49" name="TextBox 48"/>
          <p:cNvSpPr txBox="1"/>
          <p:nvPr/>
        </p:nvSpPr>
        <p:spPr>
          <a:xfrm>
            <a:off x="6035039"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3 widgets contributed by remote</a:t>
            </a:r>
          </a:p>
        </p:txBody>
      </p:sp>
      <p:sp>
        <p:nvSpPr>
          <p:cNvPr id="50" name="Rounded Rectangle 49"/>
          <p:cNvSpPr/>
          <p:nvPr/>
        </p:nvSpPr>
        <p:spPr>
          <a:xfrm>
            <a:off x="8366758" y="4846320"/>
            <a:ext cx="1371600" cy="256032"/>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58" y="4846320"/>
            <a:ext cx="1371600" cy="256032"/>
          </a:xfrm>
          <a:prstGeom prst="rect">
            <a:avLst/>
          </a:prstGeom>
          <a:noFill/>
        </p:spPr>
        <p:txBody>
          <a:bodyPr wrap="square" lIns="0" rIns="0" tIns="0" bIns="0" anchor="ctr">
            <a:spAutoFit/>
          </a:bodyPr>
          <a:lstStyle/>
          <a:p>
            <a:pPr algn="ctr"/>
            <a:r>
              <a:rPr sz="900" b="1">
                <a:solidFill>
                  <a:srgbClr val="2F6F4F"/>
                </a:solidFill>
                <a:latin typeface="Calibri"/>
              </a:rPr>
              <a:t>FormRegistry</a:t>
            </a:r>
          </a:p>
        </p:txBody>
      </p:sp>
      <p:sp>
        <p:nvSpPr>
          <p:cNvPr id="52" name="TextBox 51"/>
          <p:cNvSpPr txBox="1"/>
          <p:nvPr/>
        </p:nvSpPr>
        <p:spPr>
          <a:xfrm>
            <a:off x="9784078"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productionConfigForm — schema-driven</a:t>
            </a:r>
          </a:p>
        </p:txBody>
      </p:sp>
      <p:sp>
        <p:nvSpPr>
          <p:cNvPr id="53" name="Rounded Rectangle 52"/>
          <p:cNvSpPr/>
          <p:nvPr/>
        </p:nvSpPr>
        <p:spPr>
          <a:xfrm>
            <a:off x="868680" y="5166360"/>
            <a:ext cx="1371600" cy="256032"/>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166360"/>
            <a:ext cx="1371600" cy="256032"/>
          </a:xfrm>
          <a:prstGeom prst="rect">
            <a:avLst/>
          </a:prstGeom>
          <a:noFill/>
        </p:spPr>
        <p:txBody>
          <a:bodyPr wrap="square" lIns="0" rIns="0" tIns="0" bIns="0" anchor="ctr">
            <a:spAutoFit/>
          </a:bodyPr>
          <a:lstStyle/>
          <a:p>
            <a:pPr algn="ctr"/>
            <a:r>
              <a:rPr sz="900" b="1">
                <a:solidFill>
                  <a:srgbClr val="C48221"/>
                </a:solidFill>
                <a:latin typeface="Calibri"/>
              </a:rPr>
              <a:t>ValidationRegistry</a:t>
            </a:r>
          </a:p>
        </p:txBody>
      </p:sp>
      <p:sp>
        <p:nvSpPr>
          <p:cNvPr id="55" name="TextBox 54"/>
          <p:cNvSpPr txBox="1"/>
          <p:nvPr/>
        </p:nvSpPr>
        <p:spPr>
          <a:xfrm>
            <a:off x="2286000"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Bates pattern conformance check</a:t>
            </a:r>
          </a:p>
        </p:txBody>
      </p:sp>
      <p:sp>
        <p:nvSpPr>
          <p:cNvPr id="56" name="Rounded Rectangle 55"/>
          <p:cNvSpPr/>
          <p:nvPr/>
        </p:nvSpPr>
        <p:spPr>
          <a:xfrm>
            <a:off x="4617719" y="5166360"/>
            <a:ext cx="1371600" cy="256032"/>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19" y="5166360"/>
            <a:ext cx="1371600" cy="256032"/>
          </a:xfrm>
          <a:prstGeom prst="rect">
            <a:avLst/>
          </a:prstGeom>
          <a:noFill/>
        </p:spPr>
        <p:txBody>
          <a:bodyPr wrap="square" lIns="0" rIns="0" tIns="0" bIns="0" anchor="ctr">
            <a:spAutoFit/>
          </a:bodyPr>
          <a:lstStyle/>
          <a:p>
            <a:pPr algn="ctr"/>
            <a:r>
              <a:rPr sz="900" b="1">
                <a:solidFill>
                  <a:srgbClr val="12243D"/>
                </a:solidFill>
                <a:latin typeface="Calibri"/>
              </a:rPr>
              <a:t>ActionRegistry</a:t>
            </a:r>
          </a:p>
        </p:txBody>
      </p:sp>
      <p:sp>
        <p:nvSpPr>
          <p:cNvPr id="58" name="TextBox 57"/>
          <p:cNvSpPr txBox="1"/>
          <p:nvPr/>
        </p:nvSpPr>
        <p:spPr>
          <a:xfrm>
            <a:off x="6035039"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openProduction — click-to-navigate</a:t>
            </a:r>
          </a:p>
        </p:txBody>
      </p:sp>
      <p:sp>
        <p:nvSpPr>
          <p:cNvPr id="59" name="Rounded Rectangle 58"/>
          <p:cNvSpPr/>
          <p:nvPr/>
        </p:nvSpPr>
        <p:spPr>
          <a:xfrm>
            <a:off x="8366758" y="5166360"/>
            <a:ext cx="1371600" cy="256032"/>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58" y="5166360"/>
            <a:ext cx="1371600" cy="256032"/>
          </a:xfrm>
          <a:prstGeom prst="rect">
            <a:avLst/>
          </a:prstGeom>
          <a:noFill/>
        </p:spPr>
        <p:txBody>
          <a:bodyPr wrap="square" lIns="0" rIns="0" tIns="0" bIns="0" anchor="ctr">
            <a:spAutoFit/>
          </a:bodyPr>
          <a:lstStyle/>
          <a:p>
            <a:pPr algn="ctr"/>
            <a:r>
              <a:rPr sz="900" b="1">
                <a:solidFill>
                  <a:srgbClr val="A8332A"/>
                </a:solidFill>
                <a:latin typeface="Calibri"/>
              </a:rPr>
              <a:t>Audit log</a:t>
            </a:r>
          </a:p>
        </p:txBody>
      </p:sp>
      <p:sp>
        <p:nvSpPr>
          <p:cNvPr id="61" name="TextBox 60"/>
          <p:cNvSpPr txBox="1"/>
          <p:nvPr/>
        </p:nvSpPr>
        <p:spPr>
          <a:xfrm>
            <a:off x="9784078"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every step appends an event</a:t>
            </a:r>
          </a:p>
        </p:txBody>
      </p:sp>
      <p:sp>
        <p:nvSpPr>
          <p:cNvPr id="62" name="Rectangle 6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64" name="TextBox 6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5" name="TextBox 6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1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0">
                <a:solidFill>
                  <a:srgbClr val="A2AAB6"/>
                </a:solidFill>
                <a:latin typeface="Calibri"/>
              </a:rPr>
              <a:t>POST /agents/coordinator/run (SSE)</a:t>
            </a:r>
          </a:p>
        </p:txBody>
      </p:sp>
      <p:cxnSp>
        <p:nvCxnSpPr>
          <p:cNvPr id="30" name="Connector 29"/>
          <p:cNvCxnSpPr/>
          <p:nvPr/>
        </p:nvCxnSpPr>
        <p:spPr>
          <a:xfrm>
            <a:off x="5852160" y="4343400"/>
            <a:ext cx="210311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0">
                <a:solidFill>
                  <a:srgbClr val="A2AAB6"/>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1 — user prompt fires. Tool filter scores 17 tools, sends top 12 to Gemini.</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2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2 — orchestrator classifies and routes the run to the production specialist.</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3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3 — specialist returns a tool call. Handler runs; audit event lands in the chain.</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4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1">
                <a:solidFill>
                  <a:srgbClr val="C48221"/>
                </a:solidFill>
                <a:latin typeface="Calibri"/>
              </a:rPr>
              <a:t>tool_result</a:t>
            </a:r>
          </a:p>
        </p:txBody>
      </p:sp>
      <p:cxnSp>
        <p:nvCxnSpPr>
          <p:cNvPr id="40" name="Connector 39"/>
          <p:cNvCxnSpPr/>
          <p:nvPr/>
        </p:nvCxnSpPr>
        <p:spPr>
          <a:xfrm flipH="1">
            <a:off x="3657600" y="598932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1">
                <a:solidFill>
                  <a:srgbClr val="C48221"/>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1">
                <a:solidFill>
                  <a:srgbClr val="C48221"/>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4 — widget renders below the assistant message. Round-trip complete.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COMPLIANCE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 of custody — every action, every actor, hashed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5. Each tool call writes one audit event; each event links to the previous via a chain hash. Tampering anywhere in the chain breaks verification.</a:t>
            </a:r>
          </a:p>
        </p:txBody>
      </p:sp>
      <p:sp>
        <p:nvSpPr>
          <p:cNvPr id="7" name="Rounded Rectangle 6"/>
          <p:cNvSpPr/>
          <p:nvPr/>
        </p:nvSpPr>
        <p:spPr>
          <a:xfrm>
            <a:off x="64008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#1 — issued</a:t>
            </a:r>
          </a:p>
        </p:txBody>
      </p:sp>
      <p:sp>
        <p:nvSpPr>
          <p:cNvPr id="10" name="TextBox 9"/>
          <p:cNvSpPr txBox="1"/>
          <p:nvPr/>
        </p:nvSpPr>
        <p:spPr>
          <a:xfrm>
            <a:off x="82296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eleanor.vance@firm
action: hold.issued
target: HOLD-001
ts:     2026-02-16T14:00Z</a:t>
            </a:r>
          </a:p>
        </p:txBody>
      </p:sp>
      <p:sp>
        <p:nvSpPr>
          <p:cNvPr id="11" name="Rectangle 10"/>
          <p:cNvSpPr/>
          <p:nvPr/>
        </p:nvSpPr>
        <p:spPr>
          <a:xfrm>
            <a:off x="82296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0000…</a:t>
            </a:r>
          </a:p>
        </p:txBody>
      </p:sp>
      <p:sp>
        <p:nvSpPr>
          <p:cNvPr id="13" name="TextBox 12"/>
          <p:cNvSpPr txBox="1"/>
          <p:nvPr/>
        </p:nvSpPr>
        <p:spPr>
          <a:xfrm>
            <a:off x="246888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a3f8d2</a:t>
            </a:r>
          </a:p>
        </p:txBody>
      </p:sp>
      <p:cxnSp>
        <p:nvCxnSpPr>
          <p:cNvPr id="14" name="Connector 13"/>
          <p:cNvCxnSpPr/>
          <p:nvPr/>
        </p:nvCxnSpPr>
        <p:spPr>
          <a:xfrm>
            <a:off x="393192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#2 — tagged</a:t>
            </a:r>
          </a:p>
        </p:txBody>
      </p:sp>
      <p:sp>
        <p:nvSpPr>
          <p:cNvPr id="18" name="TextBox 17"/>
          <p:cNvSpPr txBox="1"/>
          <p:nvPr/>
        </p:nvSpPr>
        <p:spPr>
          <a:xfrm>
            <a:off x="438912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paralegal-1@firm
action: document.tag.added
target: DOC-7891234
ts:     2026-04-21T09:14Z</a:t>
            </a:r>
          </a:p>
        </p:txBody>
      </p:sp>
      <p:sp>
        <p:nvSpPr>
          <p:cNvPr id="19" name="Rectangle 18"/>
          <p:cNvSpPr/>
          <p:nvPr/>
        </p:nvSpPr>
        <p:spPr>
          <a:xfrm>
            <a:off x="438912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a3f8d2</a:t>
            </a:r>
          </a:p>
        </p:txBody>
      </p:sp>
      <p:sp>
        <p:nvSpPr>
          <p:cNvPr id="21" name="TextBox 20"/>
          <p:cNvSpPr txBox="1"/>
          <p:nvPr/>
        </p:nvSpPr>
        <p:spPr>
          <a:xfrm>
            <a:off x="603504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b7e1f4</a:t>
            </a:r>
          </a:p>
        </p:txBody>
      </p:sp>
      <p:cxnSp>
        <p:nvCxnSpPr>
          <p:cNvPr id="22" name="Connector 21"/>
          <p:cNvCxnSpPr/>
          <p:nvPr/>
        </p:nvCxnSpPr>
        <p:spPr>
          <a:xfrm>
            <a:off x="749808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77240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#3 — exported</a:t>
            </a:r>
          </a:p>
        </p:txBody>
      </p:sp>
      <p:sp>
        <p:nvSpPr>
          <p:cNvPr id="26" name="TextBox 25"/>
          <p:cNvSpPr txBox="1"/>
          <p:nvPr/>
        </p:nvSpPr>
        <p:spPr>
          <a:xfrm>
            <a:off x="795528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associate-2@firm
action: production.delivered
target: PROD-A1B2
ts:     2026-04-30T16:55Z</a:t>
            </a:r>
          </a:p>
        </p:txBody>
      </p:sp>
      <p:sp>
        <p:nvSpPr>
          <p:cNvPr id="27" name="Rectangle 26"/>
          <p:cNvSpPr/>
          <p:nvPr/>
        </p:nvSpPr>
        <p:spPr>
          <a:xfrm>
            <a:off x="795528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b7e1f4</a:t>
            </a:r>
          </a:p>
        </p:txBody>
      </p:sp>
      <p:sp>
        <p:nvSpPr>
          <p:cNvPr id="29" name="TextBox 28"/>
          <p:cNvSpPr txBox="1"/>
          <p:nvPr/>
        </p:nvSpPr>
        <p:spPr>
          <a:xfrm>
            <a:off x="960120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c2d5a1</a:t>
            </a:r>
          </a:p>
        </p:txBody>
      </p:sp>
      <p:sp>
        <p:nvSpPr>
          <p:cNvPr id="30" name="Rounded Rectangle 29"/>
          <p:cNvSpPr/>
          <p:nvPr/>
        </p:nvSpPr>
        <p:spPr>
          <a:xfrm>
            <a:off x="640080" y="4572000"/>
            <a:ext cx="10911535" cy="7772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572000"/>
            <a:ext cx="54864" cy="77724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690872"/>
            <a:ext cx="10637215" cy="292608"/>
          </a:xfrm>
          <a:prstGeom prst="rect">
            <a:avLst/>
          </a:prstGeom>
          <a:noFill/>
        </p:spPr>
        <p:txBody>
          <a:bodyPr wrap="square" lIns="0" rIns="0" tIns="0" bIns="0" anchor="t">
            <a:spAutoFit/>
          </a:bodyPr>
          <a:lstStyle/>
          <a:p>
            <a:pPr algn="l"/>
            <a:r>
              <a:rPr sz="1400" b="1">
                <a:solidFill>
                  <a:srgbClr val="2F6F4F"/>
                </a:solidFill>
                <a:latin typeface="Calibri"/>
              </a:rPr>
              <a:t>✓  CHAIN VERIFIED — 3 of 3 hashes recompute · head c2d5a1</a:t>
            </a:r>
          </a:p>
        </p:txBody>
      </p:sp>
      <p:sp>
        <p:nvSpPr>
          <p:cNvPr id="33" name="TextBox 32"/>
          <p:cNvSpPr txBox="1"/>
          <p:nvPr/>
        </p:nvSpPr>
        <p:spPr>
          <a:xfrm>
            <a:off x="868680" y="4983480"/>
            <a:ext cx="10637215" cy="292608"/>
          </a:xfrm>
          <a:prstGeom prst="rect">
            <a:avLst/>
          </a:prstGeom>
          <a:noFill/>
        </p:spPr>
        <p:txBody>
          <a:bodyPr wrap="square" lIns="0" rIns="0" tIns="0" bIns="0" anchor="t">
            <a:spAutoFit/>
          </a:bodyPr>
          <a:lstStyle/>
          <a:p>
            <a:pPr algn="l"/>
            <a:r>
              <a:rPr sz="1000" b="0">
                <a:solidFill>
                  <a:srgbClr val="363D49"/>
                </a:solidFill>
                <a:latin typeface="Calibri"/>
              </a:rPr>
              <a:t>If any event were edited or deleted, the next event's `prev` link would fail to recompute and the integrity badge on the Audit Trail page would flip to broken.</a:t>
            </a:r>
          </a:p>
        </p:txBody>
      </p:sp>
      <p:sp>
        <p:nvSpPr>
          <p:cNvPr id="34" name="TextBox 33"/>
          <p:cNvSpPr txBox="1"/>
          <p:nvPr/>
        </p:nvSpPr>
        <p:spPr>
          <a:xfrm>
            <a:off x="640080" y="5577840"/>
            <a:ext cx="2286000" cy="292608"/>
          </a:xfrm>
          <a:prstGeom prst="rect">
            <a:avLst/>
          </a:prstGeom>
          <a:noFill/>
        </p:spPr>
        <p:txBody>
          <a:bodyPr wrap="square" lIns="0" rIns="0" tIns="0" bIns="0" anchor="t">
            <a:spAutoFit/>
          </a:bodyPr>
          <a:lstStyle/>
          <a:p>
            <a:pPr algn="l"/>
            <a:r>
              <a:rPr sz="1000" b="1">
                <a:solidFill>
                  <a:srgbClr val="C48221"/>
                </a:solidFill>
                <a:latin typeface="Calibri"/>
              </a:rPr>
              <a:t>WHY THIS MATTERS</a:t>
            </a:r>
          </a:p>
        </p:txBody>
      </p:sp>
      <p:sp>
        <p:nvSpPr>
          <p:cNvPr id="35" name="Rectangle 34"/>
          <p:cNvSpPr/>
          <p:nvPr/>
        </p:nvSpPr>
        <p:spPr>
          <a:xfrm>
            <a:off x="640080" y="5907024"/>
            <a:ext cx="10881360"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035040"/>
            <a:ext cx="10911535" cy="411480"/>
          </a:xfrm>
          <a:prstGeom prst="rect">
            <a:avLst/>
          </a:prstGeom>
          <a:noFill/>
        </p:spPr>
        <p:txBody>
          <a:bodyPr wrap="square" lIns="0" rIns="0" tIns="0" bIns="0" anchor="t">
            <a:spAutoFit/>
          </a:bodyPr>
          <a:lstStyle/>
          <a:p>
            <a:pPr algn="l"/>
            <a:r>
              <a:rPr sz="1100" b="0">
                <a:solidFill>
                  <a:srgbClr val="363D49"/>
                </a:solidFill>
                <a:latin typeface="Calibri"/>
              </a:rPr>
              <a:t>Defensibility is the unit of trust opposing counsel and regulators measure. The chain is built into every tool call — Claude Desktop and the web app both contribute to the same chain. No second system to reconcile.</a:t>
            </a:r>
          </a:p>
        </p:txBody>
      </p:sp>
      <p:sp>
        <p:nvSpPr>
          <p:cNvPr id="37" name="Rectangle 3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39" name="TextBox 3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0" name="TextBox 3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Chain-of-custody, verified on render</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audit-trail.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Tamper-evident audit chain — each event hashes prevHash + payload, linking into a Merkle-style tail. The page recomputes the chain on render and shows a verified / broken badge in the top-right. Required posture for regulated domains.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07 · MCP REACH</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toolset. Three surfaces. One audit log.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6. Paralegals run privilege review from Claude Desktop / Cursor / Zed without opening the web app — same handlers, same audit chain (Phase 5).</a:t>
            </a:r>
          </a:p>
        </p:txBody>
      </p:sp>
      <p:sp>
        <p:nvSpPr>
          <p:cNvPr id="7" name="Rounded Rectangle 6"/>
          <p:cNvSpPr/>
          <p:nvPr/>
        </p:nvSpPr>
        <p:spPr>
          <a:xfrm>
            <a:off x="4541367" y="3520440"/>
            <a:ext cx="3108960" cy="1005840"/>
          </a:xfrm>
          <a:prstGeom prst="roundRect">
            <a:avLst>
              <a:gd name="adj" fmla="val 6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1367" y="3520440"/>
            <a:ext cx="3108960" cy="320040"/>
          </a:xfrm>
          <a:prstGeom prst="rect">
            <a:avLst/>
          </a:prstGeom>
          <a:noFill/>
        </p:spPr>
        <p:txBody>
          <a:bodyPr wrap="square" lIns="0" rIns="0" tIns="0" bIns="0" anchor="ctr">
            <a:spAutoFit/>
          </a:bodyPr>
          <a:lstStyle/>
          <a:p>
            <a:pPr algn="ctr"/>
            <a:r>
              <a:rPr sz="1000" b="1">
                <a:solidFill>
                  <a:srgbClr val="ECF1F6"/>
                </a:solidFill>
                <a:latin typeface="Calibri"/>
              </a:rPr>
              <a:t>SHARED</a:t>
            </a:r>
          </a:p>
        </p:txBody>
      </p:sp>
      <p:sp>
        <p:nvSpPr>
          <p:cNvPr id="9" name="TextBox 8"/>
          <p:cNvSpPr txBox="1"/>
          <p:nvPr/>
        </p:nvSpPr>
        <p:spPr>
          <a:xfrm>
            <a:off x="4541367" y="3794760"/>
            <a:ext cx="3108960" cy="457200"/>
          </a:xfrm>
          <a:prstGeom prst="rect">
            <a:avLst/>
          </a:prstGeom>
          <a:noFill/>
        </p:spPr>
        <p:txBody>
          <a:bodyPr wrap="square" lIns="0" rIns="0" tIns="0" bIns="0" anchor="ctr">
            <a:spAutoFit/>
          </a:bodyPr>
          <a:lstStyle/>
          <a:p>
            <a:pPr algn="ctr"/>
            <a:r>
              <a:rPr sz="2200" b="1">
                <a:solidFill>
                  <a:srgbClr val="FFFFFF"/>
                </a:solidFill>
                <a:latin typeface="Menlo"/>
              </a:rPr>
              <a:t>ToolDef[]</a:t>
            </a:r>
          </a:p>
        </p:txBody>
      </p:sp>
      <p:sp>
        <p:nvSpPr>
          <p:cNvPr id="10" name="TextBox 9"/>
          <p:cNvSpPr txBox="1"/>
          <p:nvPr/>
        </p:nvSpPr>
        <p:spPr>
          <a:xfrm>
            <a:off x="4541367" y="4206240"/>
            <a:ext cx="3108960" cy="274320"/>
          </a:xfrm>
          <a:prstGeom prst="rect">
            <a:avLst/>
          </a:prstGeom>
          <a:noFill/>
        </p:spPr>
        <p:txBody>
          <a:bodyPr wrap="square" lIns="0" rIns="0" tIns="0" bIns="0" anchor="ctr">
            <a:spAutoFit/>
          </a:bodyPr>
          <a:lstStyle/>
          <a:p>
            <a:pPr algn="ctr"/>
            <a:r>
              <a:rPr sz="1000" b="0">
                <a:solidFill>
                  <a:srgbClr val="ECF1F6"/>
                </a:solidFill>
                <a:latin typeface="Calibri"/>
              </a:rPr>
              <a:t>5 review tools · framework-agnostic literals</a:t>
            </a:r>
          </a:p>
        </p:txBody>
      </p:sp>
      <p:sp>
        <p:nvSpPr>
          <p:cNvPr id="11" name="Rounded Rectangle 10"/>
          <p:cNvSpPr/>
          <p:nvPr/>
        </p:nvSpPr>
        <p:spPr>
          <a:xfrm>
            <a:off x="822960" y="2423160"/>
            <a:ext cx="3657600" cy="91440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423160"/>
            <a:ext cx="3657600"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3474720" cy="292608"/>
          </a:xfrm>
          <a:prstGeom prst="rect">
            <a:avLst/>
          </a:prstGeom>
          <a:noFill/>
        </p:spPr>
        <p:txBody>
          <a:bodyPr wrap="square" lIns="0" rIns="0" tIns="0" bIns="0" anchor="t">
            <a:spAutoFit/>
          </a:bodyPr>
          <a:lstStyle/>
          <a:p>
            <a:pPr algn="l"/>
            <a:r>
              <a:rPr sz="1300" b="1">
                <a:solidFill>
                  <a:srgbClr val="12243D"/>
                </a:solidFill>
                <a:latin typeface="Calibri"/>
              </a:rPr>
              <a:t>Web app</a:t>
            </a:r>
          </a:p>
        </p:txBody>
      </p:sp>
      <p:sp>
        <p:nvSpPr>
          <p:cNvPr id="14" name="TextBox 13"/>
          <p:cNvSpPr txBox="1"/>
          <p:nvPr/>
        </p:nvSpPr>
        <p:spPr>
          <a:xfrm>
            <a:off x="1005840"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&lt;mvk-chat-shell&gt; @ :4300
NgComponentOutlet widgets</a:t>
            </a:r>
          </a:p>
        </p:txBody>
      </p:sp>
      <p:cxnSp>
        <p:nvCxnSpPr>
          <p:cNvPr id="15" name="Connector 14"/>
          <p:cNvCxnSpPr/>
          <p:nvPr/>
        </p:nvCxnSpPr>
        <p:spPr>
          <a:xfrm>
            <a:off x="2651760" y="3337560"/>
            <a:ext cx="2927474.375" cy="137160.0"/>
          </a:xfrm>
          <a:prstGeom prst="line">
            <a:avLst/>
          </a:prstGeom>
          <a:ln w="1778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7047" y="2423160"/>
            <a:ext cx="3657600" cy="91440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047" y="2423160"/>
            <a:ext cx="3657600" cy="54864"/>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9927" y="2560320"/>
            <a:ext cx="3474720" cy="292608"/>
          </a:xfrm>
          <a:prstGeom prst="rect">
            <a:avLst/>
          </a:prstGeom>
          <a:noFill/>
        </p:spPr>
        <p:txBody>
          <a:bodyPr wrap="square" lIns="0" rIns="0" tIns="0" bIns="0" anchor="t">
            <a:spAutoFit/>
          </a:bodyPr>
          <a:lstStyle/>
          <a:p>
            <a:pPr algn="l"/>
            <a:r>
              <a:rPr sz="1300" b="1">
                <a:solidFill>
                  <a:srgbClr val="C48221"/>
                </a:solidFill>
                <a:latin typeface="Calibri"/>
              </a:rPr>
              <a:t>Claude Desktop</a:t>
            </a:r>
          </a:p>
        </p:txBody>
      </p:sp>
      <p:sp>
        <p:nvSpPr>
          <p:cNvPr id="19" name="TextBox 18"/>
          <p:cNvSpPr txBox="1"/>
          <p:nvPr/>
        </p:nvSpPr>
        <p:spPr>
          <a:xfrm>
            <a:off x="4449927"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Stdio MCP server
text/html;profile=mcp-app</a:t>
            </a:r>
          </a:p>
        </p:txBody>
      </p:sp>
      <p:cxnSp>
        <p:nvCxnSpPr>
          <p:cNvPr id="20" name="Connector 19"/>
          <p:cNvCxnSpPr/>
          <p:nvPr/>
        </p:nvCxnSpPr>
        <p:spPr>
          <a:xfrm>
            <a:off x="6095847.5" y="3337560"/>
            <a:ext cx="1.0" cy="137160.0"/>
          </a:xfrm>
          <a:prstGeom prst="line">
            <a:avLst/>
          </a:prstGeom>
          <a:ln w="1778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11135" y="2423160"/>
            <a:ext cx="3657600" cy="914400"/>
          </a:xfrm>
          <a:prstGeom prst="roundRect">
            <a:avLst>
              <a:gd name="adj" fmla="val 4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11135" y="2423160"/>
            <a:ext cx="3657600" cy="54864"/>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4015" y="2560320"/>
            <a:ext cx="3474720" cy="292608"/>
          </a:xfrm>
          <a:prstGeom prst="rect">
            <a:avLst/>
          </a:prstGeom>
          <a:noFill/>
        </p:spPr>
        <p:txBody>
          <a:bodyPr wrap="square" lIns="0" rIns="0" tIns="0" bIns="0" anchor="t">
            <a:spAutoFit/>
          </a:bodyPr>
          <a:lstStyle/>
          <a:p>
            <a:pPr algn="l"/>
            <a:r>
              <a:rPr sz="1300" b="1">
                <a:solidFill>
                  <a:srgbClr val="356B88"/>
                </a:solidFill>
                <a:latin typeface="Calibri"/>
              </a:rPr>
              <a:t>Cursor / Zed</a:t>
            </a:r>
          </a:p>
        </p:txBody>
      </p:sp>
      <p:sp>
        <p:nvSpPr>
          <p:cNvPr id="24" name="TextBox 23"/>
          <p:cNvSpPr txBox="1"/>
          <p:nvPr/>
        </p:nvSpPr>
        <p:spPr>
          <a:xfrm>
            <a:off x="7894015"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Same MCP server
MCP-UI HTML cards</a:t>
            </a:r>
          </a:p>
        </p:txBody>
      </p:sp>
      <p:cxnSp>
        <p:nvCxnSpPr>
          <p:cNvPr id="25" name="Connector 24"/>
          <p:cNvCxnSpPr/>
          <p:nvPr/>
        </p:nvCxnSpPr>
        <p:spPr>
          <a:xfrm flipH="1">
            <a:off x="6612460.625" y="3337560"/>
            <a:ext cx="2927474.375" cy="137160.0"/>
          </a:xfrm>
          <a:prstGeom prst="line">
            <a:avLst/>
          </a:prstGeom>
          <a:ln w="1778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937760"/>
            <a:ext cx="10911535" cy="10058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93776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637215" cy="320040"/>
          </a:xfrm>
          <a:prstGeom prst="rect">
            <a:avLst/>
          </a:prstGeom>
          <a:noFill/>
        </p:spPr>
        <p:txBody>
          <a:bodyPr wrap="square" lIns="0" rIns="0" tIns="0" bIns="0" anchor="t">
            <a:spAutoFit/>
          </a:bodyPr>
          <a:lstStyle/>
          <a:p>
            <a:pPr algn="l"/>
            <a:r>
              <a:rPr sz="1200" b="1">
                <a:solidFill>
                  <a:srgbClr val="C48221"/>
                </a:solidFill>
                <a:latin typeface="Calibri"/>
              </a:rPr>
              <a:t>ONE AUDIT CHAIN — Phase 5 hash links every event regardless of surface</a:t>
            </a:r>
          </a:p>
        </p:txBody>
      </p:sp>
      <p:sp>
        <p:nvSpPr>
          <p:cNvPr id="29" name="TextBox 28"/>
          <p:cNvSpPr txBox="1"/>
          <p:nvPr/>
        </p:nvSpPr>
        <p:spPr>
          <a:xfrm>
            <a:off x="868680" y="5440680"/>
            <a:ext cx="10637215" cy="457200"/>
          </a:xfrm>
          <a:prstGeom prst="rect">
            <a:avLst/>
          </a:prstGeom>
          <a:noFill/>
        </p:spPr>
        <p:txBody>
          <a:bodyPr wrap="square" lIns="0" rIns="0" tIns="0" bIns="0" anchor="t">
            <a:spAutoFit/>
          </a:bodyPr>
          <a:lstStyle/>
          <a:p>
            <a:pPr algn="l"/>
            <a:r>
              <a:rPr sz="1000" b="0">
                <a:solidFill>
                  <a:srgbClr val="363D49"/>
                </a:solidFill>
                <a:latin typeface="Calibri"/>
              </a:rPr>
              <a:t>appendAudit(...) auto-stamps chainHash + prevHash. The chain-of-custody report covers Claude-Desktop-driven mutations and web-app-driven mutations as one.</a:t>
            </a:r>
          </a:p>
        </p:txBody>
      </p:sp>
      <p:cxnSp>
        <p:nvCxnSpPr>
          <p:cNvPr id="30" name="Connector 29"/>
          <p:cNvCxnSpPr/>
          <p:nvPr/>
        </p:nvCxnSpPr>
        <p:spPr>
          <a:xfrm>
            <a:off x="6095847.5" y="4526280.0"/>
            <a:ext cx="1.0" cy="411480.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126480"/>
            <a:ext cx="10058400" cy="292608"/>
          </a:xfrm>
          <a:prstGeom prst="rect">
            <a:avLst/>
          </a:prstGeom>
          <a:noFill/>
        </p:spPr>
        <p:txBody>
          <a:bodyPr wrap="square" lIns="0" rIns="0" tIns="0" bIns="0" anchor="t">
            <a:spAutoFit/>
          </a:bodyPr>
          <a:lstStyle/>
          <a:p>
            <a:pPr algn="l"/>
            <a:r>
              <a:rPr sz="1100" b="1">
                <a:solidFill>
                  <a:srgbClr val="C48221"/>
                </a:solidFill>
                <a:latin typeface="Calibri"/>
              </a:rPr>
              <a:t>WHERE IT MATTERS — analysts who already live in Claude Desktop don't switch contexts to do privilege review.</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MCP reach</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Persona scopes — from consumer shim to library primitive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Phases 7 → 8. The role allow-list moved from chat-shell-only filter to a registry-base policy that filters every read.</a:t>
            </a:r>
          </a:p>
        </p:txBody>
      </p:sp>
      <p:sp>
        <p:nvSpPr>
          <p:cNvPr id="7" name="Rounded Rectangle 6"/>
          <p:cNvSpPr/>
          <p:nvPr/>
        </p:nvSpPr>
        <p:spPr>
          <a:xfrm>
            <a:off x="640080"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272887"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96312"/>
            <a:ext cx="4907127" cy="292608"/>
          </a:xfrm>
          <a:prstGeom prst="rect">
            <a:avLst/>
          </a:prstGeom>
          <a:noFill/>
        </p:spPr>
        <p:txBody>
          <a:bodyPr wrap="square" lIns="0" rIns="0" tIns="0" bIns="0" anchor="t">
            <a:spAutoFit/>
          </a:bodyPr>
          <a:lstStyle/>
          <a:p>
            <a:pPr algn="l"/>
            <a:r>
              <a:rPr sz="1100" b="1">
                <a:solidFill>
                  <a:srgbClr val="6B7380"/>
                </a:solidFill>
                <a:latin typeface="Calibri"/>
              </a:rPr>
              <a:t>PHASE 7 · CONSUMER-SIDE SHIM</a:t>
            </a:r>
          </a:p>
        </p:txBody>
      </p:sp>
      <p:sp>
        <p:nvSpPr>
          <p:cNvPr id="10" name="TextBox 9"/>
          <p:cNvSpPr txBox="1"/>
          <p:nvPr/>
        </p:nvSpPr>
        <p:spPr>
          <a:xfrm>
            <a:off x="822960"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TOOL_FILTER + useFactory composition</a:t>
            </a:r>
          </a:p>
        </p:txBody>
      </p:sp>
      <p:sp>
        <p:nvSpPr>
          <p:cNvPr id="11" name="Rectangle 10"/>
          <p:cNvSpPr/>
          <p:nvPr/>
        </p:nvSpPr>
        <p:spPr>
          <a:xfrm>
            <a:off x="822960"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provide: TOOL_FILTER,</a:t>
            </a:r>
          </a:p>
          <a:p>
            <a:pPr>
              <a:spcAft>
                <a:spcPts val="0"/>
              </a:spcAft>
            </a:pPr>
            <a:r>
              <a:rPr sz="1100">
                <a:solidFill>
                  <a:srgbClr val="E2E8F0"/>
                </a:solidFill>
                <a:latin typeface="Menlo"/>
              </a:rPr>
              <a:t>  useFactory: () =&gt;</a:t>
            </a:r>
          </a:p>
          <a:p>
            <a:pPr>
              <a:spcAft>
                <a:spcPts val="0"/>
              </a:spcAft>
            </a:pPr>
            <a:r>
              <a:rPr sz="1100">
                <a:solidFill>
                  <a:srgbClr val="E2E8F0"/>
                </a:solidFill>
                <a:latin typeface="Menlo"/>
              </a:rPr>
              <a:t>    personaToolFilter(</a:t>
            </a:r>
          </a:p>
          <a:p>
            <a:pPr>
              <a:spcAft>
                <a:spcPts val="0"/>
              </a:spcAft>
            </a:pPr>
            <a:r>
              <a:rPr sz="1100">
                <a:solidFill>
                  <a:srgbClr val="E2E8F0"/>
                </a:solidFill>
                <a:latin typeface="Menlo"/>
              </a:rPr>
              <a:t>      inject(PersonaService),</a:t>
            </a:r>
          </a:p>
          <a:p>
            <a:pPr>
              <a:spcAft>
                <a:spcPts val="0"/>
              </a:spcAft>
            </a:pPr>
            <a:r>
              <a:rPr sz="1100">
                <a:solidFill>
                  <a:srgbClr val="E2E8F0"/>
                </a:solidFill>
                <a:latin typeface="Menlo"/>
              </a:rPr>
              <a:t>      keywordToolFilter({</a:t>
            </a:r>
          </a:p>
          <a:p>
            <a:pPr>
              <a:spcAft>
                <a:spcPts val="0"/>
              </a:spcAft>
            </a:pPr>
            <a:r>
              <a:rPr sz="1100">
                <a:solidFill>
                  <a:srgbClr val="E2E8F0"/>
                </a:solidFill>
                <a:latin typeface="Menlo"/>
              </a:rPr>
              <a:t>        maxTools: 12,</a:t>
            </a:r>
          </a:p>
          <a:p>
            <a:pPr>
              <a:spcAft>
                <a:spcPts val="0"/>
              </a:spcAft>
            </a:pPr>
            <a:r>
              <a:rPr sz="1100">
                <a:solidFill>
                  <a:srgbClr val="E2E8F0"/>
                </a:solidFill>
                <a:latin typeface="Menlo"/>
              </a:rPr>
              <a:t>        floor: 5,</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3" name="Rounded Rectangle 12"/>
          <p:cNvSpPr/>
          <p:nvPr/>
        </p:nvSpPr>
        <p:spPr>
          <a:xfrm>
            <a:off x="6278727"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2331720"/>
            <a:ext cx="5272887"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2496312"/>
            <a:ext cx="4907127" cy="292608"/>
          </a:xfrm>
          <a:prstGeom prst="rect">
            <a:avLst/>
          </a:prstGeom>
          <a:noFill/>
        </p:spPr>
        <p:txBody>
          <a:bodyPr wrap="square" lIns="0" rIns="0" tIns="0" bIns="0" anchor="t">
            <a:spAutoFit/>
          </a:bodyPr>
          <a:lstStyle/>
          <a:p>
            <a:pPr algn="l"/>
            <a:r>
              <a:rPr sz="1100" b="1">
                <a:solidFill>
                  <a:srgbClr val="2F6F4F"/>
                </a:solidFill>
                <a:latin typeface="Calibri"/>
              </a:rPr>
              <a:t>PHASE 8 · LIBRARY API</a:t>
            </a:r>
          </a:p>
        </p:txBody>
      </p:sp>
      <p:sp>
        <p:nvSpPr>
          <p:cNvPr id="16" name="TextBox 15"/>
          <p:cNvSpPr txBox="1"/>
          <p:nvPr/>
        </p:nvSpPr>
        <p:spPr>
          <a:xfrm>
            <a:off x="6461607"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RegistryBase.setScopePolicy</a:t>
            </a:r>
          </a:p>
        </p:txBody>
      </p:sp>
      <p:sp>
        <p:nvSpPr>
          <p:cNvPr id="17" name="Rectangle 16"/>
          <p:cNvSpPr/>
          <p:nvPr/>
        </p:nvSpPr>
        <p:spPr>
          <a:xfrm>
            <a:off x="6461607"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8767"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app.config.ts</a:t>
            </a:r>
          </a:p>
          <a:p>
            <a:pPr>
              <a:spcAft>
                <a:spcPts val="0"/>
              </a:spcAft>
            </a:pPr>
            <a:r>
              <a:rPr sz="1100">
                <a:solidFill>
                  <a:srgbClr val="E2E8F0"/>
                </a:solidFill>
                <a:latin typeface="Menlo"/>
              </a:rPr>
              <a:t>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inject(ToolRegistry).setScopePolicy(</a:t>
            </a:r>
          </a:p>
          <a:p>
            <a:pPr>
              <a:spcAft>
                <a:spcPts val="0"/>
              </a:spcAft>
            </a:pPr>
            <a:r>
              <a:rPr sz="1100">
                <a:solidFill>
                  <a:srgbClr val="E2E8F0"/>
                </a:solidFill>
                <a:latin typeface="Menlo"/>
              </a:rPr>
              <a:t>    (entry)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9" name="Rounded Rectangle 18"/>
          <p:cNvSpPr/>
          <p:nvPr/>
        </p:nvSpPr>
        <p:spPr>
          <a:xfrm>
            <a:off x="640080"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21" name="TextBox 20"/>
          <p:cNvSpPr txBox="1"/>
          <p:nvPr/>
        </p:nvSpPr>
        <p:spPr>
          <a:xfrm>
            <a:off x="777240"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registries gain scope filtering</a:t>
            </a:r>
          </a:p>
        </p:txBody>
      </p:sp>
      <p:sp>
        <p:nvSpPr>
          <p:cNvPr id="22" name="Rounded Rectangle 21"/>
          <p:cNvSpPr/>
          <p:nvPr/>
        </p:nvSpPr>
        <p:spPr>
          <a:xfrm>
            <a:off x="3413683"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0843" y="5788152"/>
            <a:ext cx="2316403" cy="640080"/>
          </a:xfrm>
          <a:prstGeom prst="rect">
            <a:avLst/>
          </a:prstGeom>
          <a:noFill/>
        </p:spPr>
        <p:txBody>
          <a:bodyPr wrap="square" lIns="0" rIns="0" tIns="0" bIns="0" anchor="t">
            <a:spAutoFit/>
          </a:bodyPr>
          <a:lstStyle/>
          <a:p>
            <a:pPr algn="l"/>
            <a:r>
              <a:rPr sz="3200" b="1">
                <a:solidFill>
                  <a:srgbClr val="2F6F4F"/>
                </a:solidFill>
                <a:latin typeface="Calibri"/>
              </a:rPr>
              <a:t>~30</a:t>
            </a:r>
          </a:p>
        </p:txBody>
      </p:sp>
      <p:sp>
        <p:nvSpPr>
          <p:cNvPr id="24" name="TextBox 23"/>
          <p:cNvSpPr txBox="1"/>
          <p:nvPr/>
        </p:nvSpPr>
        <p:spPr>
          <a:xfrm>
            <a:off x="3550843"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lines of consumer code deleted</a:t>
            </a:r>
          </a:p>
        </p:txBody>
      </p:sp>
      <p:sp>
        <p:nvSpPr>
          <p:cNvPr id="25" name="Rounded Rectangle 24"/>
          <p:cNvSpPr/>
          <p:nvPr/>
        </p:nvSpPr>
        <p:spPr>
          <a:xfrm>
            <a:off x="6187287"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4447"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a:t>
            </a:r>
          </a:p>
        </p:txBody>
      </p:sp>
      <p:sp>
        <p:nvSpPr>
          <p:cNvPr id="27" name="TextBox 26"/>
          <p:cNvSpPr txBox="1"/>
          <p:nvPr/>
        </p:nvSpPr>
        <p:spPr>
          <a:xfrm>
            <a:off x="6324447"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policy installs once at boot</a:t>
            </a:r>
          </a:p>
        </p:txBody>
      </p:sp>
      <p:sp>
        <p:nvSpPr>
          <p:cNvPr id="28" name="Rounded Rectangle 27"/>
          <p:cNvSpPr/>
          <p:nvPr/>
        </p:nvSpPr>
        <p:spPr>
          <a:xfrm>
            <a:off x="8960891"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051" y="5788152"/>
            <a:ext cx="231640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30" name="TextBox 29"/>
          <p:cNvSpPr txBox="1"/>
          <p:nvPr/>
        </p:nvSpPr>
        <p:spPr>
          <a:xfrm>
            <a:off x="9098051"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every reader sees the same view</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Per-persona scope — live in the 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ersona-menu.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Phase-8 RegistryBase.setScopePolicy in action. Each role's tool count shifts live — Lead Counsel sees 18 / 18, Vendor Reviewer sees 5 / 18. The LLM never sees tools the active persona can't invoke (the ToolRegistry filter applies before the system prompt is composed).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09 · ENTERPRISE READINESS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Four phases, four governance primitives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200" b="0">
                <a:solidFill>
                  <a:srgbClr val="363D49"/>
                </a:solidFill>
                <a:latin typeface="Calibri"/>
              </a:rPr>
              <a:t>Each row pairs a regulated-domain need with the library primitive that addresses it — already shipped.</a:t>
            </a:r>
          </a:p>
        </p:txBody>
      </p:sp>
      <p:sp>
        <p:nvSpPr>
          <p:cNvPr id="7" name="Rounded Rectangle 6"/>
          <p:cNvSpPr/>
          <p:nvPr/>
        </p:nvSpPr>
        <p:spPr>
          <a:xfrm>
            <a:off x="640080" y="233172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4864" cy="795528"/>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50592"/>
            <a:ext cx="3474720" cy="365760"/>
          </a:xfrm>
          <a:prstGeom prst="rect">
            <a:avLst/>
          </a:prstGeom>
          <a:noFill/>
        </p:spPr>
        <p:txBody>
          <a:bodyPr wrap="square" lIns="0" rIns="0" tIns="0" bIns="0" anchor="t">
            <a:spAutoFit/>
          </a:bodyPr>
          <a:lstStyle/>
          <a:p>
            <a:pPr algn="l"/>
            <a:r>
              <a:rPr sz="1400" b="1">
                <a:solidFill>
                  <a:srgbClr val="2F6F4F"/>
                </a:solidFill>
                <a:latin typeface="Calibri"/>
              </a:rPr>
              <a:t>Tamper-evident audit</a:t>
            </a:r>
          </a:p>
        </p:txBody>
      </p:sp>
      <p:sp>
        <p:nvSpPr>
          <p:cNvPr id="10" name="TextBox 9"/>
          <p:cNvSpPr txBox="1"/>
          <p:nvPr/>
        </p:nvSpPr>
        <p:spPr>
          <a:xfrm>
            <a:off x="868680" y="2788920"/>
            <a:ext cx="3474720" cy="292608"/>
          </a:xfrm>
          <a:prstGeom prst="rect">
            <a:avLst/>
          </a:prstGeom>
          <a:noFill/>
        </p:spPr>
        <p:txBody>
          <a:bodyPr wrap="square" lIns="0" rIns="0" tIns="0" bIns="0" anchor="t">
            <a:spAutoFit/>
          </a:bodyPr>
          <a:lstStyle/>
          <a:p>
            <a:pPr algn="l"/>
            <a:r>
              <a:rPr sz="900" b="0">
                <a:solidFill>
                  <a:srgbClr val="6B7380"/>
                </a:solidFill>
                <a:latin typeface="Menlo"/>
              </a:rPr>
              <a:t>Phase 5 · `appendAudit` + `verifyAuditChain`</a:t>
            </a:r>
          </a:p>
        </p:txBody>
      </p:sp>
      <p:sp>
        <p:nvSpPr>
          <p:cNvPr id="11" name="TextBox 10"/>
          <p:cNvSpPr txBox="1"/>
          <p:nvPr/>
        </p:nvSpPr>
        <p:spPr>
          <a:xfrm>
            <a:off x="4480560" y="2578608"/>
            <a:ext cx="7071055" cy="457200"/>
          </a:xfrm>
          <a:prstGeom prst="rect">
            <a:avLst/>
          </a:prstGeom>
          <a:noFill/>
        </p:spPr>
        <p:txBody>
          <a:bodyPr wrap="square" lIns="0" rIns="0" tIns="0" bIns="0" anchor="t">
            <a:spAutoFit/>
          </a:bodyPr>
          <a:lstStyle/>
          <a:p>
            <a:pPr algn="l"/>
            <a:r>
              <a:rPr sz="1200" b="0">
                <a:solidFill>
                  <a:srgbClr val="363D49"/>
                </a:solidFill>
                <a:latin typeface="Calibri"/>
              </a:rPr>
              <a:t>Chain hash on every event · live integrity verifier</a:t>
            </a:r>
          </a:p>
        </p:txBody>
      </p:sp>
      <p:sp>
        <p:nvSpPr>
          <p:cNvPr id="12" name="Rounded Rectangle 11"/>
          <p:cNvSpPr/>
          <p:nvPr/>
        </p:nvSpPr>
        <p:spPr>
          <a:xfrm>
            <a:off x="640080" y="320040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00400"/>
            <a:ext cx="54864" cy="795528"/>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19272"/>
            <a:ext cx="3474720" cy="365760"/>
          </a:xfrm>
          <a:prstGeom prst="rect">
            <a:avLst/>
          </a:prstGeom>
          <a:noFill/>
        </p:spPr>
        <p:txBody>
          <a:bodyPr wrap="square" lIns="0" rIns="0" tIns="0" bIns="0" anchor="t">
            <a:spAutoFit/>
          </a:bodyPr>
          <a:lstStyle/>
          <a:p>
            <a:pPr algn="l"/>
            <a:r>
              <a:rPr sz="1400" b="1">
                <a:solidFill>
                  <a:srgbClr val="C48221"/>
                </a:solidFill>
                <a:latin typeface="Calibri"/>
              </a:rPr>
              <a:t>Analyst-desktop reach</a:t>
            </a:r>
          </a:p>
        </p:txBody>
      </p:sp>
      <p:sp>
        <p:nvSpPr>
          <p:cNvPr id="15" name="TextBox 14"/>
          <p:cNvSpPr txBox="1"/>
          <p:nvPr/>
        </p:nvSpPr>
        <p:spPr>
          <a:xfrm>
            <a:off x="868680" y="3657600"/>
            <a:ext cx="3474720" cy="292608"/>
          </a:xfrm>
          <a:prstGeom prst="rect">
            <a:avLst/>
          </a:prstGeom>
          <a:noFill/>
        </p:spPr>
        <p:txBody>
          <a:bodyPr wrap="square" lIns="0" rIns="0" tIns="0" bIns="0" anchor="t">
            <a:spAutoFit/>
          </a:bodyPr>
          <a:lstStyle/>
          <a:p>
            <a:pPr algn="l"/>
            <a:r>
              <a:rPr sz="900" b="0">
                <a:solidFill>
                  <a:srgbClr val="6B7380"/>
                </a:solidFill>
                <a:latin typeface="Menlo"/>
              </a:rPr>
              <a:t>Phase 6 · `@maverick/agentic-ui-mcp`</a:t>
            </a:r>
          </a:p>
        </p:txBody>
      </p:sp>
      <p:sp>
        <p:nvSpPr>
          <p:cNvPr id="16" name="TextBox 15"/>
          <p:cNvSpPr txBox="1"/>
          <p:nvPr/>
        </p:nvSpPr>
        <p:spPr>
          <a:xfrm>
            <a:off x="4480560" y="3447288"/>
            <a:ext cx="7071055" cy="457200"/>
          </a:xfrm>
          <a:prstGeom prst="rect">
            <a:avLst/>
          </a:prstGeom>
          <a:noFill/>
        </p:spPr>
        <p:txBody>
          <a:bodyPr wrap="square" lIns="0" rIns="0" tIns="0" bIns="0" anchor="t">
            <a:spAutoFit/>
          </a:bodyPr>
          <a:lstStyle/>
          <a:p>
            <a:pPr algn="l"/>
            <a:r>
              <a:rPr sz="1200" b="0">
                <a:solidFill>
                  <a:srgbClr val="363D49"/>
                </a:solidFill>
                <a:latin typeface="Calibri"/>
              </a:rPr>
              <a:t>Same toolset in Claude Desktop / Cursor · same audit log</a:t>
            </a:r>
          </a:p>
        </p:txBody>
      </p:sp>
      <p:sp>
        <p:nvSpPr>
          <p:cNvPr id="17" name="Rounded Rectangle 16"/>
          <p:cNvSpPr/>
          <p:nvPr/>
        </p:nvSpPr>
        <p:spPr>
          <a:xfrm>
            <a:off x="640080" y="406908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069080"/>
            <a:ext cx="54864" cy="7955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474720" cy="365760"/>
          </a:xfrm>
          <a:prstGeom prst="rect">
            <a:avLst/>
          </a:prstGeom>
          <a:noFill/>
        </p:spPr>
        <p:txBody>
          <a:bodyPr wrap="square" lIns="0" rIns="0" tIns="0" bIns="0" anchor="t">
            <a:spAutoFit/>
          </a:bodyPr>
          <a:lstStyle/>
          <a:p>
            <a:pPr algn="l"/>
            <a:r>
              <a:rPr sz="1400" b="1">
                <a:solidFill>
                  <a:srgbClr val="1E3A5F"/>
                </a:solidFill>
                <a:latin typeface="Calibri"/>
              </a:rPr>
              <a:t>Persona-scoped tool surface</a:t>
            </a:r>
          </a:p>
        </p:txBody>
      </p:sp>
      <p:sp>
        <p:nvSpPr>
          <p:cNvPr id="20" name="TextBox 19"/>
          <p:cNvSpPr txBox="1"/>
          <p:nvPr/>
        </p:nvSpPr>
        <p:spPr>
          <a:xfrm>
            <a:off x="868680" y="4526280"/>
            <a:ext cx="3474720" cy="292608"/>
          </a:xfrm>
          <a:prstGeom prst="rect">
            <a:avLst/>
          </a:prstGeom>
          <a:noFill/>
        </p:spPr>
        <p:txBody>
          <a:bodyPr wrap="square" lIns="0" rIns="0" tIns="0" bIns="0" anchor="t">
            <a:spAutoFit/>
          </a:bodyPr>
          <a:lstStyle/>
          <a:p>
            <a:pPr algn="l"/>
            <a:r>
              <a:rPr sz="900" b="0">
                <a:solidFill>
                  <a:srgbClr val="6B7380"/>
                </a:solidFill>
                <a:latin typeface="Menlo"/>
              </a:rPr>
              <a:t>Phase 7 · consumer-side filter, then…</a:t>
            </a:r>
          </a:p>
        </p:txBody>
      </p:sp>
      <p:sp>
        <p:nvSpPr>
          <p:cNvPr id="21" name="TextBox 20"/>
          <p:cNvSpPr txBox="1"/>
          <p:nvPr/>
        </p:nvSpPr>
        <p:spPr>
          <a:xfrm>
            <a:off x="4480560" y="4315968"/>
            <a:ext cx="7071055" cy="457200"/>
          </a:xfrm>
          <a:prstGeom prst="rect">
            <a:avLst/>
          </a:prstGeom>
          <a:noFill/>
        </p:spPr>
        <p:txBody>
          <a:bodyPr wrap="square" lIns="0" rIns="0" tIns="0" bIns="0" anchor="t">
            <a:spAutoFit/>
          </a:bodyPr>
          <a:lstStyle/>
          <a:p>
            <a:pPr algn="l"/>
            <a:r>
              <a:rPr sz="1200" b="0">
                <a:solidFill>
                  <a:srgbClr val="363D49"/>
                </a:solidFill>
                <a:latin typeface="Calibri"/>
              </a:rPr>
              <a:t>Hide tools the role can't invoke before the LLM ever sees them</a:t>
            </a:r>
          </a:p>
        </p:txBody>
      </p:sp>
      <p:sp>
        <p:nvSpPr>
          <p:cNvPr id="22" name="Rounded Rectangle 21"/>
          <p:cNvSpPr/>
          <p:nvPr/>
        </p:nvSpPr>
        <p:spPr>
          <a:xfrm>
            <a:off x="640080" y="493776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37760"/>
            <a:ext cx="54864" cy="795528"/>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056632"/>
            <a:ext cx="3474720" cy="365760"/>
          </a:xfrm>
          <a:prstGeom prst="rect">
            <a:avLst/>
          </a:prstGeom>
          <a:noFill/>
        </p:spPr>
        <p:txBody>
          <a:bodyPr wrap="square" lIns="0" rIns="0" tIns="0" bIns="0" anchor="t">
            <a:spAutoFit/>
          </a:bodyPr>
          <a:lstStyle/>
          <a:p>
            <a:pPr algn="l"/>
            <a:r>
              <a:rPr sz="1400" b="1">
                <a:solidFill>
                  <a:srgbClr val="12243D"/>
                </a:solidFill>
                <a:latin typeface="Calibri"/>
              </a:rPr>
              <a:t>Registry-wide scope policy</a:t>
            </a:r>
          </a:p>
        </p:txBody>
      </p:sp>
      <p:sp>
        <p:nvSpPr>
          <p:cNvPr id="25" name="TextBox 24"/>
          <p:cNvSpPr txBox="1"/>
          <p:nvPr/>
        </p:nvSpPr>
        <p:spPr>
          <a:xfrm>
            <a:off x="868680" y="5394960"/>
            <a:ext cx="3474720" cy="292608"/>
          </a:xfrm>
          <a:prstGeom prst="rect">
            <a:avLst/>
          </a:prstGeom>
          <a:noFill/>
        </p:spPr>
        <p:txBody>
          <a:bodyPr wrap="square" lIns="0" rIns="0" tIns="0" bIns="0" anchor="t">
            <a:spAutoFit/>
          </a:bodyPr>
          <a:lstStyle/>
          <a:p>
            <a:pPr algn="l"/>
            <a:r>
              <a:rPr sz="900" b="0">
                <a:solidFill>
                  <a:srgbClr val="6B7380"/>
                </a:solidFill>
                <a:latin typeface="Menlo"/>
              </a:rPr>
              <a:t>Phase 8 · `RegistryBase.setScopePolicy(policy)`</a:t>
            </a:r>
          </a:p>
        </p:txBody>
      </p:sp>
      <p:sp>
        <p:nvSpPr>
          <p:cNvPr id="26" name="TextBox 25"/>
          <p:cNvSpPr txBox="1"/>
          <p:nvPr/>
        </p:nvSpPr>
        <p:spPr>
          <a:xfrm>
            <a:off x="4480560" y="5184648"/>
            <a:ext cx="7071055" cy="457200"/>
          </a:xfrm>
          <a:prstGeom prst="rect">
            <a:avLst/>
          </a:prstGeom>
          <a:noFill/>
        </p:spPr>
        <p:txBody>
          <a:bodyPr wrap="square" lIns="0" rIns="0" tIns="0" bIns="0" anchor="t">
            <a:spAutoFit/>
          </a:bodyPr>
          <a:lstStyle/>
          <a:p>
            <a:pPr algn="l"/>
            <a:r>
              <a:rPr sz="1200" b="0">
                <a:solidFill>
                  <a:srgbClr val="363D49"/>
                </a:solidFill>
                <a:latin typeface="Calibri"/>
              </a:rPr>
              <a:t>13 registries (Tool / Action / Form / DataSource / …) share one filter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Enterprise readiness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7 · DECISIONS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When to use what — a guide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315200" cy="365760"/>
          </a:xfrm>
          <a:prstGeom prst="rect">
            <a:avLst/>
          </a:prstGeom>
          <a:noFill/>
        </p:spPr>
        <p:txBody>
          <a:bodyPr wrap="square" lIns="0" rIns="0" tIns="0" bIns="0" anchor="t">
            <a:spAutoFit/>
          </a:bodyPr>
          <a:lstStyle/>
          <a:p>
            <a:pPr algn="l"/>
            <a:r>
              <a:rPr sz="1100" b="1">
                <a:solidFill>
                  <a:srgbClr val="6B7380"/>
                </a:solidFill>
                <a:latin typeface="Calibri"/>
              </a:rPr>
              <a:t>Use case</a:t>
            </a:r>
          </a:p>
        </p:txBody>
      </p:sp>
      <p:sp>
        <p:nvSpPr>
          <p:cNvPr id="8" name="TextBox 7"/>
          <p:cNvSpPr txBox="1"/>
          <p:nvPr/>
        </p:nvSpPr>
        <p:spPr>
          <a:xfrm>
            <a:off x="82296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Reach for</a:t>
            </a:r>
          </a:p>
        </p:txBody>
      </p:sp>
      <p:sp>
        <p:nvSpPr>
          <p:cNvPr id="9" name="TextBox 8"/>
          <p:cNvSpPr txBox="1"/>
          <p:nvPr/>
        </p:nvSpPr>
        <p:spPr>
          <a:xfrm>
            <a:off x="868680" y="2194560"/>
            <a:ext cx="7315200" cy="457200"/>
          </a:xfrm>
          <a:prstGeom prst="rect">
            <a:avLst/>
          </a:prstGeom>
          <a:noFill/>
        </p:spPr>
        <p:txBody>
          <a:bodyPr wrap="square" lIns="0" rIns="0" tIns="0" bIns="0" anchor="t">
            <a:spAutoFit/>
          </a:bodyPr>
          <a:lstStyle/>
          <a:p>
            <a:pPr algn="l"/>
            <a:r>
              <a:rPr sz="1300" b="0">
                <a:solidFill>
                  <a:srgbClr val="141821"/>
                </a:solidFill>
                <a:latin typeface="Calibri"/>
              </a:rPr>
              <a:t>Single-app · regulated · audit-heavy</a:t>
            </a:r>
          </a:p>
        </p:txBody>
      </p:sp>
      <p:sp>
        <p:nvSpPr>
          <p:cNvPr id="10" name="Rounded Rectangle 9"/>
          <p:cNvSpPr/>
          <p:nvPr/>
        </p:nvSpPr>
        <p:spPr>
          <a:xfrm>
            <a:off x="8229600" y="2240280"/>
            <a:ext cx="32918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240280"/>
            <a:ext cx="3291840" cy="292608"/>
          </a:xfrm>
          <a:prstGeom prst="rect">
            <a:avLst/>
          </a:prstGeom>
          <a:noFill/>
        </p:spPr>
        <p:txBody>
          <a:bodyPr wrap="none" lIns="0" rIns="0" tIns="0" bIns="0" anchor="ctr">
            <a:spAutoFit/>
          </a:bodyPr>
          <a:lstStyle/>
          <a:p>
            <a:pPr algn="ctr"/>
            <a:r>
              <a:rPr sz="1100" b="1">
                <a:solidFill>
                  <a:srgbClr val="FFFFFF"/>
                </a:solidFill>
                <a:latin typeface="Calibri"/>
              </a:rPr>
              <a:t>AG-UI</a:t>
            </a:r>
          </a:p>
        </p:txBody>
      </p:sp>
      <p:sp>
        <p:nvSpPr>
          <p:cNvPr id="12" name="TextBox 11"/>
          <p:cNvSpPr txBox="1"/>
          <p:nvPr/>
        </p:nvSpPr>
        <p:spPr>
          <a:xfrm>
            <a:off x="868680" y="2907792"/>
            <a:ext cx="7315200" cy="457200"/>
          </a:xfrm>
          <a:prstGeom prst="rect">
            <a:avLst/>
          </a:prstGeom>
          <a:noFill/>
        </p:spPr>
        <p:txBody>
          <a:bodyPr wrap="square" lIns="0" rIns="0" tIns="0" bIns="0" anchor="t">
            <a:spAutoFit/>
          </a:bodyPr>
          <a:lstStyle/>
          <a:p>
            <a:pPr algn="l"/>
            <a:r>
              <a:rPr sz="1300" b="0">
                <a:solidFill>
                  <a:srgbClr val="141821"/>
                </a:solidFill>
                <a:latin typeface="Calibri"/>
              </a:rPr>
              <a:t>Multi-provider eval · rapid prototype</a:t>
            </a:r>
          </a:p>
        </p:txBody>
      </p:sp>
      <p:sp>
        <p:nvSpPr>
          <p:cNvPr id="13" name="Rounded Rectangle 12"/>
          <p:cNvSpPr/>
          <p:nvPr/>
        </p:nvSpPr>
        <p:spPr>
          <a:xfrm>
            <a:off x="8229600" y="2953512"/>
            <a:ext cx="32918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953512"/>
            <a:ext cx="3291840" cy="292608"/>
          </a:xfrm>
          <a:prstGeom prst="rect">
            <a:avLst/>
          </a:prstGeom>
          <a:noFill/>
        </p:spPr>
        <p:txBody>
          <a:bodyPr wrap="none" lIns="0" rIns="0" tIns="0" bIns="0" anchor="ctr">
            <a:spAutoFit/>
          </a:bodyPr>
          <a:lstStyle/>
          <a:p>
            <a:pPr algn="ctr"/>
            <a:r>
              <a:rPr sz="1100" b="1">
                <a:solidFill>
                  <a:srgbClr val="FFFFFF"/>
                </a:solidFill>
                <a:latin typeface="Calibri"/>
              </a:rPr>
              <a:t>Hashbrown</a:t>
            </a:r>
          </a:p>
        </p:txBody>
      </p:sp>
      <p:sp>
        <p:nvSpPr>
          <p:cNvPr id="15" name="TextBox 14"/>
          <p:cNvSpPr txBox="1"/>
          <p:nvPr/>
        </p:nvSpPr>
        <p:spPr>
          <a:xfrm>
            <a:off x="868680" y="3621024"/>
            <a:ext cx="7315200" cy="457200"/>
          </a:xfrm>
          <a:prstGeom prst="rect">
            <a:avLst/>
          </a:prstGeom>
          <a:noFill/>
        </p:spPr>
        <p:txBody>
          <a:bodyPr wrap="square" lIns="0" rIns="0" tIns="0" bIns="0" anchor="t">
            <a:spAutoFit/>
          </a:bodyPr>
          <a:lstStyle/>
          <a:p>
            <a:pPr algn="l"/>
            <a:r>
              <a:rPr sz="1300" b="0">
                <a:solidFill>
                  <a:srgbClr val="141821"/>
                </a:solidFill>
                <a:latin typeface="Calibri"/>
              </a:rPr>
              <a:t>Agent navigates / fills forms / mutates store</a:t>
            </a:r>
          </a:p>
        </p:txBody>
      </p:sp>
      <p:sp>
        <p:nvSpPr>
          <p:cNvPr id="16" name="Rounded Rectangle 15"/>
          <p:cNvSpPr/>
          <p:nvPr/>
        </p:nvSpPr>
        <p:spPr>
          <a:xfrm>
            <a:off x="8229600" y="3666744"/>
            <a:ext cx="32918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666744"/>
            <a:ext cx="3291840" cy="292608"/>
          </a:xfrm>
          <a:prstGeom prst="rect">
            <a:avLst/>
          </a:prstGeom>
          <a:noFill/>
        </p:spPr>
        <p:txBody>
          <a:bodyPr wrap="none" lIns="0" rIns="0" tIns="0" bIns="0" anchor="ctr">
            <a:spAutoFit/>
          </a:bodyPr>
          <a:lstStyle/>
          <a:p>
            <a:pPr algn="ctr"/>
            <a:r>
              <a:rPr sz="1100" b="1">
                <a:solidFill>
                  <a:srgbClr val="FFFFFF"/>
                </a:solidFill>
                <a:latin typeface="Calibri"/>
              </a:rPr>
              <a:t>A2UI (over AG-UI base)</a:t>
            </a:r>
          </a:p>
        </p:txBody>
      </p:sp>
      <p:sp>
        <p:nvSpPr>
          <p:cNvPr id="18" name="TextBox 17"/>
          <p:cNvSpPr txBox="1"/>
          <p:nvPr/>
        </p:nvSpPr>
        <p:spPr>
          <a:xfrm>
            <a:off x="868680" y="4334256"/>
            <a:ext cx="7315200" cy="457200"/>
          </a:xfrm>
          <a:prstGeom prst="rect">
            <a:avLst/>
          </a:prstGeom>
          <a:noFill/>
        </p:spPr>
        <p:txBody>
          <a:bodyPr wrap="square" lIns="0" rIns="0" tIns="0" bIns="0" anchor="t">
            <a:spAutoFit/>
          </a:bodyPr>
          <a:lstStyle/>
          <a:p>
            <a:pPr algn="l"/>
            <a:r>
              <a:rPr sz="1300" b="0">
                <a:solidFill>
                  <a:srgbClr val="141821"/>
                </a:solidFill>
                <a:latin typeface="Calibri"/>
              </a:rPr>
              <a:t>Multiple teams · independent deploys</a:t>
            </a:r>
          </a:p>
        </p:txBody>
      </p:sp>
      <p:sp>
        <p:nvSpPr>
          <p:cNvPr id="19" name="Rounded Rectangle 18"/>
          <p:cNvSpPr/>
          <p:nvPr/>
        </p:nvSpPr>
        <p:spPr>
          <a:xfrm>
            <a:off x="8229600" y="4379976"/>
            <a:ext cx="32918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379976"/>
            <a:ext cx="3291840" cy="292608"/>
          </a:xfrm>
          <a:prstGeom prst="rect">
            <a:avLst/>
          </a:prstGeom>
          <a:noFill/>
        </p:spPr>
        <p:txBody>
          <a:bodyPr wrap="none" lIns="0" rIns="0" tIns="0" bIns="0" anchor="ctr">
            <a:spAutoFit/>
          </a:bodyPr>
          <a:lstStyle/>
          <a:p>
            <a:pPr algn="ctr"/>
            <a:r>
              <a:rPr sz="1100" b="1">
                <a:solidFill>
                  <a:srgbClr val="FFFFFF"/>
                </a:solidFill>
                <a:latin typeface="Calibri"/>
              </a:rPr>
              <a:t>MFE federation</a:t>
            </a:r>
          </a:p>
        </p:txBody>
      </p:sp>
      <p:sp>
        <p:nvSpPr>
          <p:cNvPr id="21" name="TextBox 20"/>
          <p:cNvSpPr txBox="1"/>
          <p:nvPr/>
        </p:nvSpPr>
        <p:spPr>
          <a:xfrm>
            <a:off x="868680" y="5047488"/>
            <a:ext cx="7315200" cy="457200"/>
          </a:xfrm>
          <a:prstGeom prst="rect">
            <a:avLst/>
          </a:prstGeom>
          <a:noFill/>
        </p:spPr>
        <p:txBody>
          <a:bodyPr wrap="square" lIns="0" rIns="0" tIns="0" bIns="0" anchor="t">
            <a:spAutoFit/>
          </a:bodyPr>
          <a:lstStyle/>
          <a:p>
            <a:pPr algn="l"/>
            <a:r>
              <a:rPr sz="1300" b="0">
                <a:solidFill>
                  <a:srgbClr val="141821"/>
                </a:solidFill>
                <a:latin typeface="Calibri"/>
              </a:rPr>
              <a:t>Analyst desktops · IDE-native agents</a:t>
            </a:r>
          </a:p>
        </p:txBody>
      </p:sp>
      <p:sp>
        <p:nvSpPr>
          <p:cNvPr id="22" name="Rounded Rectangle 21"/>
          <p:cNvSpPr/>
          <p:nvPr/>
        </p:nvSpPr>
        <p:spPr>
          <a:xfrm>
            <a:off x="8229600" y="5093208"/>
            <a:ext cx="32918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5093208"/>
            <a:ext cx="3291840" cy="292608"/>
          </a:xfrm>
          <a:prstGeom prst="rect">
            <a:avLst/>
          </a:prstGeom>
          <a:noFill/>
        </p:spPr>
        <p:txBody>
          <a:bodyPr wrap="none" lIns="0" rIns="0" tIns="0" bIns="0" anchor="ctr">
            <a:spAutoFit/>
          </a:bodyPr>
          <a:lstStyle/>
          <a:p>
            <a:pPr algn="ctr"/>
            <a:r>
              <a:rPr sz="1100" b="1">
                <a:solidFill>
                  <a:srgbClr val="FFFFFF"/>
                </a:solidFill>
                <a:latin typeface="Calibri"/>
              </a:rPr>
              <a:t>MCP server</a:t>
            </a:r>
          </a:p>
        </p:txBody>
      </p:sp>
      <p:sp>
        <p:nvSpPr>
          <p:cNvPr id="24" name="TextBox 23"/>
          <p:cNvSpPr txBox="1"/>
          <p:nvPr/>
        </p:nvSpPr>
        <p:spPr>
          <a:xfrm>
            <a:off x="868680" y="5760720"/>
            <a:ext cx="7315200" cy="457200"/>
          </a:xfrm>
          <a:prstGeom prst="rect">
            <a:avLst/>
          </a:prstGeom>
          <a:noFill/>
        </p:spPr>
        <p:txBody>
          <a:bodyPr wrap="square" lIns="0" rIns="0" tIns="0" bIns="0" anchor="t">
            <a:spAutoFit/>
          </a:bodyPr>
          <a:lstStyle/>
          <a:p>
            <a:pPr algn="l"/>
            <a:r>
              <a:rPr sz="1300" b="0">
                <a:solidFill>
                  <a:srgbClr val="141821"/>
                </a:solidFill>
                <a:latin typeface="Calibri"/>
              </a:rPr>
              <a:t>Compliance + chain of custody</a:t>
            </a:r>
          </a:p>
        </p:txBody>
      </p:sp>
      <p:sp>
        <p:nvSpPr>
          <p:cNvPr id="25" name="Rounded Rectangle 24"/>
          <p:cNvSpPr/>
          <p:nvPr/>
        </p:nvSpPr>
        <p:spPr>
          <a:xfrm>
            <a:off x="8229600" y="5806440"/>
            <a:ext cx="32918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806440"/>
            <a:ext cx="3291840" cy="292608"/>
          </a:xfrm>
          <a:prstGeom prst="rect">
            <a:avLst/>
          </a:prstGeom>
          <a:noFill/>
        </p:spPr>
        <p:txBody>
          <a:bodyPr wrap="none" lIns="0" rIns="0" tIns="0" bIns="0" anchor="ctr">
            <a:spAutoFit/>
          </a:bodyPr>
          <a:lstStyle/>
          <a:p>
            <a:pPr algn="ctr"/>
            <a:r>
              <a:rPr sz="1100" b="1">
                <a:solidFill>
                  <a:srgbClr val="FFFFFF"/>
                </a:solidFill>
                <a:latin typeface="Calibri"/>
              </a:rPr>
              <a:t>Telemetry sink → audit log</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Decisions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senior executives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200"/>
              </a:spcAft>
            </a:pPr>
            <a:r>
              <a:rPr sz="1400" b="1">
                <a:solidFill>
                  <a:srgbClr val="1E3A5F"/>
                </a:solidFill>
                <a:latin typeface="Calibri"/>
              </a:rPr>
              <a:t>•  </a:t>
            </a:r>
            <a:r>
              <a:rPr sz="1400" b="1">
                <a:solidFill>
                  <a:srgbClr val="141821"/>
                </a:solidFill>
                <a:latin typeface="Calibri"/>
              </a:rPr>
              <a:t>Faster time-to-pilot. </a:t>
            </a:r>
            <a:r>
              <a:rPr sz="1400">
                <a:solidFill>
                  <a:srgbClr val="141821"/>
                </a:solidFill>
                <a:latin typeface="Calibri"/>
              </a:rPr>
              <a:t>ng add → working chat in 2 minutes. 6 months of in-house plumbing avoided.</a:t>
            </a:r>
          </a:p>
          <a:p>
            <a:pPr>
              <a:spcAft>
                <a:spcPts val="1200"/>
              </a:spcAft>
            </a:pPr>
            <a:r>
              <a:rPr sz="1400" b="1">
                <a:solidFill>
                  <a:srgbClr val="1E3A5F"/>
                </a:solidFill>
                <a:latin typeface="Calibri"/>
              </a:rPr>
              <a:t>•  </a:t>
            </a:r>
            <a:r>
              <a:rPr sz="1400" b="1">
                <a:solidFill>
                  <a:srgbClr val="141821"/>
                </a:solidFill>
                <a:latin typeface="Calibri"/>
              </a:rPr>
              <a:t>Vendor agnosticism. </a:t>
            </a:r>
            <a:r>
              <a:rPr sz="1400">
                <a:solidFill>
                  <a:srgbClr val="141821"/>
                </a:solidFill>
                <a:latin typeface="Calibri"/>
              </a:rPr>
              <a:t>AG-UI today, Hashbrown tomorrow, A2UI when it ships v1 — same UI, swap the backend.</a:t>
            </a:r>
          </a:p>
          <a:p>
            <a:pPr>
              <a:spcAft>
                <a:spcPts val="1200"/>
              </a:spcAft>
            </a:pPr>
            <a:r>
              <a:rPr sz="1400" b="1">
                <a:solidFill>
                  <a:srgbClr val="1E3A5F"/>
                </a:solidFill>
                <a:latin typeface="Calibri"/>
              </a:rPr>
              <a:t>•  </a:t>
            </a:r>
            <a:r>
              <a:rPr sz="1400" b="1">
                <a:solidFill>
                  <a:srgbClr val="141821"/>
                </a:solidFill>
                <a:latin typeface="Calibri"/>
              </a:rPr>
              <a:t>Regulated-domain ready. </a:t>
            </a:r>
            <a:r>
              <a:rPr sz="1400">
                <a:solidFill>
                  <a:srgbClr val="141821"/>
                </a:solidFill>
                <a:latin typeface="Calibri"/>
              </a:rPr>
              <a:t>Audit-grade telemetry, persona scopes, MCP for analysts — built in, not bolted on.</a:t>
            </a:r>
          </a:p>
          <a:p>
            <a:pPr>
              <a:spcAft>
                <a:spcPts val="1200"/>
              </a:spcAft>
            </a:pPr>
            <a:r>
              <a:rPr sz="1400" b="1">
                <a:solidFill>
                  <a:srgbClr val="1E3A5F"/>
                </a:solidFill>
                <a:latin typeface="Calibri"/>
              </a:rPr>
              <a:t>•  </a:t>
            </a:r>
            <a:r>
              <a:rPr sz="1400" b="1">
                <a:solidFill>
                  <a:srgbClr val="141821"/>
                </a:solidFill>
                <a:latin typeface="Calibri"/>
              </a:rPr>
              <a:t>Microfrontend native. </a:t>
            </a:r>
            <a:r>
              <a:rPr sz="1400">
                <a:solidFill>
                  <a:srgbClr val="141821"/>
                </a:solidFill>
                <a:latin typeface="Calibri"/>
              </a:rPr>
              <a:t>Multiple teams contribute capabilities into one chat — federation is a first-class seam.</a:t>
            </a:r>
          </a:p>
          <a:p>
            <a:pPr>
              <a:spcAft>
                <a:spcPts val="1200"/>
              </a:spcAft>
            </a:pPr>
            <a:r>
              <a:rPr sz="1400" b="1">
                <a:solidFill>
                  <a:srgbClr val="1E3A5F"/>
                </a:solidFill>
                <a:latin typeface="Calibri"/>
              </a:rPr>
              <a:t>•  </a:t>
            </a:r>
            <a:r>
              <a:rPr sz="1400" b="1">
                <a:solidFill>
                  <a:srgbClr val="141821"/>
                </a:solidFill>
                <a:latin typeface="Calibri"/>
              </a:rPr>
              <a:t>Open license. </a:t>
            </a:r>
            <a:r>
              <a:rPr sz="1400">
                <a:solidFill>
                  <a:srgbClr val="141821"/>
                </a:solidFill>
                <a:latin typeface="Calibri"/>
              </a:rPr>
              <a:t>Apache 2.0 — explicit patent grant, enterprise-friendly. No SaaS lock-in; internal forking encouraged.</a:t>
            </a:r>
          </a:p>
          <a:p>
            <a:pPr>
              <a:spcAft>
                <a:spcPts val="1200"/>
              </a:spcAft>
            </a:pPr>
            <a:r>
              <a:rPr sz="1400" b="1">
                <a:solidFill>
                  <a:srgbClr val="1E3A5F"/>
                </a:solidFill>
                <a:latin typeface="Calibri"/>
              </a:rPr>
              <a:t>•  </a:t>
            </a:r>
            <a:r>
              <a:rPr sz="1400" b="1">
                <a:solidFill>
                  <a:srgbClr val="141821"/>
                </a:solidFill>
                <a:latin typeface="Calibri"/>
              </a:rPr>
              <a:t>Reference implementations. </a:t>
            </a:r>
            <a:r>
              <a:rPr sz="1400">
                <a:solidFill>
                  <a:srgbClr val="141821"/>
                </a:solidFill>
                <a:latin typeface="Calibri"/>
              </a:rPr>
              <a:t>Six demos including a full eDiscovery app. Blueprint, not a brochure.</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architects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Clean seams. </a:t>
            </a:r>
            <a:r>
              <a:rPr sz="1300">
                <a:solidFill>
                  <a:srgbClr val="141821"/>
                </a:solidFill>
                <a:latin typeface="Calibri"/>
              </a:rPr>
              <a:t>AgenticBackend, MfeRegistrySource, Registry&lt;TDef&gt;, AgenticTelemetrySink — every contingency leans on one already in place.</a:t>
            </a:r>
          </a:p>
          <a:p>
            <a:pPr>
              <a:spcAft>
                <a:spcPts val="1000"/>
              </a:spcAft>
            </a:pPr>
            <a:r>
              <a:rPr sz="1300" b="1">
                <a:solidFill>
                  <a:srgbClr val="1E3A5F"/>
                </a:solidFill>
                <a:latin typeface="Calibri"/>
              </a:rPr>
              <a:t>•  </a:t>
            </a:r>
            <a:r>
              <a:rPr sz="1300" b="1">
                <a:solidFill>
                  <a:srgbClr val="141821"/>
                </a:solidFill>
                <a:latin typeface="Calibri"/>
              </a:rPr>
              <a:t>Conformance-tested adapters. </a:t>
            </a:r>
            <a:r>
              <a:rPr sz="1300">
                <a:solidFill>
                  <a:srgbClr val="141821"/>
                </a:solidFill>
                <a:latin typeface="Calibri"/>
              </a:rPr>
              <a:t>/testing entry runs the same suite against every backend; capability flags drive feature-detection.</a:t>
            </a:r>
          </a:p>
          <a:p>
            <a:pPr>
              <a:spcAft>
                <a:spcPts val="1000"/>
              </a:spcAft>
            </a:pPr>
            <a:r>
              <a:rPr sz="1300" b="1">
                <a:solidFill>
                  <a:srgbClr val="1E3A5F"/>
                </a:solidFill>
                <a:latin typeface="Calibri"/>
              </a:rPr>
              <a:t>•  </a:t>
            </a:r>
            <a:r>
              <a:rPr sz="1300" b="1">
                <a:solidFill>
                  <a:srgbClr val="141821"/>
                </a:solidFill>
                <a:latin typeface="Calibri"/>
              </a:rPr>
              <a:t>Conflict policies + onDispose. </a:t>
            </a:r>
            <a:r>
              <a:rPr sz="1300">
                <a:solidFill>
                  <a:srgbClr val="141821"/>
                </a:solidFill>
                <a:latin typeface="Calibri"/>
              </a:rPr>
              <a:t>Multiple teams may register the same tool name; namespace policies coexist; cleanup is automatic.</a:t>
            </a:r>
          </a:p>
          <a:p>
            <a:pPr>
              <a:spcAft>
                <a:spcPts val="1000"/>
              </a:spcAft>
            </a:pPr>
            <a:r>
              <a:rPr sz="1300" b="1">
                <a:solidFill>
                  <a:srgbClr val="1E3A5F"/>
                </a:solidFill>
                <a:latin typeface="Calibri"/>
              </a:rPr>
              <a:t>•  </a:t>
            </a:r>
            <a:r>
              <a:rPr sz="1300" b="1">
                <a:solidFill>
                  <a:srgbClr val="141821"/>
                </a:solidFill>
                <a:latin typeface="Calibri"/>
              </a:rPr>
              <a:t>Observability by default. </a:t>
            </a:r>
            <a:r>
              <a:rPr sz="1300">
                <a:solidFill>
                  <a:srgbClr val="141821"/>
                </a:solidFill>
                <a:latin typeface="Calibri"/>
              </a:rPr>
              <a:t>Distributed tracing across SSE; metrics; logs with trace_id correlation; opt-in OTel exporter.</a:t>
            </a:r>
          </a:p>
          <a:p>
            <a:pPr>
              <a:spcAft>
                <a:spcPts val="1000"/>
              </a:spcAft>
            </a:pPr>
            <a:r>
              <a:rPr sz="1300" b="1">
                <a:solidFill>
                  <a:srgbClr val="1E3A5F"/>
                </a:solidFill>
                <a:latin typeface="Calibri"/>
              </a:rPr>
              <a:t>•  </a:t>
            </a:r>
            <a:r>
              <a:rPr sz="1300" b="1">
                <a:solidFill>
                  <a:srgbClr val="141821"/>
                </a:solidFill>
                <a:latin typeface="Calibri"/>
              </a:rPr>
              <a:t>Two federation paths. </a:t>
            </a:r>
            <a:r>
              <a:rPr sz="1300">
                <a:solidFill>
                  <a:srgbClr val="141821"/>
                </a:solidFill>
                <a:latin typeface="Calibri"/>
              </a:rPr>
              <a:t>Native + Module Federation — no second-class citizen; same CapabilityModule shape; pick by bundler.</a:t>
            </a:r>
          </a:p>
          <a:p>
            <a:pPr>
              <a:spcAft>
                <a:spcPts val="1000"/>
              </a:spcAft>
            </a:pPr>
            <a:r>
              <a:rPr sz="1300" b="1">
                <a:solidFill>
                  <a:srgbClr val="1E3A5F"/>
                </a:solidFill>
                <a:latin typeface="Calibri"/>
              </a:rPr>
              <a:t>•  </a:t>
            </a:r>
            <a:r>
              <a:rPr sz="1300" b="1">
                <a:solidFill>
                  <a:srgbClr val="141821"/>
                </a:solidFill>
                <a:latin typeface="Calibri"/>
              </a:rPr>
              <a:t>ADRs documented. </a:t>
            </a:r>
            <a:r>
              <a:rPr sz="1300">
                <a:solidFill>
                  <a:srgbClr val="141821"/>
                </a:solidFill>
                <a:latin typeface="Calibri"/>
              </a:rPr>
              <a:t>Six ADRs cover backend abstraction, MCP, federation, conflict policies — context for future decisions.</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developers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Schematics. </a:t>
            </a:r>
            <a:r>
              <a:rPr sz="1300">
                <a:solidFill>
                  <a:srgbClr val="141821"/>
                </a:solidFill>
                <a:latin typeface="Calibri"/>
              </a:rPr>
              <a:t>ng add bootstraps an entire workspace. ng g …:tool/widget/backend cuts hours of typing per artefact.</a:t>
            </a:r>
          </a:p>
          <a:p>
            <a:pPr>
              <a:spcAft>
                <a:spcPts val="1000"/>
              </a:spcAft>
            </a:pPr>
            <a:r>
              <a:rPr sz="1300" b="1">
                <a:solidFill>
                  <a:srgbClr val="1E3A5F"/>
                </a:solidFill>
                <a:latin typeface="Calibri"/>
              </a:rPr>
              <a:t>•  </a:t>
            </a:r>
            <a:r>
              <a:rPr sz="1300" b="1">
                <a:solidFill>
                  <a:srgbClr val="141821"/>
                </a:solidFill>
                <a:latin typeface="Calibri"/>
              </a:rPr>
              <a:t>Signal-first APIs. </a:t>
            </a:r>
            <a:r>
              <a:rPr sz="1300">
                <a:solidFill>
                  <a:srgbClr val="141821"/>
                </a:solidFill>
                <a:latin typeface="Calibri"/>
              </a:rPr>
              <a:t>ToolRegistry.signal(), CapabilityRegistry.signal() — reactive everywhere; OnPush by default.</a:t>
            </a:r>
          </a:p>
          <a:p>
            <a:pPr>
              <a:spcAft>
                <a:spcPts val="1000"/>
              </a:spcAft>
            </a:pPr>
            <a:r>
              <a:rPr sz="1300" b="1">
                <a:solidFill>
                  <a:srgbClr val="1E3A5F"/>
                </a:solidFill>
                <a:latin typeface="Calibri"/>
              </a:rPr>
              <a:t>•  </a:t>
            </a:r>
            <a:r>
              <a:rPr sz="1300" b="1">
                <a:solidFill>
                  <a:srgbClr val="141821"/>
                </a:solidFill>
                <a:latin typeface="Calibri"/>
              </a:rPr>
              <a:t>Strict TypeScript. </a:t>
            </a:r>
            <a:r>
              <a:rPr sz="1300">
                <a:solidFill>
                  <a:srgbClr val="141821"/>
                </a:solidFill>
                <a:latin typeface="Calibri"/>
              </a:rPr>
              <a:t>Zod-anchored payloads; tool args + props inferred; no any in the public API surface.</a:t>
            </a:r>
          </a:p>
          <a:p>
            <a:pPr>
              <a:spcAft>
                <a:spcPts val="1000"/>
              </a:spcAft>
            </a:pPr>
            <a:r>
              <a:rPr sz="1300" b="1">
                <a:solidFill>
                  <a:srgbClr val="1E3A5F"/>
                </a:solidFill>
                <a:latin typeface="Calibri"/>
              </a:rPr>
              <a:t>•  </a:t>
            </a:r>
            <a:r>
              <a:rPr sz="1300" b="1">
                <a:solidFill>
                  <a:srgbClr val="141821"/>
                </a:solidFill>
                <a:latin typeface="Calibri"/>
              </a:rPr>
              <a:t>Testing harness. </a:t>
            </a:r>
            <a:r>
              <a:rPr sz="1300">
                <a:solidFill>
                  <a:srgbClr val="141821"/>
                </a:solidFill>
                <a:latin typeface="Calibri"/>
              </a:rPr>
              <a:t>FakeAgenticBackend + harnessChat() in /testing; in-memory AgenticTelemetrySink with custom matchers.</a:t>
            </a:r>
          </a:p>
          <a:p>
            <a:pPr>
              <a:spcAft>
                <a:spcPts val="1000"/>
              </a:spcAft>
            </a:pPr>
            <a:r>
              <a:rPr sz="1300" b="1">
                <a:solidFill>
                  <a:srgbClr val="1E3A5F"/>
                </a:solidFill>
                <a:latin typeface="Calibri"/>
              </a:rPr>
              <a:t>•  </a:t>
            </a:r>
            <a:r>
              <a:rPr sz="1300" b="1">
                <a:solidFill>
                  <a:srgbClr val="141821"/>
                </a:solidFill>
                <a:latin typeface="Calibri"/>
              </a:rPr>
              <a:t>Cookbook entries. </a:t>
            </a:r>
            <a:r>
              <a:rPr sz="1300">
                <a:solidFill>
                  <a:srgbClr val="141821"/>
                </a:solidFill>
                <a:latin typeface="Calibri"/>
              </a:rPr>
              <a:t>Every milestone ships a how-to guide — federation at scale, MCP server, observability, persona scopes.</a:t>
            </a:r>
          </a:p>
          <a:p>
            <a:pPr>
              <a:spcAft>
                <a:spcPts val="1000"/>
              </a:spcAft>
            </a:pPr>
            <a:r>
              <a:rPr sz="1300" b="1">
                <a:solidFill>
                  <a:srgbClr val="1E3A5F"/>
                </a:solidFill>
                <a:latin typeface="Calibri"/>
              </a:rPr>
              <a:t>•  </a:t>
            </a:r>
            <a:r>
              <a:rPr sz="1300" b="1">
                <a:solidFill>
                  <a:srgbClr val="141821"/>
                </a:solidFill>
                <a:latin typeface="Calibri"/>
              </a:rPr>
              <a:t>Live reload across MFEs. </a:t>
            </a:r>
            <a:r>
              <a:rPr sz="1300">
                <a:solidFill>
                  <a:srgbClr val="141821"/>
                </a:solidFill>
                <a:latin typeface="Calibri"/>
              </a:rPr>
              <a:t>Both Native + Module Federation play nice with the dev server.</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10 · ROADMAP</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Library milestones · validated by eDiscovery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Each library milestone has a corresponding eDiscovery phase that exercised it under enterprise load.</a:t>
            </a:r>
          </a:p>
        </p:txBody>
      </p:sp>
      <p:sp>
        <p:nvSpPr>
          <p:cNvPr id="7" name="Rounded Rectangle 6"/>
          <p:cNvSpPr/>
          <p:nvPr/>
        </p:nvSpPr>
        <p:spPr>
          <a:xfrm>
            <a:off x="640080" y="2240280"/>
            <a:ext cx="10911535" cy="42062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402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13432"/>
            <a:ext cx="548640" cy="365760"/>
          </a:xfrm>
          <a:prstGeom prst="rect">
            <a:avLst/>
          </a:prstGeom>
          <a:noFill/>
        </p:spPr>
        <p:txBody>
          <a:bodyPr wrap="square" lIns="0" rIns="0" tIns="0" bIns="0" anchor="t">
            <a:spAutoFit/>
          </a:bodyPr>
          <a:lstStyle/>
          <a:p>
            <a:pPr algn="l"/>
            <a:r>
              <a:rPr sz="1000" b="1">
                <a:solidFill>
                  <a:srgbClr val="6B7380"/>
                </a:solidFill>
                <a:latin typeface="Calibri"/>
              </a:rPr>
              <a:t>M</a:t>
            </a:r>
          </a:p>
        </p:txBody>
      </p:sp>
      <p:sp>
        <p:nvSpPr>
          <p:cNvPr id="10" name="TextBox 9"/>
          <p:cNvSpPr txBox="1"/>
          <p:nvPr/>
        </p:nvSpPr>
        <p:spPr>
          <a:xfrm>
            <a:off x="1554480" y="2313432"/>
            <a:ext cx="3200400" cy="365760"/>
          </a:xfrm>
          <a:prstGeom prst="rect">
            <a:avLst/>
          </a:prstGeom>
          <a:noFill/>
        </p:spPr>
        <p:txBody>
          <a:bodyPr wrap="square" lIns="0" rIns="0" tIns="0" bIns="0" anchor="t">
            <a:spAutoFit/>
          </a:bodyPr>
          <a:lstStyle/>
          <a:p>
            <a:pPr algn="l"/>
            <a:r>
              <a:rPr sz="1000" b="1">
                <a:solidFill>
                  <a:srgbClr val="6B7380"/>
                </a:solidFill>
                <a:latin typeface="Calibri"/>
              </a:rPr>
              <a:t>Theme</a:t>
            </a:r>
          </a:p>
        </p:txBody>
      </p:sp>
      <p:sp>
        <p:nvSpPr>
          <p:cNvPr id="11" name="TextBox 10"/>
          <p:cNvSpPr txBox="1"/>
          <p:nvPr/>
        </p:nvSpPr>
        <p:spPr>
          <a:xfrm>
            <a:off x="5029200" y="2313432"/>
            <a:ext cx="4572000" cy="365760"/>
          </a:xfrm>
          <a:prstGeom prst="rect">
            <a:avLst/>
          </a:prstGeom>
          <a:noFill/>
        </p:spPr>
        <p:txBody>
          <a:bodyPr wrap="square" lIns="0" rIns="0" tIns="0" bIns="0" anchor="t">
            <a:spAutoFit/>
          </a:bodyPr>
          <a:lstStyle/>
          <a:p>
            <a:pPr algn="l"/>
            <a:r>
              <a:rPr sz="1000" b="1">
                <a:solidFill>
                  <a:srgbClr val="6B7380"/>
                </a:solidFill>
                <a:latin typeface="Calibri"/>
              </a:rPr>
              <a:t>Ships</a:t>
            </a:r>
          </a:p>
        </p:txBody>
      </p:sp>
      <p:sp>
        <p:nvSpPr>
          <p:cNvPr id="12" name="TextBox 11"/>
          <p:cNvSpPr txBox="1"/>
          <p:nvPr/>
        </p:nvSpPr>
        <p:spPr>
          <a:xfrm>
            <a:off x="10058400" y="2313432"/>
            <a:ext cx="1280160" cy="365760"/>
          </a:xfrm>
          <a:prstGeom prst="rect">
            <a:avLst/>
          </a:prstGeom>
          <a:noFill/>
        </p:spPr>
        <p:txBody>
          <a:bodyPr wrap="square" lIns="0" rIns="0" tIns="0" bIns="0" anchor="t">
            <a:spAutoFit/>
          </a:bodyPr>
          <a:lstStyle/>
          <a:p>
            <a:pPr algn="l"/>
            <a:r>
              <a:rPr sz="1000" b="1">
                <a:solidFill>
                  <a:srgbClr val="6B7380"/>
                </a:solidFill>
                <a:latin typeface="Calibri"/>
              </a:rPr>
              <a:t>Validated by</a:t>
            </a:r>
          </a:p>
        </p:txBody>
      </p:sp>
      <p:sp>
        <p:nvSpPr>
          <p:cNvPr id="13" name="Rounded Rectangle 12"/>
          <p:cNvSpPr/>
          <p:nvPr/>
        </p:nvSpPr>
        <p:spPr>
          <a:xfrm>
            <a:off x="868680" y="2834640"/>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34640"/>
            <a:ext cx="548640" cy="548640"/>
          </a:xfrm>
          <a:prstGeom prst="rect">
            <a:avLst/>
          </a:prstGeom>
          <a:noFill/>
        </p:spPr>
        <p:txBody>
          <a:bodyPr wrap="square" lIns="0" rIns="0" tIns="0" bIns="0" anchor="ctr">
            <a:spAutoFit/>
          </a:bodyPr>
          <a:lstStyle/>
          <a:p>
            <a:pPr algn="ctr"/>
            <a:r>
              <a:rPr sz="1400" b="1">
                <a:solidFill>
                  <a:srgbClr val="FFFFFF"/>
                </a:solidFill>
                <a:latin typeface="Calibri"/>
              </a:rPr>
              <a:t>M1</a:t>
            </a:r>
          </a:p>
        </p:txBody>
      </p:sp>
      <p:sp>
        <p:nvSpPr>
          <p:cNvPr id="15" name="TextBox 14"/>
          <p:cNvSpPr txBox="1"/>
          <p:nvPr/>
        </p:nvSpPr>
        <p:spPr>
          <a:xfrm>
            <a:off x="1554480" y="2907792"/>
            <a:ext cx="3383280" cy="292608"/>
          </a:xfrm>
          <a:prstGeom prst="rect">
            <a:avLst/>
          </a:prstGeom>
          <a:noFill/>
        </p:spPr>
        <p:txBody>
          <a:bodyPr wrap="square" lIns="0" rIns="0" tIns="0" bIns="0" anchor="t">
            <a:spAutoFit/>
          </a:bodyPr>
          <a:lstStyle/>
          <a:p>
            <a:pPr algn="l"/>
            <a:r>
              <a:rPr sz="1200" b="1">
                <a:solidFill>
                  <a:srgbClr val="141821"/>
                </a:solidFill>
                <a:latin typeface="Calibri"/>
              </a:rPr>
              <a:t>AG-UI parity + ChatShell + /testing</a:t>
            </a:r>
          </a:p>
        </p:txBody>
      </p:sp>
      <p:sp>
        <p:nvSpPr>
          <p:cNvPr id="16" name="TextBox 15"/>
          <p:cNvSpPr txBox="1"/>
          <p:nvPr/>
        </p:nvSpPr>
        <p:spPr>
          <a:xfrm>
            <a:off x="1554480" y="3209544"/>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17" name="TextBox 16"/>
          <p:cNvSpPr txBox="1"/>
          <p:nvPr/>
        </p:nvSpPr>
        <p:spPr>
          <a:xfrm>
            <a:off x="5029200" y="2953512"/>
            <a:ext cx="4937760" cy="457200"/>
          </a:xfrm>
          <a:prstGeom prst="rect">
            <a:avLst/>
          </a:prstGeom>
          <a:noFill/>
        </p:spPr>
        <p:txBody>
          <a:bodyPr wrap="square" lIns="0" rIns="0" tIns="0" bIns="0" anchor="t">
            <a:spAutoFit/>
          </a:bodyPr>
          <a:lstStyle/>
          <a:p>
            <a:pPr algn="l"/>
            <a:r>
              <a:rPr sz="1100" b="0">
                <a:solidFill>
                  <a:srgbClr val="363D49"/>
                </a:solidFill>
                <a:latin typeface="Calibri"/>
              </a:rPr>
              <a:t>ToolRegistry, ComponentRegistry, BackendRegistry</a:t>
            </a:r>
          </a:p>
        </p:txBody>
      </p:sp>
      <p:sp>
        <p:nvSpPr>
          <p:cNvPr id="18" name="Rounded Rectangle 17"/>
          <p:cNvSpPr/>
          <p:nvPr/>
        </p:nvSpPr>
        <p:spPr>
          <a:xfrm>
            <a:off x="10058400" y="2953512"/>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2953512"/>
            <a:ext cx="1371600" cy="310896"/>
          </a:xfrm>
          <a:prstGeom prst="rect">
            <a:avLst/>
          </a:prstGeom>
          <a:noFill/>
        </p:spPr>
        <p:txBody>
          <a:bodyPr wrap="square" lIns="0" rIns="0" tIns="0" bIns="0" anchor="ctr">
            <a:spAutoFit/>
          </a:bodyPr>
          <a:lstStyle/>
          <a:p>
            <a:pPr algn="ctr"/>
            <a:r>
              <a:rPr sz="1000" b="1">
                <a:solidFill>
                  <a:srgbClr val="2F6F4F"/>
                </a:solidFill>
                <a:latin typeface="Calibri"/>
              </a:rPr>
              <a:t>P0–P1</a:t>
            </a:r>
          </a:p>
        </p:txBody>
      </p:sp>
      <p:sp>
        <p:nvSpPr>
          <p:cNvPr id="20" name="Rounded Rectangle 19"/>
          <p:cNvSpPr/>
          <p:nvPr/>
        </p:nvSpPr>
        <p:spPr>
          <a:xfrm>
            <a:off x="868680" y="3547872"/>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47872"/>
            <a:ext cx="548640" cy="548640"/>
          </a:xfrm>
          <a:prstGeom prst="rect">
            <a:avLst/>
          </a:prstGeom>
          <a:noFill/>
        </p:spPr>
        <p:txBody>
          <a:bodyPr wrap="square" lIns="0" rIns="0" tIns="0" bIns="0" anchor="ctr">
            <a:spAutoFit/>
          </a:bodyPr>
          <a:lstStyle/>
          <a:p>
            <a:pPr algn="ctr"/>
            <a:r>
              <a:rPr sz="1400" b="1">
                <a:solidFill>
                  <a:srgbClr val="FFFFFF"/>
                </a:solidFill>
                <a:latin typeface="Calibri"/>
              </a:rPr>
              <a:t>M2</a:t>
            </a:r>
          </a:p>
        </p:txBody>
      </p:sp>
      <p:sp>
        <p:nvSpPr>
          <p:cNvPr id="22" name="TextBox 21"/>
          <p:cNvSpPr txBox="1"/>
          <p:nvPr/>
        </p:nvSpPr>
        <p:spPr>
          <a:xfrm>
            <a:off x="1554480" y="3621024"/>
            <a:ext cx="3383280" cy="292608"/>
          </a:xfrm>
          <a:prstGeom prst="rect">
            <a:avLst/>
          </a:prstGeom>
          <a:noFill/>
        </p:spPr>
        <p:txBody>
          <a:bodyPr wrap="square" lIns="0" rIns="0" tIns="0" bIns="0" anchor="t">
            <a:spAutoFit/>
          </a:bodyPr>
          <a:lstStyle/>
          <a:p>
            <a:pPr algn="l"/>
            <a:r>
              <a:rPr sz="1200" b="1">
                <a:solidFill>
                  <a:srgbClr val="141821"/>
                </a:solidFill>
                <a:latin typeface="Calibri"/>
              </a:rPr>
              <a:t>Schematics + ng-add</a:t>
            </a:r>
          </a:p>
        </p:txBody>
      </p:sp>
      <p:sp>
        <p:nvSpPr>
          <p:cNvPr id="23" name="TextBox 22"/>
          <p:cNvSpPr txBox="1"/>
          <p:nvPr/>
        </p:nvSpPr>
        <p:spPr>
          <a:xfrm>
            <a:off x="1554480" y="3922776"/>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24" name="TextBox 23"/>
          <p:cNvSpPr txBox="1"/>
          <p:nvPr/>
        </p:nvSpPr>
        <p:spPr>
          <a:xfrm>
            <a:off x="5029200" y="3666744"/>
            <a:ext cx="4937760" cy="457200"/>
          </a:xfrm>
          <a:prstGeom prst="rect">
            <a:avLst/>
          </a:prstGeom>
          <a:noFill/>
        </p:spPr>
        <p:txBody>
          <a:bodyPr wrap="square" lIns="0" rIns="0" tIns="0" bIns="0" anchor="t">
            <a:spAutoFit/>
          </a:bodyPr>
          <a:lstStyle/>
          <a:p>
            <a:pPr algn="l"/>
            <a:r>
              <a:rPr sz="1100" b="0">
                <a:solidFill>
                  <a:srgbClr val="363D49"/>
                </a:solidFill>
                <a:latin typeface="Calibri"/>
              </a:rPr>
              <a:t>tool, widget, backend, agent-server, snapshot tests</a:t>
            </a:r>
          </a:p>
        </p:txBody>
      </p:sp>
      <p:sp>
        <p:nvSpPr>
          <p:cNvPr id="25" name="Rounded Rectangle 24"/>
          <p:cNvSpPr/>
          <p:nvPr/>
        </p:nvSpPr>
        <p:spPr>
          <a:xfrm>
            <a:off x="10058400" y="3666744"/>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3666744"/>
            <a:ext cx="1371600" cy="310896"/>
          </a:xfrm>
          <a:prstGeom prst="rect">
            <a:avLst/>
          </a:prstGeom>
          <a:noFill/>
        </p:spPr>
        <p:txBody>
          <a:bodyPr wrap="square" lIns="0" rIns="0" tIns="0" bIns="0" anchor="ctr">
            <a:spAutoFit/>
          </a:bodyPr>
          <a:lstStyle/>
          <a:p>
            <a:pPr algn="ctr"/>
            <a:r>
              <a:rPr sz="1000" b="1">
                <a:solidFill>
                  <a:srgbClr val="2F6F4F"/>
                </a:solidFill>
                <a:latin typeface="Calibri"/>
              </a:rPr>
              <a:t>—</a:t>
            </a:r>
          </a:p>
        </p:txBody>
      </p:sp>
      <p:sp>
        <p:nvSpPr>
          <p:cNvPr id="27" name="Rounded Rectangle 26"/>
          <p:cNvSpPr/>
          <p:nvPr/>
        </p:nvSpPr>
        <p:spPr>
          <a:xfrm>
            <a:off x="868680" y="4261104"/>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1104"/>
            <a:ext cx="548640" cy="548640"/>
          </a:xfrm>
          <a:prstGeom prst="rect">
            <a:avLst/>
          </a:prstGeom>
          <a:noFill/>
        </p:spPr>
        <p:txBody>
          <a:bodyPr wrap="square" lIns="0" rIns="0" tIns="0" bIns="0" anchor="ctr">
            <a:spAutoFit/>
          </a:bodyPr>
          <a:lstStyle/>
          <a:p>
            <a:pPr algn="ctr"/>
            <a:r>
              <a:rPr sz="1400" b="1">
                <a:solidFill>
                  <a:srgbClr val="FFFFFF"/>
                </a:solidFill>
                <a:latin typeface="Calibri"/>
              </a:rPr>
              <a:t>M3</a:t>
            </a:r>
          </a:p>
        </p:txBody>
      </p:sp>
      <p:sp>
        <p:nvSpPr>
          <p:cNvPr id="29" name="TextBox 28"/>
          <p:cNvSpPr txBox="1"/>
          <p:nvPr/>
        </p:nvSpPr>
        <p:spPr>
          <a:xfrm>
            <a:off x="1554480" y="4334256"/>
            <a:ext cx="3383280" cy="292608"/>
          </a:xfrm>
          <a:prstGeom prst="rect">
            <a:avLst/>
          </a:prstGeom>
          <a:noFill/>
        </p:spPr>
        <p:txBody>
          <a:bodyPr wrap="square" lIns="0" rIns="0" tIns="0" bIns="0" anchor="t">
            <a:spAutoFit/>
          </a:bodyPr>
          <a:lstStyle/>
          <a:p>
            <a:pPr algn="l"/>
            <a:r>
              <a:rPr sz="1200" b="1">
                <a:solidFill>
                  <a:srgbClr val="141821"/>
                </a:solidFill>
                <a:latin typeface="Calibri"/>
              </a:rPr>
              <a:t>MFE federation + A2UI + MCP server adapter</a:t>
            </a:r>
          </a:p>
        </p:txBody>
      </p:sp>
      <p:sp>
        <p:nvSpPr>
          <p:cNvPr id="30" name="TextBox 29"/>
          <p:cNvSpPr txBox="1"/>
          <p:nvPr/>
        </p:nvSpPr>
        <p:spPr>
          <a:xfrm>
            <a:off x="1554480" y="4636008"/>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1" name="TextBox 30"/>
          <p:cNvSpPr txBox="1"/>
          <p:nvPr/>
        </p:nvSpPr>
        <p:spPr>
          <a:xfrm>
            <a:off x="5029200" y="4379976"/>
            <a:ext cx="4937760" cy="457200"/>
          </a:xfrm>
          <a:prstGeom prst="rect">
            <a:avLst/>
          </a:prstGeom>
          <a:noFill/>
        </p:spPr>
        <p:txBody>
          <a:bodyPr wrap="square" lIns="0" rIns="0" tIns="0" bIns="0" anchor="t">
            <a:spAutoFit/>
          </a:bodyPr>
          <a:lstStyle/>
          <a:p>
            <a:pPr algn="l"/>
            <a:r>
              <a:rPr sz="1100" b="0">
                <a:solidFill>
                  <a:srgbClr val="363D49"/>
                </a:solidFill>
                <a:latin typeface="Calibri"/>
              </a:rPr>
              <a:t>CapabilityRegistry, MfeRegistry, both federation paths</a:t>
            </a:r>
          </a:p>
        </p:txBody>
      </p:sp>
      <p:sp>
        <p:nvSpPr>
          <p:cNvPr id="32" name="Rounded Rectangle 31"/>
          <p:cNvSpPr/>
          <p:nvPr/>
        </p:nvSpPr>
        <p:spPr>
          <a:xfrm>
            <a:off x="10058400" y="4379976"/>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4379976"/>
            <a:ext cx="1371600" cy="310896"/>
          </a:xfrm>
          <a:prstGeom prst="rect">
            <a:avLst/>
          </a:prstGeom>
          <a:noFill/>
        </p:spPr>
        <p:txBody>
          <a:bodyPr wrap="square" lIns="0" rIns="0" tIns="0" bIns="0" anchor="ctr">
            <a:spAutoFit/>
          </a:bodyPr>
          <a:lstStyle/>
          <a:p>
            <a:pPr algn="ctr"/>
            <a:r>
              <a:rPr sz="1000" b="1">
                <a:solidFill>
                  <a:srgbClr val="2F6F4F"/>
                </a:solidFill>
                <a:latin typeface="Calibri"/>
              </a:rPr>
              <a:t>P2, P6</a:t>
            </a:r>
          </a:p>
        </p:txBody>
      </p:sp>
      <p:sp>
        <p:nvSpPr>
          <p:cNvPr id="34" name="Rounded Rectangle 33"/>
          <p:cNvSpPr/>
          <p:nvPr/>
        </p:nvSpPr>
        <p:spPr>
          <a:xfrm>
            <a:off x="868680" y="4974336"/>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974336"/>
            <a:ext cx="548640" cy="548640"/>
          </a:xfrm>
          <a:prstGeom prst="rect">
            <a:avLst/>
          </a:prstGeom>
          <a:noFill/>
        </p:spPr>
        <p:txBody>
          <a:bodyPr wrap="square" lIns="0" rIns="0" tIns="0" bIns="0" anchor="ctr">
            <a:spAutoFit/>
          </a:bodyPr>
          <a:lstStyle/>
          <a:p>
            <a:pPr algn="ctr"/>
            <a:r>
              <a:rPr sz="1400" b="1">
                <a:solidFill>
                  <a:srgbClr val="FFFFFF"/>
                </a:solidFill>
                <a:latin typeface="Calibri"/>
              </a:rPr>
              <a:t>M4</a:t>
            </a:r>
          </a:p>
        </p:txBody>
      </p:sp>
      <p:sp>
        <p:nvSpPr>
          <p:cNvPr id="36" name="TextBox 35"/>
          <p:cNvSpPr txBox="1"/>
          <p:nvPr/>
        </p:nvSpPr>
        <p:spPr>
          <a:xfrm>
            <a:off x="1554480" y="5047488"/>
            <a:ext cx="3383280" cy="292608"/>
          </a:xfrm>
          <a:prstGeom prst="rect">
            <a:avLst/>
          </a:prstGeom>
          <a:noFill/>
        </p:spPr>
        <p:txBody>
          <a:bodyPr wrap="square" lIns="0" rIns="0" tIns="0" bIns="0" anchor="t">
            <a:spAutoFit/>
          </a:bodyPr>
          <a:lstStyle/>
          <a:p>
            <a:pPr algn="l"/>
            <a:r>
              <a:rPr sz="1200" b="1">
                <a:solidFill>
                  <a:srgbClr val="141821"/>
                </a:solidFill>
                <a:latin typeface="Calibri"/>
              </a:rPr>
              <a:t>Extended registries + Validation + DataSource</a:t>
            </a:r>
          </a:p>
        </p:txBody>
      </p:sp>
      <p:sp>
        <p:nvSpPr>
          <p:cNvPr id="37" name="TextBox 36"/>
          <p:cNvSpPr txBox="1"/>
          <p:nvPr/>
        </p:nvSpPr>
        <p:spPr>
          <a:xfrm>
            <a:off x="1554480" y="5349240"/>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8" name="TextBox 37"/>
          <p:cNvSpPr txBox="1"/>
          <p:nvPr/>
        </p:nvSpPr>
        <p:spPr>
          <a:xfrm>
            <a:off x="5029200" y="5093208"/>
            <a:ext cx="4937760" cy="457200"/>
          </a:xfrm>
          <a:prstGeom prst="rect">
            <a:avLst/>
          </a:prstGeom>
          <a:noFill/>
        </p:spPr>
        <p:txBody>
          <a:bodyPr wrap="square" lIns="0" rIns="0" tIns="0" bIns="0" anchor="t">
            <a:spAutoFit/>
          </a:bodyPr>
          <a:lstStyle/>
          <a:p>
            <a:pPr algn="l"/>
            <a:r>
              <a:rPr sz="1100" b="0">
                <a:solidFill>
                  <a:srgbClr val="363D49"/>
                </a:solidFill>
                <a:latin typeface="Calibri"/>
              </a:rPr>
              <a:t>Action, Intent, Form, Validation, DataSource</a:t>
            </a:r>
          </a:p>
        </p:txBody>
      </p:sp>
      <p:sp>
        <p:nvSpPr>
          <p:cNvPr id="39" name="Rounded Rectangle 38"/>
          <p:cNvSpPr/>
          <p:nvPr/>
        </p:nvSpPr>
        <p:spPr>
          <a:xfrm>
            <a:off x="10058400" y="5093208"/>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0" y="5093208"/>
            <a:ext cx="1371600" cy="310896"/>
          </a:xfrm>
          <a:prstGeom prst="rect">
            <a:avLst/>
          </a:prstGeom>
          <a:noFill/>
        </p:spPr>
        <p:txBody>
          <a:bodyPr wrap="square" lIns="0" rIns="0" tIns="0" bIns="0" anchor="ctr">
            <a:spAutoFit/>
          </a:bodyPr>
          <a:lstStyle/>
          <a:p>
            <a:pPr algn="ctr"/>
            <a:r>
              <a:rPr sz="1000" b="1">
                <a:solidFill>
                  <a:srgbClr val="2F6F4F"/>
                </a:solidFill>
                <a:latin typeface="Calibri"/>
              </a:rPr>
              <a:t>P2–P4</a:t>
            </a:r>
          </a:p>
        </p:txBody>
      </p:sp>
      <p:sp>
        <p:nvSpPr>
          <p:cNvPr id="41" name="Rounded Rectangle 40"/>
          <p:cNvSpPr/>
          <p:nvPr/>
        </p:nvSpPr>
        <p:spPr>
          <a:xfrm>
            <a:off x="868680" y="5687568"/>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87568"/>
            <a:ext cx="548640" cy="548640"/>
          </a:xfrm>
          <a:prstGeom prst="rect">
            <a:avLst/>
          </a:prstGeom>
          <a:noFill/>
        </p:spPr>
        <p:txBody>
          <a:bodyPr wrap="square" lIns="0" rIns="0" tIns="0" bIns="0" anchor="ctr">
            <a:spAutoFit/>
          </a:bodyPr>
          <a:lstStyle/>
          <a:p>
            <a:pPr algn="ctr"/>
            <a:r>
              <a:rPr sz="1400" b="1">
                <a:solidFill>
                  <a:srgbClr val="FFFFFF"/>
                </a:solidFill>
                <a:latin typeface="Calibri"/>
              </a:rPr>
              <a:t>M5</a:t>
            </a:r>
          </a:p>
        </p:txBody>
      </p:sp>
      <p:sp>
        <p:nvSpPr>
          <p:cNvPr id="43" name="TextBox 42"/>
          <p:cNvSpPr txBox="1"/>
          <p:nvPr/>
        </p:nvSpPr>
        <p:spPr>
          <a:xfrm>
            <a:off x="1554480" y="5760720"/>
            <a:ext cx="3383280" cy="292608"/>
          </a:xfrm>
          <a:prstGeom prst="rect">
            <a:avLst/>
          </a:prstGeom>
          <a:noFill/>
        </p:spPr>
        <p:txBody>
          <a:bodyPr wrap="square" lIns="0" rIns="0" tIns="0" bIns="0" anchor="t">
            <a:spAutoFit/>
          </a:bodyPr>
          <a:lstStyle/>
          <a:p>
            <a:pPr algn="l"/>
            <a:r>
              <a:rPr sz="1200" b="1">
                <a:solidFill>
                  <a:srgbClr val="141821"/>
                </a:solidFill>
                <a:latin typeface="Calibri"/>
              </a:rPr>
              <a:t>Compliance + scope governance</a:t>
            </a:r>
          </a:p>
        </p:txBody>
      </p:sp>
      <p:sp>
        <p:nvSpPr>
          <p:cNvPr id="44" name="TextBox 43"/>
          <p:cNvSpPr txBox="1"/>
          <p:nvPr/>
        </p:nvSpPr>
        <p:spPr>
          <a:xfrm>
            <a:off x="1554480" y="6062472"/>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45" name="TextBox 44"/>
          <p:cNvSpPr txBox="1"/>
          <p:nvPr/>
        </p:nvSpPr>
        <p:spPr>
          <a:xfrm>
            <a:off x="5029200" y="5806440"/>
            <a:ext cx="4937760" cy="457200"/>
          </a:xfrm>
          <a:prstGeom prst="rect">
            <a:avLst/>
          </a:prstGeom>
          <a:noFill/>
        </p:spPr>
        <p:txBody>
          <a:bodyPr wrap="square" lIns="0" rIns="0" tIns="0" bIns="0" anchor="t">
            <a:spAutoFit/>
          </a:bodyPr>
          <a:lstStyle/>
          <a:p>
            <a:pPr algn="l"/>
            <a:r>
              <a:rPr sz="1100" b="0">
                <a:solidFill>
                  <a:srgbClr val="363D49"/>
                </a:solidFill>
                <a:latin typeface="Calibri"/>
              </a:rPr>
              <a:t>Tamper-evident audit chain, RegistryBase.setScopePolicy</a:t>
            </a:r>
          </a:p>
        </p:txBody>
      </p:sp>
      <p:sp>
        <p:nvSpPr>
          <p:cNvPr id="46" name="Rounded Rectangle 45"/>
          <p:cNvSpPr/>
          <p:nvPr/>
        </p:nvSpPr>
        <p:spPr>
          <a:xfrm>
            <a:off x="10058400" y="5806440"/>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806440"/>
            <a:ext cx="1371600" cy="310896"/>
          </a:xfrm>
          <a:prstGeom prst="rect">
            <a:avLst/>
          </a:prstGeom>
          <a:noFill/>
        </p:spPr>
        <p:txBody>
          <a:bodyPr wrap="square" lIns="0" rIns="0" tIns="0" bIns="0" anchor="ctr">
            <a:spAutoFit/>
          </a:bodyPr>
          <a:lstStyle/>
          <a:p>
            <a:pPr algn="ctr"/>
            <a:r>
              <a:rPr sz="1000" b="1">
                <a:solidFill>
                  <a:srgbClr val="2F6F4F"/>
                </a:solidFill>
                <a:latin typeface="Calibri"/>
              </a:rPr>
              <a:t>P5, P7–P8</a:t>
            </a:r>
          </a:p>
        </p:txBody>
      </p:sp>
      <p:sp>
        <p:nvSpPr>
          <p:cNvPr id="48" name="TextBox 47"/>
          <p:cNvSpPr txBox="1"/>
          <p:nvPr/>
        </p:nvSpPr>
        <p:spPr>
          <a:xfrm>
            <a:off x="640080" y="6492240"/>
            <a:ext cx="10911535" cy="292608"/>
          </a:xfrm>
          <a:prstGeom prst="rect">
            <a:avLst/>
          </a:prstGeom>
          <a:noFill/>
        </p:spPr>
        <p:txBody>
          <a:bodyPr wrap="square" lIns="0" rIns="0" tIns="0" bIns="0" anchor="t">
            <a:spAutoFit/>
          </a:bodyPr>
          <a:lstStyle/>
          <a:p>
            <a:pPr algn="ctr"/>
            <a:r>
              <a:rPr sz="1100" b="1">
                <a:solidFill>
                  <a:srgbClr val="2F6F4F"/>
                </a:solidFill>
                <a:latin typeface="Calibri"/>
              </a:rPr>
              <a:t>All five milestones shipped. The eDiscovery flagship is the proof-shape under load.</a:t>
            </a:r>
          </a:p>
        </p:txBody>
      </p:sp>
      <p:sp>
        <p:nvSpPr>
          <p:cNvPr id="49" name="Rectangle 4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Roadmap</a:t>
            </a:r>
          </a:p>
        </p:txBody>
      </p:sp>
      <p:sp>
        <p:nvSpPr>
          <p:cNvPr id="51" name="TextBox 5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2" name="TextBox 5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C48221"/>
                </a:solidFill>
                <a:latin typeface="Calibri"/>
              </a:rPr>
              <a:t>10 · CALL TO ACTION</a:t>
            </a:r>
          </a:p>
        </p:txBody>
      </p:sp>
      <p:sp>
        <p:nvSpPr>
          <p:cNvPr id="4" name="Rectangle 3"/>
          <p:cNvSpPr/>
          <p:nvPr/>
        </p:nvSpPr>
        <p:spPr>
          <a:xfrm>
            <a:off x="640080" y="914400"/>
            <a:ext cx="91440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11535" cy="914400"/>
          </a:xfrm>
          <a:prstGeom prst="rect">
            <a:avLst/>
          </a:prstGeom>
          <a:noFill/>
        </p:spPr>
        <p:txBody>
          <a:bodyPr wrap="square" lIns="0" rIns="0" tIns="0" bIns="0" anchor="t">
            <a:spAutoFit/>
          </a:bodyPr>
          <a:lstStyle/>
          <a:p>
            <a:pPr algn="l"/>
            <a:r>
              <a:rPr sz="4200" b="1">
                <a:solidFill>
                  <a:srgbClr val="FFFFFF"/>
                </a:solidFill>
                <a:latin typeface="Calibri"/>
              </a:rPr>
              <a:t>Where you can plug in</a:t>
            </a:r>
          </a:p>
        </p:txBody>
      </p:sp>
      <p:sp>
        <p:nvSpPr>
          <p:cNvPr id="6" name="TextBox 5"/>
          <p:cNvSpPr txBox="1"/>
          <p:nvPr/>
        </p:nvSpPr>
        <p:spPr>
          <a:xfrm>
            <a:off x="640080" y="2286000"/>
            <a:ext cx="10911535" cy="457200"/>
          </a:xfrm>
          <a:prstGeom prst="rect">
            <a:avLst/>
          </a:prstGeom>
          <a:noFill/>
        </p:spPr>
        <p:txBody>
          <a:bodyPr wrap="square" lIns="0" rIns="0" tIns="0" bIns="0" anchor="t">
            <a:spAutoFit/>
          </a:bodyPr>
          <a:lstStyle/>
          <a:p>
            <a:pPr algn="l"/>
            <a:r>
              <a:rPr sz="1400" b="0">
                <a:solidFill>
                  <a:srgbClr val="CBD0D9"/>
                </a:solidFill>
                <a:latin typeface="Calibri"/>
              </a:rPr>
              <a:t>Three concrete next steps — pick the row that matches your role.</a:t>
            </a:r>
          </a:p>
        </p:txBody>
      </p:sp>
      <p:sp>
        <p:nvSpPr>
          <p:cNvPr id="7" name="Rectangle 6"/>
          <p:cNvSpPr/>
          <p:nvPr/>
        </p:nvSpPr>
        <p:spPr>
          <a:xfrm>
            <a:off x="640080" y="310896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640080" cy="365760"/>
          </a:xfrm>
          <a:prstGeom prst="rect">
            <a:avLst/>
          </a:prstGeom>
          <a:noFill/>
        </p:spPr>
        <p:txBody>
          <a:bodyPr wrap="square" lIns="0" rIns="0" tIns="0" bIns="0" anchor="t">
            <a:spAutoFit/>
          </a:bodyPr>
          <a:lstStyle/>
          <a:p>
            <a:pPr algn="l"/>
            <a:r>
              <a:rPr sz="2400" b="1">
                <a:solidFill>
                  <a:srgbClr val="C48221"/>
                </a:solidFill>
                <a:latin typeface="Calibri"/>
              </a:rPr>
              <a:t>01</a:t>
            </a:r>
          </a:p>
        </p:txBody>
      </p:sp>
      <p:sp>
        <p:nvSpPr>
          <p:cNvPr id="9" name="TextBox 8"/>
          <p:cNvSpPr txBox="1"/>
          <p:nvPr/>
        </p:nvSpPr>
        <p:spPr>
          <a:xfrm>
            <a:off x="1371600" y="3355848"/>
            <a:ext cx="2194560" cy="274320"/>
          </a:xfrm>
          <a:prstGeom prst="rect">
            <a:avLst/>
          </a:prstGeom>
          <a:noFill/>
        </p:spPr>
        <p:txBody>
          <a:bodyPr wrap="square" lIns="0" rIns="0" tIns="0" bIns="0" anchor="t">
            <a:spAutoFit/>
          </a:bodyPr>
          <a:lstStyle/>
          <a:p>
            <a:pPr algn="l"/>
            <a:r>
              <a:rPr sz="1000" b="1">
                <a:solidFill>
                  <a:srgbClr val="C48221"/>
                </a:solidFill>
                <a:latin typeface="Calibri"/>
              </a:rPr>
              <a:t>EXECUTIVES</a:t>
            </a:r>
          </a:p>
        </p:txBody>
      </p:sp>
      <p:sp>
        <p:nvSpPr>
          <p:cNvPr id="10" name="TextBox 9"/>
          <p:cNvSpPr txBox="1"/>
          <p:nvPr/>
        </p:nvSpPr>
        <p:spPr>
          <a:xfrm>
            <a:off x="3657600" y="3273552"/>
            <a:ext cx="7894015" cy="365760"/>
          </a:xfrm>
          <a:prstGeom prst="rect">
            <a:avLst/>
          </a:prstGeom>
          <a:noFill/>
        </p:spPr>
        <p:txBody>
          <a:bodyPr wrap="square" lIns="0" rIns="0" tIns="0" bIns="0" anchor="t">
            <a:spAutoFit/>
          </a:bodyPr>
          <a:lstStyle/>
          <a:p>
            <a:pPr algn="l"/>
            <a:r>
              <a:rPr sz="1500" b="1">
                <a:solidFill>
                  <a:srgbClr val="FFFFFF"/>
                </a:solidFill>
                <a:latin typeface="Calibri"/>
              </a:rPr>
              <a:t>Authorise a two-week pilot.</a:t>
            </a:r>
          </a:p>
        </p:txBody>
      </p:sp>
      <p:sp>
        <p:nvSpPr>
          <p:cNvPr id="11" name="TextBox 10"/>
          <p:cNvSpPr txBox="1"/>
          <p:nvPr/>
        </p:nvSpPr>
        <p:spPr>
          <a:xfrm>
            <a:off x="3657600" y="3657600"/>
            <a:ext cx="7894015" cy="365760"/>
          </a:xfrm>
          <a:prstGeom prst="rect">
            <a:avLst/>
          </a:prstGeom>
          <a:noFill/>
        </p:spPr>
        <p:txBody>
          <a:bodyPr wrap="square" lIns="0" rIns="0" tIns="0" bIns="0" anchor="t">
            <a:spAutoFit/>
          </a:bodyPr>
          <a:lstStyle/>
          <a:p>
            <a:pPr algn="l"/>
            <a:r>
              <a:rPr sz="1100" b="0">
                <a:solidFill>
                  <a:srgbClr val="CBD0D9"/>
                </a:solidFill>
                <a:latin typeface="Calibri"/>
              </a:rPr>
              <a:t>Agentic chat retro-fit into your most-used internal app, Apache 2.0 licensed.</a:t>
            </a:r>
          </a:p>
        </p:txBody>
      </p:sp>
      <p:sp>
        <p:nvSpPr>
          <p:cNvPr id="12" name="Rectangle 11"/>
          <p:cNvSpPr/>
          <p:nvPr/>
        </p:nvSpPr>
        <p:spPr>
          <a:xfrm>
            <a:off x="640080" y="406908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51960"/>
            <a:ext cx="640080" cy="365760"/>
          </a:xfrm>
          <a:prstGeom prst="rect">
            <a:avLst/>
          </a:prstGeom>
          <a:noFill/>
        </p:spPr>
        <p:txBody>
          <a:bodyPr wrap="square" lIns="0" rIns="0" tIns="0" bIns="0" anchor="t">
            <a:spAutoFit/>
          </a:bodyPr>
          <a:lstStyle/>
          <a:p>
            <a:pPr algn="l"/>
            <a:r>
              <a:rPr sz="2400" b="1">
                <a:solidFill>
                  <a:srgbClr val="C48221"/>
                </a:solidFill>
                <a:latin typeface="Calibri"/>
              </a:rPr>
              <a:t>02</a:t>
            </a:r>
          </a:p>
        </p:txBody>
      </p:sp>
      <p:sp>
        <p:nvSpPr>
          <p:cNvPr id="14" name="TextBox 13"/>
          <p:cNvSpPr txBox="1"/>
          <p:nvPr/>
        </p:nvSpPr>
        <p:spPr>
          <a:xfrm>
            <a:off x="1371600" y="4315968"/>
            <a:ext cx="2194560" cy="274320"/>
          </a:xfrm>
          <a:prstGeom prst="rect">
            <a:avLst/>
          </a:prstGeom>
          <a:noFill/>
        </p:spPr>
        <p:txBody>
          <a:bodyPr wrap="square" lIns="0" rIns="0" tIns="0" bIns="0" anchor="t">
            <a:spAutoFit/>
          </a:bodyPr>
          <a:lstStyle/>
          <a:p>
            <a:pPr algn="l"/>
            <a:r>
              <a:rPr sz="1000" b="1">
                <a:solidFill>
                  <a:srgbClr val="C48221"/>
                </a:solidFill>
                <a:latin typeface="Calibri"/>
              </a:rPr>
              <a:t>ARCHITECTS</a:t>
            </a:r>
          </a:p>
        </p:txBody>
      </p:sp>
      <p:sp>
        <p:nvSpPr>
          <p:cNvPr id="15" name="TextBox 14"/>
          <p:cNvSpPr txBox="1"/>
          <p:nvPr/>
        </p:nvSpPr>
        <p:spPr>
          <a:xfrm>
            <a:off x="3657600" y="4233672"/>
            <a:ext cx="7894015" cy="365760"/>
          </a:xfrm>
          <a:prstGeom prst="rect">
            <a:avLst/>
          </a:prstGeom>
          <a:noFill/>
        </p:spPr>
        <p:txBody>
          <a:bodyPr wrap="square" lIns="0" rIns="0" tIns="0" bIns="0" anchor="t">
            <a:spAutoFit/>
          </a:bodyPr>
          <a:lstStyle/>
          <a:p>
            <a:pPr algn="l"/>
            <a:r>
              <a:rPr sz="1500" b="1">
                <a:solidFill>
                  <a:srgbClr val="FFFFFF"/>
                </a:solidFill>
                <a:latin typeface="Calibri"/>
              </a:rPr>
              <a:t>Read ADR-006 (MCP) + ADR-007 (eDiscovery). Spike a remote in your repo.</a:t>
            </a:r>
          </a:p>
        </p:txBody>
      </p:sp>
      <p:sp>
        <p:nvSpPr>
          <p:cNvPr id="16" name="TextBox 15"/>
          <p:cNvSpPr txBox="1"/>
          <p:nvPr/>
        </p:nvSpPr>
        <p:spPr>
          <a:xfrm>
            <a:off x="3657600" y="4617720"/>
            <a:ext cx="7894015" cy="365760"/>
          </a:xfrm>
          <a:prstGeom prst="rect">
            <a:avLst/>
          </a:prstGeom>
          <a:noFill/>
        </p:spPr>
        <p:txBody>
          <a:bodyPr wrap="square" lIns="0" rIns="0" tIns="0" bIns="0" anchor="t">
            <a:spAutoFit/>
          </a:bodyPr>
          <a:lstStyle/>
          <a:p>
            <a:pPr algn="l"/>
            <a:r>
              <a:rPr sz="1100" b="0">
                <a:solidFill>
                  <a:srgbClr val="CBD0D9"/>
                </a:solidFill>
                <a:latin typeface="Calibri"/>
              </a:rPr>
              <a:t>Conformance suite + cookbook ship in /testing.</a:t>
            </a:r>
          </a:p>
        </p:txBody>
      </p:sp>
      <p:sp>
        <p:nvSpPr>
          <p:cNvPr id="17" name="Rectangle 16"/>
          <p:cNvSpPr/>
          <p:nvPr/>
        </p:nvSpPr>
        <p:spPr>
          <a:xfrm>
            <a:off x="640080" y="502920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12080"/>
            <a:ext cx="640080" cy="365760"/>
          </a:xfrm>
          <a:prstGeom prst="rect">
            <a:avLst/>
          </a:prstGeom>
          <a:noFill/>
        </p:spPr>
        <p:txBody>
          <a:bodyPr wrap="square" lIns="0" rIns="0" tIns="0" bIns="0" anchor="t">
            <a:spAutoFit/>
          </a:bodyPr>
          <a:lstStyle/>
          <a:p>
            <a:pPr algn="l"/>
            <a:r>
              <a:rPr sz="2400" b="1">
                <a:solidFill>
                  <a:srgbClr val="C48221"/>
                </a:solidFill>
                <a:latin typeface="Calibri"/>
              </a:rPr>
              <a:t>03</a:t>
            </a:r>
          </a:p>
        </p:txBody>
      </p:sp>
      <p:sp>
        <p:nvSpPr>
          <p:cNvPr id="19" name="TextBox 18"/>
          <p:cNvSpPr txBox="1"/>
          <p:nvPr/>
        </p:nvSpPr>
        <p:spPr>
          <a:xfrm>
            <a:off x="1371600" y="5276088"/>
            <a:ext cx="2194560" cy="274320"/>
          </a:xfrm>
          <a:prstGeom prst="rect">
            <a:avLst/>
          </a:prstGeom>
          <a:noFill/>
        </p:spPr>
        <p:txBody>
          <a:bodyPr wrap="square" lIns="0" rIns="0" tIns="0" bIns="0" anchor="t">
            <a:spAutoFit/>
          </a:bodyPr>
          <a:lstStyle/>
          <a:p>
            <a:pPr algn="l"/>
            <a:r>
              <a:rPr sz="1000" b="1">
                <a:solidFill>
                  <a:srgbClr val="C48221"/>
                </a:solidFill>
                <a:latin typeface="Calibri"/>
              </a:rPr>
              <a:t>DEVELOPERS</a:t>
            </a:r>
          </a:p>
        </p:txBody>
      </p:sp>
      <p:sp>
        <p:nvSpPr>
          <p:cNvPr id="20" name="TextBox 19"/>
          <p:cNvSpPr txBox="1"/>
          <p:nvPr/>
        </p:nvSpPr>
        <p:spPr>
          <a:xfrm>
            <a:off x="3657600" y="5193792"/>
            <a:ext cx="7894015" cy="365760"/>
          </a:xfrm>
          <a:prstGeom prst="rect">
            <a:avLst/>
          </a:prstGeom>
          <a:noFill/>
        </p:spPr>
        <p:txBody>
          <a:bodyPr wrap="square" lIns="0" rIns="0" tIns="0" bIns="0" anchor="t">
            <a:spAutoFit/>
          </a:bodyPr>
          <a:lstStyle/>
          <a:p>
            <a:pPr algn="l"/>
            <a:r>
              <a:rPr sz="1500" b="1">
                <a:solidFill>
                  <a:srgbClr val="FFFFFF"/>
                </a:solidFill>
                <a:latin typeface="Calibri"/>
              </a:rPr>
              <a:t>ng add @maverick/agentic-ui. ng g …:tool. ng serve.</a:t>
            </a:r>
          </a:p>
        </p:txBody>
      </p:sp>
      <p:sp>
        <p:nvSpPr>
          <p:cNvPr id="21" name="TextBox 20"/>
          <p:cNvSpPr txBox="1"/>
          <p:nvPr/>
        </p:nvSpPr>
        <p:spPr>
          <a:xfrm>
            <a:off x="3657600" y="5577840"/>
            <a:ext cx="7894015" cy="365760"/>
          </a:xfrm>
          <a:prstGeom prst="rect">
            <a:avLst/>
          </a:prstGeom>
          <a:noFill/>
        </p:spPr>
        <p:txBody>
          <a:bodyPr wrap="square" lIns="0" rIns="0" tIns="0" bIns="0" anchor="t">
            <a:spAutoFit/>
          </a:bodyPr>
          <a:lstStyle/>
          <a:p>
            <a:pPr algn="l"/>
            <a:r>
              <a:rPr sz="1100" b="0">
                <a:solidFill>
                  <a:srgbClr val="CBD0D9"/>
                </a:solidFill>
                <a:latin typeface="Calibri"/>
              </a:rPr>
              <a:t>30 minutes from clone to running chat — schematics scaffold the rest.</a:t>
            </a:r>
          </a:p>
        </p:txBody>
      </p:sp>
      <p:sp>
        <p:nvSpPr>
          <p:cNvPr id="22" name="Rectangle 21"/>
          <p:cNvSpPr/>
          <p:nvPr/>
        </p:nvSpPr>
        <p:spPr>
          <a:xfrm>
            <a:off x="640080" y="603504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309360"/>
            <a:ext cx="10911535" cy="274320"/>
          </a:xfrm>
          <a:prstGeom prst="rect">
            <a:avLst/>
          </a:prstGeom>
          <a:noFill/>
        </p:spPr>
        <p:txBody>
          <a:bodyPr wrap="square" lIns="0" rIns="0" tIns="0" bIns="0" anchor="t">
            <a:spAutoFit/>
          </a:bodyPr>
          <a:lstStyle/>
          <a:p>
            <a:pPr algn="ctr"/>
            <a:r>
              <a:rPr sz="1000" b="0">
                <a:solidFill>
                  <a:srgbClr val="8C96A8"/>
                </a:solidFill>
                <a:latin typeface="Calibri"/>
              </a:rPr>
              <a:t>Repository · examples · cookbook · ADRs included     Questions? Reach the team.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RESOURCES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Where to go from here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029200" cy="365760"/>
          </a:xfrm>
          <a:prstGeom prst="rect">
            <a:avLst/>
          </a:prstGeom>
          <a:noFill/>
        </p:spPr>
        <p:txBody>
          <a:bodyPr wrap="square" lIns="0" rIns="0" tIns="0" bIns="0" anchor="t">
            <a:spAutoFit/>
          </a:bodyPr>
          <a:lstStyle/>
          <a:p>
            <a:pPr algn="l"/>
            <a:r>
              <a:rPr sz="1400" b="1">
                <a:solidFill>
                  <a:srgbClr val="12243D"/>
                </a:solidFill>
                <a:latin typeface="Calibri"/>
              </a:rPr>
              <a:t>Repository layout</a:t>
            </a:r>
          </a:p>
        </p:txBody>
      </p:sp>
      <p:sp>
        <p:nvSpPr>
          <p:cNvPr id="6" name="Rectangle 5"/>
          <p:cNvSpPr/>
          <p:nvPr/>
        </p:nvSpPr>
        <p:spPr>
          <a:xfrm>
            <a:off x="640080" y="1965960"/>
            <a:ext cx="5212080" cy="4206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57400"/>
            <a:ext cx="4937760" cy="4023360"/>
          </a:xfrm>
          <a:prstGeom prst="rect">
            <a:avLst/>
          </a:prstGeom>
          <a:noFill/>
        </p:spPr>
        <p:txBody>
          <a:bodyPr wrap="square" lIns="0" rIns="0" tIns="0" bIns="0">
            <a:spAutoFit/>
          </a:bodyPr>
          <a:lstStyle/>
          <a:p>
            <a:pPr>
              <a:spcAft>
                <a:spcPts val="0"/>
              </a:spcAft>
            </a:pPr>
            <a:r>
              <a:rPr sz="1100">
                <a:solidFill>
                  <a:srgbClr val="E2E8F0"/>
                </a:solidFill>
                <a:latin typeface="Menlo"/>
              </a:rPr>
              <a:t>ag_ui_maverick/</a:t>
            </a:r>
          </a:p>
          <a:p>
            <a:pPr>
              <a:spcAft>
                <a:spcPts val="0"/>
              </a:spcAft>
            </a:pPr>
            <a:r>
              <a:rPr sz="1100">
                <a:solidFill>
                  <a:srgbClr val="E2E8F0"/>
                </a:solidFill>
                <a:latin typeface="Menlo"/>
              </a:rPr>
              <a:t>├── projects/</a:t>
            </a:r>
          </a:p>
          <a:p>
            <a:pPr>
              <a:spcAft>
                <a:spcPts val="0"/>
              </a:spcAft>
            </a:pPr>
            <a:r>
              <a:rPr sz="1100">
                <a:solidFill>
                  <a:srgbClr val="E2E8F0"/>
                </a:solidFill>
                <a:latin typeface="Menlo"/>
              </a:rPr>
              <a:t>│   ├── agentic-ui/         # publishable lib</a:t>
            </a:r>
          </a:p>
          <a:p>
            <a:pPr>
              <a:spcAft>
                <a:spcPts val="0"/>
              </a:spcAft>
            </a:pPr>
            <a:r>
              <a:rPr sz="1100">
                <a:solidFill>
                  <a:srgbClr val="E2E8F0"/>
                </a:solidFill>
                <a:latin typeface="Menlo"/>
              </a:rPr>
              <a:t>│   ├── agentic-ui-server/  # Node companion</a:t>
            </a:r>
          </a:p>
          <a:p>
            <a:pPr>
              <a:spcAft>
                <a:spcPts val="0"/>
              </a:spcAft>
            </a:pPr>
            <a:r>
              <a:rPr sz="1100">
                <a:solidFill>
                  <a:srgbClr val="E2E8F0"/>
                </a:solidFill>
                <a:latin typeface="Menlo"/>
              </a:rPr>
              <a:t>│   └── agentic-ui-mcp/     # MCP adapter</a:t>
            </a:r>
          </a:p>
          <a:p>
            <a:pPr>
              <a:spcAft>
                <a:spcPts val="0"/>
              </a:spcAft>
            </a:pPr>
            <a:r>
              <a:rPr sz="1100">
                <a:solidFill>
                  <a:srgbClr val="E2E8F0"/>
                </a:solidFill>
                <a:latin typeface="Menlo"/>
              </a:rPr>
              <a:t>├── examples/</a:t>
            </a:r>
          </a:p>
          <a:p>
            <a:pPr>
              <a:spcAft>
                <a:spcPts val="0"/>
              </a:spcAft>
            </a:pPr>
            <a:r>
              <a:rPr sz="1100">
                <a:solidFill>
                  <a:srgbClr val="E2E8F0"/>
                </a:solidFill>
                <a:latin typeface="Menlo"/>
              </a:rPr>
              <a:t>│   ├── demo-monolith/</a:t>
            </a:r>
          </a:p>
          <a:p>
            <a:pPr>
              <a:spcAft>
                <a:spcPts val="0"/>
              </a:spcAft>
            </a:pPr>
            <a:r>
              <a:rPr sz="1100">
                <a:solidFill>
                  <a:srgbClr val="E2E8F0"/>
                </a:solidFill>
                <a:latin typeface="Menlo"/>
              </a:rPr>
              <a:t>│   ├── demo-shell/  (host)</a:t>
            </a:r>
          </a:p>
          <a:p>
            <a:pPr>
              <a:spcAft>
                <a:spcPts val="0"/>
              </a:spcAft>
            </a:pPr>
            <a:r>
              <a:rPr sz="1100">
                <a:solidFill>
                  <a:srgbClr val="E2E8F0"/>
                </a:solidFill>
                <a:latin typeface="Menlo"/>
              </a:rPr>
              <a:t>│   ├── demo-remote-bookings/</a:t>
            </a:r>
          </a:p>
          <a:p>
            <a:pPr>
              <a:spcAft>
                <a:spcPts val="0"/>
              </a:spcAft>
            </a:pPr>
            <a:r>
              <a:rPr sz="1100">
                <a:solidFill>
                  <a:srgbClr val="E2E8F0"/>
                </a:solidFill>
                <a:latin typeface="Menlo"/>
              </a:rPr>
              <a:t>│   ├── demo-multi-agent/</a:t>
            </a:r>
          </a:p>
          <a:p>
            <a:pPr>
              <a:spcAft>
                <a:spcPts val="0"/>
              </a:spcAft>
            </a:pPr>
            <a:r>
              <a:rPr sz="1100">
                <a:solidFill>
                  <a:srgbClr val="E2E8F0"/>
                </a:solidFill>
                <a:latin typeface="Menlo"/>
              </a:rPr>
              <a:t>│   ├── demo-mcp-server/</a:t>
            </a:r>
          </a:p>
          <a:p>
            <a:pPr>
              <a:spcAft>
                <a:spcPts val="0"/>
              </a:spcAft>
            </a:pPr>
            <a:r>
              <a:rPr sz="1100">
                <a:solidFill>
                  <a:srgbClr val="E2E8F0"/>
                </a:solidFill>
                <a:latin typeface="Menlo"/>
              </a:rPr>
              <a:t>│   └── demo-ediscovery-{shared,server,shell,review}/</a:t>
            </a:r>
          </a:p>
          <a:p>
            <a:pPr>
              <a:spcAft>
                <a:spcPts val="0"/>
              </a:spcAft>
            </a:pPr>
            <a:r>
              <a:rPr sz="1100">
                <a:solidFill>
                  <a:srgbClr val="E2E8F0"/>
                </a:solidFill>
                <a:latin typeface="Menlo"/>
              </a:rPr>
              <a:t>├── docs/</a:t>
            </a:r>
          </a:p>
          <a:p>
            <a:pPr>
              <a:spcAft>
                <a:spcPts val="0"/>
              </a:spcAft>
            </a:pPr>
            <a:r>
              <a:rPr sz="1100">
                <a:solidFill>
                  <a:srgbClr val="E2E8F0"/>
                </a:solidFill>
                <a:latin typeface="Menlo"/>
              </a:rPr>
              <a:t>│   ├── adr/                # decision records</a:t>
            </a:r>
          </a:p>
          <a:p>
            <a:pPr>
              <a:spcAft>
                <a:spcPts val="0"/>
              </a:spcAft>
            </a:pPr>
            <a:r>
              <a:rPr sz="1100">
                <a:solidFill>
                  <a:srgbClr val="E2E8F0"/>
                </a:solidFill>
                <a:latin typeface="Menlo"/>
              </a:rPr>
              <a:t>│   ├── cookbook/           # how-to guides</a:t>
            </a:r>
          </a:p>
          <a:p>
            <a:pPr>
              <a:spcAft>
                <a:spcPts val="0"/>
              </a:spcAft>
            </a:pPr>
            <a:r>
              <a:rPr sz="1100">
                <a:solidFill>
                  <a:srgbClr val="E2E8F0"/>
                </a:solidFill>
                <a:latin typeface="Menlo"/>
              </a:rPr>
              <a:t>│   └── architecture/       # system docs</a:t>
            </a:r>
          </a:p>
          <a:p>
            <a:pPr>
              <a:spcAft>
                <a:spcPts val="0"/>
              </a:spcAft>
            </a:pPr>
            <a:r>
              <a:rPr sz="1100">
                <a:solidFill>
                  <a:srgbClr val="E2E8F0"/>
                </a:solidFill>
                <a:latin typeface="Menlo"/>
              </a:rPr>
              <a:t>└── PLAN.md                 # full roadmap</a:t>
            </a:r>
          </a:p>
        </p:txBody>
      </p:sp>
      <p:sp>
        <p:nvSpPr>
          <p:cNvPr id="8" name="TextBox 7"/>
          <p:cNvSpPr txBox="1"/>
          <p:nvPr/>
        </p:nvSpPr>
        <p:spPr>
          <a:xfrm>
            <a:off x="6126480" y="1554480"/>
            <a:ext cx="5486400" cy="365760"/>
          </a:xfrm>
          <a:prstGeom prst="rect">
            <a:avLst/>
          </a:prstGeom>
          <a:noFill/>
        </p:spPr>
        <p:txBody>
          <a:bodyPr wrap="square" lIns="0" rIns="0" tIns="0" bIns="0" anchor="t">
            <a:spAutoFit/>
          </a:bodyPr>
          <a:lstStyle/>
          <a:p>
            <a:pPr algn="l"/>
            <a:r>
              <a:rPr sz="1400" b="1">
                <a:solidFill>
                  <a:srgbClr val="12243D"/>
                </a:solidFill>
                <a:latin typeface="Calibri"/>
              </a:rPr>
              <a:t>Recommended reading order</a:t>
            </a:r>
          </a:p>
        </p:txBody>
      </p:sp>
      <p:sp>
        <p:nvSpPr>
          <p:cNvPr id="9" name="TextBox 8"/>
          <p:cNvSpPr txBox="1"/>
          <p:nvPr/>
        </p:nvSpPr>
        <p:spPr>
          <a:xfrm>
            <a:off x="6126480" y="1965960"/>
            <a:ext cx="5486400" cy="4206240"/>
          </a:xfrm>
          <a:prstGeom prst="rect">
            <a:avLst/>
          </a:prstGeom>
          <a:noFill/>
        </p:spPr>
        <p:txBody>
          <a:bodyPr wrap="square" lIns="0" rIns="0" tIns="0" bIns="0">
            <a:spAutoFit/>
          </a:bodyPr>
          <a:lstStyle/>
          <a:p>
            <a:pPr>
              <a:spcAft>
                <a:spcPts val="800"/>
              </a:spcAft>
            </a:pPr>
            <a:r>
              <a:rPr sz="1200" b="1">
                <a:solidFill>
                  <a:srgbClr val="1E3A5F"/>
                </a:solidFill>
                <a:latin typeface="Calibri"/>
              </a:rPr>
              <a:t>•  </a:t>
            </a:r>
            <a:r>
              <a:rPr sz="1200" b="1">
                <a:solidFill>
                  <a:srgbClr val="141821"/>
                </a:solidFill>
                <a:latin typeface="Calibri"/>
              </a:rPr>
              <a:t>README.md </a:t>
            </a:r>
            <a:r>
              <a:rPr sz="1200">
                <a:solidFill>
                  <a:srgbClr val="141821"/>
                </a:solidFill>
                <a:latin typeface="Calibri"/>
              </a:rPr>
              <a:t>5-minute orientation</a:t>
            </a:r>
          </a:p>
          <a:p>
            <a:pPr>
              <a:spcAft>
                <a:spcPts val="800"/>
              </a:spcAft>
            </a:pPr>
            <a:r>
              <a:rPr sz="1200" b="1">
                <a:solidFill>
                  <a:srgbClr val="1E3A5F"/>
                </a:solidFill>
                <a:latin typeface="Calibri"/>
              </a:rPr>
              <a:t>•  </a:t>
            </a:r>
            <a:r>
              <a:rPr sz="1200" b="1">
                <a:solidFill>
                  <a:srgbClr val="141821"/>
                </a:solidFill>
                <a:latin typeface="Calibri"/>
              </a:rPr>
              <a:t>PLAN.md </a:t>
            </a:r>
            <a:r>
              <a:rPr sz="1200">
                <a:solidFill>
                  <a:srgbClr val="141821"/>
                </a:solidFill>
                <a:latin typeface="Calibri"/>
              </a:rPr>
              <a:t>Full architecture + 5-tier registry model</a:t>
            </a:r>
          </a:p>
          <a:p>
            <a:pPr>
              <a:spcAft>
                <a:spcPts val="800"/>
              </a:spcAft>
            </a:pPr>
            <a:r>
              <a:rPr sz="1200" b="1">
                <a:solidFill>
                  <a:srgbClr val="1E3A5F"/>
                </a:solidFill>
                <a:latin typeface="Calibri"/>
              </a:rPr>
              <a:t>•  </a:t>
            </a:r>
            <a:r>
              <a:rPr sz="1200" b="1">
                <a:solidFill>
                  <a:srgbClr val="141821"/>
                </a:solidFill>
                <a:latin typeface="Calibri"/>
              </a:rPr>
              <a:t>ADR-006 </a:t>
            </a:r>
            <a:r>
              <a:rPr sz="1200">
                <a:solidFill>
                  <a:srgbClr val="141821"/>
                </a:solidFill>
                <a:latin typeface="Calibri"/>
              </a:rPr>
              <a:t>MCP server-side adapter design</a:t>
            </a:r>
          </a:p>
          <a:p>
            <a:pPr>
              <a:spcAft>
                <a:spcPts val="800"/>
              </a:spcAft>
            </a:pPr>
            <a:r>
              <a:rPr sz="1200" b="1">
                <a:solidFill>
                  <a:srgbClr val="1E3A5F"/>
                </a:solidFill>
                <a:latin typeface="Calibri"/>
              </a:rPr>
              <a:t>•  </a:t>
            </a:r>
            <a:r>
              <a:rPr sz="1200" b="1">
                <a:solidFill>
                  <a:srgbClr val="141821"/>
                </a:solidFill>
                <a:latin typeface="Calibri"/>
              </a:rPr>
              <a:t>docs/cookbook/ </a:t>
            </a:r>
            <a:r>
              <a:rPr sz="1200">
                <a:solidFill>
                  <a:srgbClr val="141821"/>
                </a:solidFill>
                <a:latin typeface="Calibri"/>
              </a:rPr>
              <a:t>How-to guides for federation, MCP, OTel</a:t>
            </a:r>
          </a:p>
          <a:p>
            <a:pPr>
              <a:spcAft>
                <a:spcPts val="800"/>
              </a:spcAft>
            </a:pPr>
            <a:r>
              <a:rPr sz="1200" b="1">
                <a:solidFill>
                  <a:srgbClr val="1E3A5F"/>
                </a:solidFill>
                <a:latin typeface="Calibri"/>
              </a:rPr>
              <a:t>•  </a:t>
            </a:r>
            <a:r>
              <a:rPr sz="1200" b="1">
                <a:solidFill>
                  <a:srgbClr val="141821"/>
                </a:solidFill>
                <a:latin typeface="Calibri"/>
              </a:rPr>
              <a:t>examples/demo-feature-tour </a:t>
            </a:r>
            <a:r>
              <a:rPr sz="1200">
                <a:solidFill>
                  <a:srgbClr val="141821"/>
                </a:solidFill>
                <a:latin typeface="Calibri"/>
              </a:rPr>
              <a:t>All 13 registries in one app</a:t>
            </a:r>
          </a:p>
          <a:p>
            <a:pPr>
              <a:spcAft>
                <a:spcPts val="800"/>
              </a:spcAft>
            </a:pPr>
            <a:r>
              <a:rPr sz="1200" b="1">
                <a:solidFill>
                  <a:srgbClr val="1E3A5F"/>
                </a:solidFill>
                <a:latin typeface="Calibri"/>
              </a:rPr>
              <a:t>•  </a:t>
            </a:r>
            <a:r>
              <a:rPr sz="1200" b="1">
                <a:solidFill>
                  <a:srgbClr val="141821"/>
                </a:solidFill>
                <a:latin typeface="Calibri"/>
              </a:rPr>
              <a:t>examples/demo-ediscovery </a:t>
            </a:r>
            <a:r>
              <a:rPr sz="1200">
                <a:solidFill>
                  <a:srgbClr val="141821"/>
                </a:solidFill>
                <a:latin typeface="Calibri"/>
              </a:rPr>
              <a:t>Enterprise reference</a:t>
            </a:r>
          </a:p>
          <a:p>
            <a:pPr>
              <a:spcAft>
                <a:spcPts val="800"/>
              </a:spcAft>
            </a:pPr>
            <a:r>
              <a:rPr sz="1200" b="1">
                <a:solidFill>
                  <a:srgbClr val="1E3A5F"/>
                </a:solidFill>
                <a:latin typeface="Calibri"/>
              </a:rPr>
              <a:t>•  </a:t>
            </a:r>
            <a:r>
              <a:rPr sz="1200" b="1">
                <a:solidFill>
                  <a:srgbClr val="141821"/>
                </a:solidFill>
                <a:latin typeface="Calibri"/>
              </a:rPr>
              <a:t>@maverick/agentic-ui/testing </a:t>
            </a:r>
            <a:r>
              <a:rPr sz="1200">
                <a:solidFill>
                  <a:srgbClr val="141821"/>
                </a:solidFill>
                <a:latin typeface="Calibri"/>
              </a:rPr>
              <a:t>Conformance suite + harness</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Resources</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