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Restrained on purpose — strategy/consulting deck convention.</a:t>
            </a:r>
          </a:p>
          <a:p>
            <a:r>
              <a:t>30-minute path: cover, 1, 2, 3, 6, 11, 13, 16, 17, 19, 21, 22, 23, 25, 26-28, 29.</a:t>
            </a:r>
          </a:p>
          <a:p>
            <a:r>
              <a:t>60-minute path: include the AG-UI / Hashbrown deep dives and the registry 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Agenda. Pace this for 30 or 60 minutes — sub-deck markers in speaker notes for each track.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exec framing. Yesterday was wrappers around an LLM. Today's protocols (AG-UI/Hashbrown/A2UI) make the agent + UI a real surface.</a:t>
            </a:r>
          </a:p>
          <a:p>
            <a:r>
              <a:t>Tomorrow: the UI itself becomes plugin data. We are building for the third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matters now: protocols + tool-calling + MCP + generative UI all matured in a 12-month window.</a:t>
            </a:r>
          </a:p>
          <a:p>
            <a:r>
              <a:t>Buying or building? The protocols change every quarter. A library that abstracts them is the right unit of investment.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AG-UI: most mature, best for server-driven flows where the agent emits streamed text + tool calls + widgets.</a:t>
            </a:r>
          </a:p>
          <a:p>
            <a:r>
              <a:t>Hashbrown: lighter weight, faster to prototype, multi-provider out of the box.</a:t>
            </a:r>
          </a:p>
          <a:p>
            <a:r>
              <a:t>A2UI: distinguishing feature is the ui-action class — the agent can navigate, fill forms, mutate stores. Spec still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AG-UI is the one most enterprise teams pick today. The reason: it cleanly maps lifecycle, text, and tool calls to discrete events — easy to log, easy to audit.</a:t>
            </a:r>
          </a:p>
          <a:p>
            <a:r>
              <a:t>Origin: CopilotKit. Anglo/architects.io article is the canonical 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Real-shape timeline — every event a stable record. This is what makes AG-UI audit-friendly.</a:t>
            </a:r>
          </a:p>
          <a:p>
            <a:r>
              <a:t>Note widget_render is synthesised from show-component tool-call result; it doesn't exist on the wire.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to pick AG-UI: regulated industries, audit-grade trails, server-side tool catalogs.</a:t>
            </a:r>
          </a:p>
          <a:p>
            <a:r>
              <a:t>When NOT: lightweight prototypes, mostly-client-rendered UIs with little server orchestration — Hashbrown is faster to spin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Hashbrown's pitch: thinner protocol, faster start, multi-provider built in.</a:t>
            </a:r>
          </a:p>
          <a:p>
            <a:r>
              <a:t>Trade-off: the lifecycle isn't as crisp, so audit-grade logging needs extra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provider-mux — for an org doing LLM evaluation, Hashbrown lets you swap providers without rewiring the chat shell.</a:t>
            </a:r>
          </a:p>
          <a:p>
            <a:r>
              <a:t>Highlight schema-anchor — Zod schemas are the contract; same library + skill in our schematics.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 matrix to share with architects. Not a verdict — a guide.</a:t>
            </a:r>
          </a:p>
          <a:p>
            <a:r>
              <a:t>Most enterprises pick AG-UI for production; Hashbrown for prototyping.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A2UI is younger; specification still evolving. We reserve ui-action in our event union from M1 so the chat shell never breaks when the spec moves.</a:t>
            </a:r>
          </a:p>
          <a:p>
            <a:r>
              <a:t>Same pattern — clickable widgets in our eDiscovery demo dispatch openCustodian/openDocument/openHold actions through ActionRegistry.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for execs: building from scratch is a 6+ month investment. The library is a 2-week pilot.</a:t>
            </a:r>
          </a:p>
          <a:p>
            <a:r>
              <a:t>Production-grade, MIT-licensed, MIT-friendly. No vendor lock-in to a paid SaaS.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Topology view. The host browser is the centre — registries are the only shared state.</a:t>
            </a:r>
          </a:p>
          <a:p>
            <a:r>
              <a:t>Federation runtime feeds remotes' capabilities INTO the registry layer; backend adapters ship runs OUT to the agent server / MCP.</a:t>
            </a:r>
          </a:p>
          <a:p>
            <a:r>
              <a:t>Telemetry crosscuts every layer; the OTel exporter ships in /otel and is opt-in.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Hub-and-spoke shows the architectural unity — the base class is the hub, every registry is a spoke with the same shape.</a:t>
            </a:r>
          </a:p>
          <a:p>
            <a:r>
              <a:t>Tier 1 is required for any agentic UI; tiers 2 and 3 are opt-in.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diagram for federation handoff. Five actors, eight messages.</a:t>
            </a:r>
          </a:p>
          <a:p>
            <a:r>
              <a:t>Note the last message — ToolRegistry's signal notifies the chat shell on the next turn, mid-session, with no reload.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architectural payoff. Three surfaces from one handler — that's why ToolDef is framework-agnostic data.</a:t>
            </a:r>
          </a:p>
          <a:p>
            <a:r>
              <a:t>Demo the eDiscovery review tool: same code path, three viewers see the same custodian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engineers. The chat shell is protocol-agnostic; only the backend adapter knows the wire format.</a:t>
            </a:r>
          </a:p>
          <a:p>
            <a:r>
              <a:t>Adding a new protocol is implementing this one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federation paths are first-class — neither is a side branch.</a:t>
            </a:r>
          </a:p>
          <a:p>
            <a:r>
              <a:t>Switch via `ng add @maverick/agentic-ui --federation=native` vs `--federation=module-federation`.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Big win for regulated industries — MCP brings agentic UI into Claude Desktop where many analysts already live.</a:t>
            </a:r>
          </a:p>
          <a:p>
            <a:r>
              <a:t>Demonstrate by walking through demo-mcp-server then opening Claude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Default sink is no-op; consumer opts in to OTel via @maverick/agentic-ui/otel.</a:t>
            </a:r>
          </a:p>
          <a:p>
            <a:r>
              <a:t>Bundle impact: zero unless they import the otel entry — measured in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developers — the schematics are the value-multiplier.</a:t>
            </a:r>
          </a:p>
          <a:p>
            <a:r>
              <a:t>ng add takes a fresh Angular app to running chat in &lt;2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demos. Pick one for each audience.</a:t>
            </a:r>
          </a:p>
          <a:p>
            <a:r>
              <a:t>demo-ediscovery is the headline — full enterprise pattern with federation + audit + multi-persona.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eDiscovery reference is the headline asset.</a:t>
            </a:r>
          </a:p>
          <a:p>
            <a:r>
              <a:t>Open with the four stat cards — those are the talking points executives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for the eDiscovery case study — shows the chained-tool-call pattern with widget feedback at every step.</a:t>
            </a:r>
          </a:p>
          <a:p>
            <a:r>
              <a:t>Six seams in one workflow. That's why we needed registries — each seam is independently extensible.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try to pick one protocol. Pick by use case — the library lets you mix.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 talk track. Six bullets, nothing technical — focus on derisking and time-to-value.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 framing. Highlight that every risk in §11 of the plan has a documented detection signal + contingency.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 framing. Show the schematics demo at the end — typically the moment that lands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architects evaluating maturity. M1-M3 shipped; M4-M5 in flight.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Three asks, one per audience.</a:t>
            </a:r>
          </a:p>
          <a:p>
            <a:r>
              <a:t>Tone matches the deck — restrained, navy, no decoration.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slide. Hand-off to the audience — every box on the left has its own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MAVERICK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76895" y="548640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AGENTIC UI · OVERVIEW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0911535" cy="16459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141821"/>
                </a:solidFill>
                <a:latin typeface="Calibri"/>
              </a:rPr>
              <a:t>Agentic UI for Angular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>
                <a:solidFill>
                  <a:srgbClr val="1E3A5F"/>
                </a:solidFill>
                <a:latin typeface="Calibri"/>
              </a:rPr>
              <a:t>AG-UI · Hashbrown · A2UI ·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One library. Three protocols. Microfrontend-native.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577840"/>
            <a:ext cx="10911535" cy="16459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380"/>
                </a:solidFill>
                <a:latin typeface="Calibri"/>
              </a:rPr>
              <a:t>PREPARED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41821"/>
                </a:solidFill>
                <a:latin typeface="Calibri"/>
              </a:rPr>
              <a:t>Senior executives  ·  Solution architects  ·  Developers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0936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2AAB6"/>
                </a:solidFill>
                <a:latin typeface="Calibri"/>
              </a:rPr>
              <a:t>Q2 2026 release  ·  v1.0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What you'll leave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The shift. </a:t>
            </a:r>
            <a:r>
              <a:rPr sz="1600">
                <a:solidFill>
                  <a:srgbClr val="141821"/>
                </a:solidFill>
                <a:latin typeface="Calibri"/>
              </a:rPr>
              <a:t>Why agentic UIs are the next interface paradigm — and the protocol problem nobody owns.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Three protocols. </a:t>
            </a:r>
            <a:r>
              <a:rPr sz="1600">
                <a:solidFill>
                  <a:srgbClr val="141821"/>
                </a:solidFill>
                <a:latin typeface="Calibri"/>
              </a:rPr>
              <a:t>AG-UI, Hashbrown, A2UI — origin, model, fit, gaps.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One library. </a:t>
            </a:r>
            <a:r>
              <a:rPr sz="1600">
                <a:solidFill>
                  <a:srgbClr val="141821"/>
                </a:solidFill>
                <a:latin typeface="Calibri"/>
              </a:rPr>
              <a:t>@maverick/agentic-ui — 13 registries, MFE-native, MCP-ready, telemetry-instrumented.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Working examples. </a:t>
            </a:r>
            <a:r>
              <a:rPr sz="1600">
                <a:solidFill>
                  <a:srgbClr val="141821"/>
                </a:solidFill>
                <a:latin typeface="Calibri"/>
              </a:rPr>
              <a:t>demo-monolith, demo-shell + remotes, demo-multi-agent, demo-ediscovery — all in this repo.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Decision frameworks. </a:t>
            </a:r>
            <a:r>
              <a:rPr sz="1600">
                <a:solidFill>
                  <a:srgbClr val="141821"/>
                </a:solidFill>
                <a:latin typeface="Calibri"/>
              </a:rPr>
              <a:t>Protocol matrix, when-to-use guide, persona-by-persona benefit map.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E3A5F"/>
                </a:solidFill>
                <a:latin typeface="Calibri"/>
              </a:rPr>
              <a:t>•  </a:t>
            </a:r>
            <a:r>
              <a:rPr sz="1600" b="1">
                <a:solidFill>
                  <a:srgbClr val="141821"/>
                </a:solidFill>
                <a:latin typeface="Calibri"/>
              </a:rPr>
              <a:t>Roadmap &amp; CTA. </a:t>
            </a:r>
            <a:r>
              <a:rPr sz="1600">
                <a:solidFill>
                  <a:srgbClr val="141821"/>
                </a:solidFill>
                <a:latin typeface="Calibri"/>
              </a:rPr>
              <a:t>Where it's going through v1.0 — and where you can plug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From chatbots to agentic UIs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3515258" cy="54864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6B7380"/>
                </a:solidFill>
                <a:latin typeface="Calibri"/>
              </a:rPr>
              <a:t>Yesterday — chatbots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Text-only conversation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Apps wired to LLMs as a fancy autocomplete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Hand-coded handlers per use case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B7380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No structured affordances — every flow re-debated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8218" y="1554480"/>
            <a:ext cx="3515258" cy="54864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6818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2243D"/>
                </a:solidFill>
                <a:latin typeface="Calibri"/>
              </a:rPr>
              <a:t>Today — agentic UIs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Tool-call protocols (AG-UI / Hashbrown / A2UI)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Generative UI: LLM emits widgets, host renders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Multi-agent orchestration with sticky routing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MCP server for analyst workstations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36356" y="1554480"/>
            <a:ext cx="3515258" cy="54864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4956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6F4F"/>
                </a:solidFill>
                <a:latin typeface="Calibri"/>
              </a:rPr>
              <a:t>Tomorrow — agent-native apps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UI itself is plug-in registry data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Federated remotes contribute capabilities mid-session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Audit-grade observability across LLM ↔ tool ↔ 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Persona-scoped governance baked 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Why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LLM-native tool calling matured. </a:t>
            </a:r>
            <a:r>
              <a:rPr sz="1400">
                <a:solidFill>
                  <a:srgbClr val="141821"/>
                </a:solidFill>
                <a:latin typeface="Calibri"/>
              </a:rPr>
              <a:t>OpenAI, Anthropic, Google, Mistral all ship structured tool calls. Quality and latency now meet enterprise bars.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Three competing protocols emerged. </a:t>
            </a:r>
            <a:r>
              <a:rPr sz="1400">
                <a:solidFill>
                  <a:srgbClr val="141821"/>
                </a:solidFill>
                <a:latin typeface="Calibri"/>
              </a:rPr>
              <a:t>AG-UI from CopilotKit, Hashbrown from Liquid Frontiers, A2UI from a multi-vendor consortium. Each is the leader in a slice.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MCP standardised the server side. </a:t>
            </a:r>
            <a:r>
              <a:rPr sz="1400">
                <a:solidFill>
                  <a:srgbClr val="141821"/>
                </a:solidFill>
                <a:latin typeface="Calibri"/>
              </a:rPr>
              <a:t>Anthropic's Model Context Protocol made tool definitions portable across analyst workstations (Claude Desktop, Cursor, Zed).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Generative UI moved past PoC. </a:t>
            </a:r>
            <a:r>
              <a:rPr sz="1400">
                <a:solidFill>
                  <a:srgbClr val="141821"/>
                </a:solidFill>
                <a:latin typeface="Calibri"/>
              </a:rPr>
              <a:t>LLMs reliably emit JSON specifying widget + props; Angular signals + dynamic component loader make rendering trivial.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Regulated industries are catching up. </a:t>
            </a:r>
            <a:r>
              <a:rPr sz="1400">
                <a:solidFill>
                  <a:srgbClr val="141821"/>
                </a:solidFill>
                <a:latin typeface="Calibri"/>
              </a:rPr>
              <a:t>Legal, healthcare, finance — all need defensible audit trails. The agentic UI substrate has to ship them by default.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Three protocols, one library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3566160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AG-UI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By CopilotKit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Streaming via SSE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Lifecycle + tool-call events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Generative UI via show-component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Mature client implementation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Best for: server-driven agent flows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645920"/>
            <a:ext cx="3566160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Hashbrown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Calibri"/>
              </a:rPr>
              <a:t>By Liquid Frontiers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UI-generation streams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Widget + props natively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Multi-provider (OpenAI, Google)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Lighter than AG-UI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Best for: rapid generative-UI demos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164592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A2UI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Calibri"/>
              </a:rPr>
              <a:t>By Multi-vendor consortium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ui-action event class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Agent drives the whole 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Action-driven (not just tool-driven)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Spec still evolving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141821"/>
                </a:solidFill>
                <a:latin typeface="Calibri"/>
              </a:rPr>
              <a:t>Best for: agent-driven nav +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2243D"/>
                </a:solidFill>
                <a:latin typeface="Calibri"/>
              </a:rPr>
              <a:t>@maverick/agentic-ui — one AgenticBackend abstraction; chat shell, registries, and widgets stay protocol-agnostic.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1 · The shift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Background &amp; origin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Open protocol for agent ↔ UI communication, originated by CopilotKit.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1153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Transport-agnostic. </a:t>
            </a:r>
            <a:r>
              <a:rPr sz="1300">
                <a:solidFill>
                  <a:srgbClr val="141821"/>
                </a:solidFill>
                <a:latin typeface="Calibri"/>
              </a:rPr>
              <a:t>SSE in practice; WebSocket and plain HTTP also valid carriers.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Message-based. </a:t>
            </a:r>
            <a:r>
              <a:rPr sz="1300">
                <a:solidFill>
                  <a:srgbClr val="141821"/>
                </a:solidFill>
                <a:latin typeface="Calibri"/>
              </a:rPr>
              <a:t>Discrete event types — RUN_STARTED, TEXT_MESSAGE_*, TOOL_CALL_*, RUN_FINISHED — not a free-form stream.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Tool-call first-class. </a:t>
            </a:r>
            <a:r>
              <a:rPr sz="1300">
                <a:solidFill>
                  <a:srgbClr val="141821"/>
                </a:solidFill>
                <a:latin typeface="Calibri"/>
              </a:rPr>
              <a:t>Distinguishes server-side tools (run on the agent host) from client-side tools (run in the browser).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Generative UI by convention. </a:t>
            </a:r>
            <a:r>
              <a:rPr sz="1300">
                <a:solidFill>
                  <a:srgbClr val="141821"/>
                </a:solidFill>
                <a:latin typeface="Calibri"/>
              </a:rPr>
              <a:t>Reserved show-component tool whose result tells the host which registered widget to render.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Reference implementation. </a:t>
            </a:r>
            <a:r>
              <a:rPr sz="1300">
                <a:solidFill>
                  <a:srgbClr val="141821"/>
                </a:solidFill>
                <a:latin typeface="Calibri"/>
              </a:rPr>
              <a:t>@ag-ui/client — the runUntilSettled loop + HttpAgent SSE adapter — is the canonical client.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Adoption. </a:t>
            </a:r>
            <a:r>
              <a:rPr sz="1300">
                <a:solidFill>
                  <a:srgbClr val="141821"/>
                </a:solidFill>
                <a:latin typeface="Calibri"/>
              </a:rPr>
              <a:t>CopilotKit, AG-UI Studio, multiple Mastra-based agent backends, several Angular and React reference apps.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Event timeline — one chat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Time flows left → right. Pills are the events on the wire; vertical position groups them by class.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5852160"/>
            <a:ext cx="10545775" cy="0"/>
          </a:xfrm>
          <a:prstGeom prst="line">
            <a:avLst/>
          </a:prstGeom>
          <a:ln w="15240">
            <a:solidFill>
              <a:srgbClr val="E3E5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3716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0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1.2 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3.4 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0" y="5806440"/>
            <a:ext cx="18288" cy="914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5.1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574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LIFECYCLE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21031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1031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RUN_STARTED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24160" y="21031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1031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RUN_FINISHED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56B88"/>
                </a:solidFill>
                <a:latin typeface="Calibri"/>
              </a:rPr>
              <a:t>TEXT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2743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0" y="27432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MESSAGE_START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2336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2743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0" y="27432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MESSAGE_END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337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F6F4F"/>
                </a:solidFill>
                <a:latin typeface="Calibri"/>
              </a:rPr>
              <a:t>TOOL CALL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3832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38328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CALL_START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63840" y="338328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0" y="3383280"/>
            <a:ext cx="9144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ARGS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9680" y="338328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0" y="338328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CALL_END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241280" y="33832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38328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RESULT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9776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GENERATIVE UI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9840" y="40233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0" y="4023360"/>
            <a:ext cx="155448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WIDGET_RENDER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6177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56B88"/>
                </a:solidFill>
                <a:latin typeface="Calibri"/>
              </a:rPr>
              <a:t>POST-TOOL TEXT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698480" y="466344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98480" y="4663440"/>
            <a:ext cx="109728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3716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6576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3152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972800" y="2011680"/>
            <a:ext cx="0" cy="3840480"/>
          </a:xfrm>
          <a:prstGeom prst="line">
            <a:avLst/>
          </a:prstGeom>
          <a:ln w="635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B7380"/>
                </a:solidFill>
                <a:latin typeface="Calibri"/>
              </a:rPr>
              <a:t>Adapter @maverick/agentic-ui/ag-ui maps each event 1:1 onto the AgenticEvent union.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Capabilities &amp; where it fits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18607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4864" cy="457200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6F4F"/>
                </a:solidFill>
                <a:latin typeface="Calibri"/>
              </a:rPr>
              <a:t>Strengths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4952847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Cleanest event model of the three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Server-side tool execution baked in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SSE — proxies and CDNs handle it natively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Mature CopilotKit + Mastra ecosystem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Trace-friendly: each event is a structured record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Best fit for compliance / audit / regulated domains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554480"/>
            <a:ext cx="5318607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554480"/>
            <a:ext cx="54864" cy="457200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91640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C48221"/>
                </a:solidFill>
                <a:latin typeface="Calibri"/>
              </a:rPr>
              <a:t>Trade-offs / gaps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2194560"/>
            <a:ext cx="4952847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Heavier than Hashbrown — more events to handle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ui-action / agent-driven nav not in core spec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Generative UI is via convention, not a first-class event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No standard form schema — apps roll their own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Per-protocol adapter still required (we provide one)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2 · AG-UI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Background &amp; origin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Open framework from Liquid Frontiers focused on generative UI and tool-calling.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1153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UI-generation native. </a:t>
            </a:r>
            <a:r>
              <a:rPr sz="1300">
                <a:solidFill>
                  <a:srgbClr val="141821"/>
                </a:solidFill>
                <a:latin typeface="Calibri"/>
              </a:rPr>
              <a:t>Hashbrown's streams emit component + props directly — no show-component shim required.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Multi-provider out of the box. </a:t>
            </a:r>
            <a:r>
              <a:rPr sz="1300">
                <a:solidFill>
                  <a:srgbClr val="141821"/>
                </a:solidFill>
                <a:latin typeface="Calibri"/>
              </a:rPr>
              <a:t>OpenAI, Google, and Anthropic — swap providers via a config flag.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Smaller surface than AG-UI. </a:t>
            </a:r>
            <a:r>
              <a:rPr sz="1300">
                <a:solidFill>
                  <a:srgbClr val="141821"/>
                </a:solidFill>
                <a:latin typeface="Calibri"/>
              </a:rPr>
              <a:t>Fewer event types; lifecycle is implicit in stream open/close.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React-first heritage. </a:t>
            </a:r>
            <a:r>
              <a:rPr sz="1300">
                <a:solidFill>
                  <a:srgbClr val="141821"/>
                </a:solidFill>
                <a:latin typeface="Calibri"/>
              </a:rPr>
              <a:t>Original target was React; Angular adapter is recent. Our wrapper makes it idiomatic for either.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Schema-driven UI generation. </a:t>
            </a:r>
            <a:r>
              <a:rPr sz="1300">
                <a:solidFill>
                  <a:srgbClr val="141821"/>
                </a:solidFill>
                <a:latin typeface="Calibri"/>
              </a:rPr>
              <a:t>Zod-based component schemas anchor the LLM's structured output.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Best fit. </a:t>
            </a:r>
            <a:r>
              <a:rPr sz="1300">
                <a:solidFill>
                  <a:srgbClr val="141821"/>
                </a:solidFill>
                <a:latin typeface="Calibri"/>
              </a:rPr>
              <a:t>Rapid prototypes, demo-heavy generative UI, multi-LLM A/B comparisons.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09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Features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81051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10512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ui-stream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856232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Emits widget + props natively — no shim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68296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487168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87168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text-stream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532888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Token-level text deltas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044952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16382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63824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tool-stream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09544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Function-call args + results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21608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384048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840480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provider-mux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3886200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Switch OpenAI ↔ Google ↔ Anthropic at runtime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98264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4517136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A8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17136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schema-anchor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562856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Zod schemas anchor structured LLM output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519379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93792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react-bridge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5239512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First-class React; Angular via wrapper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Hashbrown vs AG-UI — when to pick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Hashbrown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AG-UI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6276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41821"/>
                </a:solidFill>
                <a:latin typeface="Calibri"/>
              </a:rPr>
              <a:t>Pick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116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Lifecycle clarity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Implicit (stream open/close)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Explicit (RUN_STARTED/FINISHED)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20574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05740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AG-UI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615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Generative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615184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Native (UI-stream)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1518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Convention (show-component)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66090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0" y="2660904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Hashbrown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21868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Audit-grade logging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21868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Needs work — synth lifecycle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1868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Drop-in — events are 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326440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3264408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AG-UI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822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Time-to-first-prompt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822192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Hours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82219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Day or two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386791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3867912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Hashbrown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425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Multi-provider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42569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Built 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42569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Adapter per provider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471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4471416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Hashbrown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029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Server-side 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029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Adapter needed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029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First-class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50749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92640" y="50749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AG-UI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3270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41821"/>
                </a:solidFill>
                <a:latin typeface="Calibri"/>
              </a:rPr>
              <a:t>Spec stability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5632704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Smaller surface · stable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63270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Larger surface · stable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92640" y="56784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5678424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6B7380"/>
                </a:solidFill>
                <a:latin typeface="Calibri"/>
              </a:rPr>
              <a:t>Tie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3 · Hashbrown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4 · A2UI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Agent-driven UI — ui-action as a class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63D49"/>
                </a:solidFill>
                <a:latin typeface="Calibri"/>
              </a:rPr>
              <a:t>A2UI lifts the agent from 'calls tools' to 'drives the whole UI'.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48221"/>
                </a:solidFill>
                <a:latin typeface="Calibri"/>
              </a:rPr>
              <a:t>Distinguishing event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6040"/>
            <a:ext cx="10911535" cy="14630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{ type: 'ui-action',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actionId: 'a-7f2e',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op: 'navigate',          // or 'applyTag', 'fillForm', 'openDrawer', …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payload: { path: '/documents', queryParams: { id: 'DOC-1234' } }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Where it shines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115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Agent navigates to a route after a tool call settles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Form-fill flows where the agent populates fields the user verifies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State mutations dispatched into NgRx / Redux without a separate tool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>
                <a:solidFill>
                  <a:srgbClr val="141821"/>
                </a:solidFill>
                <a:latin typeface="Calibri"/>
              </a:rPr>
              <a:t>Cross-MFE coordination — one remote raises an action a different remote handles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4 · A2UI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Why a library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D49"/>
                </a:solidFill>
                <a:latin typeface="Calibri"/>
              </a:rPr>
              <a:t>Three protocols, four bundlers, two MFE runtimes, and an MCP transport — that's not a library, that's a forklift.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486400" cy="402336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A83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8332A"/>
                </a:solidFill>
                <a:latin typeface="Calibri"/>
              </a:rPr>
              <a:t>What you'd build without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Per-protocol chat shell, three times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Hand-rolled tool registry, ad hoc per app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Bespoke MFE federation glue for each remote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MCP server scaffolding from scratch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Telemetry stitched in late, never quite consistent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A8332A"/>
                </a:solidFill>
                <a:latin typeface="Calibri"/>
              </a:rPr>
              <a:t>✗  </a:t>
            </a:r>
            <a:r>
              <a:rPr sz="1200">
                <a:solidFill>
                  <a:srgbClr val="141821"/>
                </a:solidFill>
                <a:latin typeface="Calibri"/>
              </a:rPr>
              <a:t>Schematics: none — every team retypes the bootstrap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286000"/>
            <a:ext cx="5212080" cy="402336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423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F6F4F"/>
                </a:solidFill>
                <a:latin typeface="Calibri"/>
              </a:rPr>
              <a:t>What @maverick/agentic-ui 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880360"/>
            <a:ext cx="47548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✓  </a:t>
            </a:r>
            <a:r>
              <a:rPr sz="1200">
                <a:solidFill>
                  <a:srgbClr val="141821"/>
                </a:solidFill>
                <a:latin typeface="Calibri"/>
              </a:rPr>
              <a:t>One AgenticBackend interface — three adapters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✓  </a:t>
            </a:r>
            <a:r>
              <a:rPr sz="1200">
                <a:solidFill>
                  <a:srgbClr val="141821"/>
                </a:solidFill>
                <a:latin typeface="Calibri"/>
              </a:rPr>
              <a:t>13 typed registries, one base class, signal-backed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✓  </a:t>
            </a:r>
            <a:r>
              <a:rPr sz="1200">
                <a:solidFill>
                  <a:srgbClr val="141821"/>
                </a:solidFill>
                <a:latin typeface="Calibri"/>
              </a:rPr>
              <a:t>Native + Module Federation, both first-class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✓  </a:t>
            </a:r>
            <a:r>
              <a:rPr sz="1200">
                <a:solidFill>
                  <a:srgbClr val="141821"/>
                </a:solidFill>
                <a:latin typeface="Calibri"/>
              </a:rPr>
              <a:t>@maverick/agentic-ui-mcp wraps tools as MCP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✓  </a:t>
            </a:r>
            <a:r>
              <a:rPr sz="1200">
                <a:solidFill>
                  <a:srgbClr val="141821"/>
                </a:solidFill>
                <a:latin typeface="Calibri"/>
              </a:rPr>
              <a:t>OTel-instrumented from M1; default no-op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F6F4F"/>
                </a:solidFill>
                <a:latin typeface="Calibri"/>
              </a:rPr>
              <a:t>✓  </a:t>
            </a:r>
            <a:r>
              <a:rPr sz="1200">
                <a:solidFill>
                  <a:srgbClr val="141821"/>
                </a:solidFill>
                <a:latin typeface="Calibri"/>
              </a:rPr>
              <a:t>ng add scaffolds an entire app in one command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Architecture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7772400" cy="45720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BROWSER HOST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&lt;mvk-chat-shell&gt;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Sidebar nav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Routed pages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971800"/>
            <a:ext cx="7223760" cy="1097280"/>
          </a:xfrm>
          <a:prstGeom prst="roundRect">
            <a:avLst>
              <a:gd name="adj" fmla="val 3000"/>
            </a:avLst>
          </a:prstGeom>
          <a:solidFill>
            <a:srgbClr val="ECF1F6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6324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2243D"/>
                </a:solidFill>
                <a:latin typeface="Calibri"/>
              </a:rPr>
              <a:t>REGISTRY LAYER · 13 typed registries · signal-backed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Tool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Component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Capability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Backend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Action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Form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Intent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48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48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DataSource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91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91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Validation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Persistence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77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Layout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20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Schema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AgUiBackend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6804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6804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HashbrownBackend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82168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2168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A2uiBackend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12064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All pushed events also flow into AgenticTelemetrySink / AgenticLogger.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1554480"/>
            <a:ext cx="2864815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86800" y="1554480"/>
            <a:ext cx="54864" cy="146304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69680" y="16916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2243D"/>
                </a:solidFill>
                <a:latin typeface="Calibri"/>
              </a:rPr>
              <a:t>Federation runtime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2011680"/>
            <a:ext cx="25904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Native Federation
· esbuild-native
· @angular-architects
Module Federation
· webpack peer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86800" y="3154680"/>
            <a:ext cx="2864815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686800" y="3154680"/>
            <a:ext cx="54864" cy="128016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69680" y="32918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Agent server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9680" y="3611880"/>
            <a:ext cx="25904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Mastra · Gemini · OpenAI
AG-UI SSE route
ThreadStateStore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86800" y="4572000"/>
            <a:ext cx="2864815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686800" y="4572000"/>
            <a:ext cx="54864" cy="100584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69680" y="46634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MCP server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4956048"/>
            <a:ext cx="25904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Same ToolDef
Claude Desktop / Cursor
Text/html;profile=mcp-app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3294888.0" y="3794760"/>
            <a:ext cx="5391912.0" cy="914400"/>
          </a:xfrm>
          <a:prstGeom prst="line">
            <a:avLst/>
          </a:prstGeom>
          <a:ln w="1905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979920.0" y="4937760"/>
            <a:ext cx="1706880.0" cy="13716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8366760" y="2286000"/>
            <a:ext cx="320040" cy="123444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40080" y="64465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2243D"/>
                </a:solidFill>
                <a:latin typeface="Calibri"/>
              </a:rPr>
              <a:t>One library · three protocols · two federation paths · MCP for analyst desktops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13 registries — hub &amp; spokes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All 13 implement one Registry&lt;TDef&gt; interface — same MFE-aware teardown, same signal contract, same conformance test surface.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1447" y="3657600"/>
            <a:ext cx="1828800" cy="914400"/>
          </a:xfrm>
          <a:prstGeom prst="roundRect">
            <a:avLst>
              <a:gd name="adj" fmla="val 5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81447" y="365760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7F7F5"/>
                </a:solidFill>
                <a:latin typeface="Calibri"/>
              </a:rPr>
              <a:t>Registry&lt;TDef&gt;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5229" y="2715901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5229" y="2715901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Tool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3153869.1370904273" y="2880493.52037552"/>
            <a:ext cx="2941978.3629095727" cy="1234306.47962448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924150" y="2209879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24150" y="220987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Component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4472790.51815008" y="2374471.5350207426"/>
            <a:ext cx="1623056.98184992" cy="1740328.4649792574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47207" y="2029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47207" y="2029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Capability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6095847.499999999" y="2194560.0"/>
            <a:ext cx="9.313225746154785e-10" cy="1920240.0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170264" y="2209879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0264" y="220987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Backend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6095847.5" y="2374471.5350207435"/>
            <a:ext cx="1074416.9818499219" cy="1740328.4649792565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89185" y="2715901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89185" y="2715901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3A5F"/>
                </a:solidFill>
                <a:latin typeface="Calibri"/>
              </a:rPr>
              <a:t>Mfe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6095847.5" y="2880493.520375519"/>
            <a:ext cx="2393338.362909572" cy="1234306.479624481"/>
          </a:xfrm>
          <a:prstGeom prst="line">
            <a:avLst/>
          </a:prstGeom>
          <a:ln w="127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56078" y="4606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6078" y="4606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Action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5847.5" y="4160520"/>
            <a:ext cx="3608870.716275865" cy="611040.7600196823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489185" y="518451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89185" y="518451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Intent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5847.5" y="4160520"/>
            <a:ext cx="2941978.362909572" cy="1188586.47962448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467447" y="561318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67447" y="561318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Form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5847.5" y="4160520"/>
            <a:ext cx="1920240.0" cy="1617256.6213630307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214099" y="5841275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4099" y="5841275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F6F4F"/>
                </a:solidFill>
                <a:latin typeface="Calibri"/>
              </a:rPr>
              <a:t>DataSource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5847.5" y="4160520"/>
            <a:ext cx="666892.353366293" cy="1845347.2396441624"/>
          </a:xfrm>
          <a:prstGeom prst="line">
            <a:avLst/>
          </a:prstGeom>
          <a:ln w="1270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880315" y="5841275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80315" y="5841275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Validation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5428955.146633707" y="4160520"/>
            <a:ext cx="666892.353366293" cy="1845347.2396441624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626967" y="561318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26967" y="561318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Persistence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4175607.500000001" y="4160520"/>
            <a:ext cx="1920239.999999999" cy="1617256.6213630307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605229" y="518451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05229" y="518451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Layout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3153869.137090428" y="4160520"/>
            <a:ext cx="2941978.362909572" cy="1188586.47962448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1938336" y="4606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938336" y="4606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48221"/>
                </a:solidFill>
                <a:latin typeface="Calibri"/>
              </a:rPr>
              <a:t>Schema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2486976.783724135" y="4160520"/>
            <a:ext cx="3608870.716275865" cy="611040.7600196823"/>
          </a:xfrm>
          <a:prstGeom prst="line">
            <a:avLst/>
          </a:prstGeom>
          <a:ln w="127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4008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Core (M1–M3)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4340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Calibri"/>
              </a:rPr>
              <a:t>Extended (M4–M5)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8952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1812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Seams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Capability handoff — sequence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Host shell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7180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MfeRegistry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6636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Federation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5216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6092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Remote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4672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3836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Registries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24160" y="2148840"/>
            <a:ext cx="0" cy="3886200"/>
          </a:xfrm>
          <a:prstGeom prst="line">
            <a:avLst/>
          </a:prstGeom>
          <a:ln w="12700">
            <a:solidFill>
              <a:srgbClr val="E3E5E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554480" y="2423160"/>
            <a:ext cx="210312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21305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discover(env)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554480" y="2788920"/>
            <a:ext cx="2103120" cy="0"/>
          </a:xfrm>
          <a:prstGeom prst="line">
            <a:avLst/>
          </a:prstGeom>
          <a:ln w="15240">
            <a:solidFill>
              <a:srgbClr val="356B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24963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356B88"/>
                </a:solidFill>
                <a:latin typeface="Calibri"/>
              </a:rPr>
              <a:t>RemoteSpec[]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54480" y="3246120"/>
            <a:ext cx="4297680" cy="0"/>
          </a:xfrm>
          <a:prstGeom prst="line">
            <a:avLst/>
          </a:prstGeom>
          <a:ln w="1524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74520" y="29535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loadRemoteCapabilities({remote, loader})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852160" y="3611880"/>
            <a:ext cx="2194560" cy="0"/>
          </a:xfrm>
          <a:prstGeom prst="line">
            <a:avLst/>
          </a:prstGeom>
          <a:ln w="1524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120640" y="33192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import './Capability'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46720" y="3977639"/>
            <a:ext cx="2377440" cy="0"/>
          </a:xfrm>
          <a:prstGeom prst="line">
            <a:avLst/>
          </a:prstGeom>
          <a:ln w="1524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06640" y="3685031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module.apply(injector)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424160" y="4434840"/>
            <a:ext cx="548640" cy="0"/>
          </a:xfrm>
          <a:prstGeom prst="line">
            <a:avLst/>
          </a:prstGeom>
          <a:ln w="1524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972800" y="4434840"/>
            <a:ext cx="0" cy="182880"/>
          </a:xfrm>
          <a:prstGeom prst="line">
            <a:avLst/>
          </a:prstGeom>
          <a:ln w="1524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0469880" y="4617720"/>
            <a:ext cx="502920" cy="0"/>
          </a:xfrm>
          <a:prstGeom prst="line">
            <a:avLst/>
          </a:prstGeom>
          <a:ln w="1524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064240" y="4389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registerAll(tools, components)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554480" y="4892040"/>
            <a:ext cx="886968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160520" y="459943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next chat turn → ToolRegistry.signal()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554480" y="5349240"/>
            <a:ext cx="54864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103120" y="5349240"/>
            <a:ext cx="0" cy="18288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600200" y="5532120"/>
            <a:ext cx="502920" cy="0"/>
          </a:xfrm>
          <a:prstGeom prst="line">
            <a:avLst/>
          </a:prstGeom>
          <a:ln w="1524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194560" y="5303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user prompt fires; agent sees new tools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263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380"/>
                </a:solidFill>
                <a:latin typeface="Calibri"/>
              </a:rPr>
              <a:t>Each remote is another row in this sequence — registries are the single seam every remote writes through.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One handler, three surfaces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63D49"/>
                </a:solidFill>
                <a:latin typeface="Calibri"/>
              </a:rPr>
              <a:t>The same ToolDef literal powers the chat shell, the MCP server (Claude Desktop / Cursor), and the standalone-mode UI inside each remote — without any code duplication.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429000"/>
            <a:ext cx="3291840" cy="1188720"/>
          </a:xfrm>
          <a:prstGeom prst="roundRect">
            <a:avLst>
              <a:gd name="adj" fmla="val 4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49927" y="34290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CF1F6"/>
                </a:solidFill>
                <a:latin typeface="Calibri"/>
              </a:rPr>
              <a:t>ToolDef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9927" y="3794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nlo"/>
              </a:rPr>
              <a:t>agenticTool({ name, schema, handler 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9927" y="42062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ECF1F6"/>
                </a:solidFill>
                <a:latin typeface="Calibri"/>
              </a:rPr>
              <a:t>single source of truth · framework-agnostic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0" y="2377440"/>
            <a:ext cx="2011680" cy="4572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2243D"/>
                </a:solidFill>
                <a:latin typeface="Calibri"/>
              </a:rPr>
              <a:t>&lt;mvk-chat-shell&gt;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63D49"/>
                </a:solidFill>
                <a:latin typeface="Calibri"/>
              </a:rPr>
              <a:t>Browser · Angular host
user ↔ LLM in-app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017520" y="3383280.0"/>
            <a:ext cx="2619618.75" cy="274320.0"/>
          </a:xfrm>
          <a:prstGeom prst="line">
            <a:avLst/>
          </a:prstGeom>
          <a:ln w="1905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90007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90007" y="2377440"/>
            <a:ext cx="2011680" cy="4572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1447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48221"/>
                </a:solidFill>
                <a:latin typeface="Calibri"/>
              </a:rPr>
              <a:t>MCP server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1447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63D49"/>
                </a:solidFill>
                <a:latin typeface="Calibri"/>
              </a:rPr>
              <a:t>Claude Desktop · Cursor · Zed
analyst workstations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5791055.125" y="3383280.0"/>
            <a:ext cx="304792.375" cy="274320.0"/>
          </a:xfrm>
          <a:prstGeom prst="line">
            <a:avLst/>
          </a:prstGeom>
          <a:ln w="1905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68335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68335" y="2377440"/>
            <a:ext cx="2011680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9775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F6F4F"/>
                </a:solidFill>
                <a:latin typeface="Calibri"/>
              </a:rPr>
              <a:t>Standalone 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9775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63D49"/>
                </a:solidFill>
                <a:latin typeface="Calibri"/>
              </a:rPr>
              <a:t>Visit :4302 / :4303 directly
technical sanity check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5944971.5" y="3383280.0"/>
            <a:ext cx="3229203.5" cy="274320.0"/>
          </a:xfrm>
          <a:prstGeom prst="line">
            <a:avLst/>
          </a:prstGeom>
          <a:ln w="19050">
            <a:solidFill>
              <a:srgbClr val="2F6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828800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0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Tool result · widgets · markdown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3017520" y="4663440.0"/>
            <a:ext cx="2924411.125" cy="1097280.0"/>
          </a:xfrm>
          <a:prstGeom prst="line">
            <a:avLst/>
          </a:prstGeom>
          <a:ln w="15240">
            <a:solidFill>
              <a:srgbClr val="A8332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541367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41367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MCP UI blocks (text/html)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730087.5" y="4663440.0"/>
            <a:ext cx="347472.0" cy="1097280.0"/>
          </a:xfrm>
          <a:prstGeom prst="line">
            <a:avLst/>
          </a:prstGeom>
          <a:ln w="15240">
            <a:solidFill>
              <a:srgbClr val="A8332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985455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85455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2243D"/>
                </a:solidFill>
                <a:latin typeface="Calibri"/>
              </a:rPr>
              <a:t>Same handler, same audit entry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249763.875" y="4663440.0"/>
            <a:ext cx="2924411.125" cy="1097280.0"/>
          </a:xfrm>
          <a:prstGeom prst="line">
            <a:avLst/>
          </a:prstGeom>
          <a:ln w="15240">
            <a:solidFill>
              <a:srgbClr val="A8332A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AgenticBackend — the abstraction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33832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10637215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interface AgenticBackend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readonly id: string;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readonly capabilities: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streaming: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clientTools: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generativeUi: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uiActions: boolean;     // A2UI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run(input: AgenticRunInput): AsyncIterable&lt;AgenticEvent&gt;;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reset?(threadId: string): Promise&lt;void&gt;;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// 12 events: run-started, text-delta, tool-call-*, widget-render, ui-action, …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type AgenticEvent =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'run-started'; threadId: string; runId: string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'text-delta'; messageId: string; delta: string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'tool-call-result'; toolCallId: string; result: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'widget-render'; widgetCallId: string; name: string; props: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'ui-action'; actionId: string; op: string; payload: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… 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63D49"/>
                </a:solidFill>
                <a:latin typeface="Calibri"/>
              </a:rPr>
              <a:t>The chat shell sees ONLY this surface. AgUiBackend, HashbrownBackend, A2uiBackend implement it — capability flags drive feature-detection in the UI.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Microfrontend federation — capability handoff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Discover. </a:t>
            </a:r>
            <a:r>
              <a:rPr sz="1300">
                <a:solidFill>
                  <a:srgbClr val="141821"/>
                </a:solidFill>
                <a:latin typeface="Calibri"/>
              </a:rPr>
              <a:t>MfeRegistryClient.discover(env) — Spring Boot or static-JSON adapter.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Lazy-load. </a:t>
            </a:r>
            <a:r>
              <a:rPr sz="1300">
                <a:solidFill>
                  <a:srgbClr val="141821"/>
                </a:solidFill>
                <a:latin typeface="Calibri"/>
              </a:rPr>
              <a:t>loadRemoteModule({ remoteName, exposedModule: './Capability' }).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Register. </a:t>
            </a:r>
            <a:r>
              <a:rPr sz="1300">
                <a:solidFill>
                  <a:srgbClr val="141821"/>
                </a:solidFill>
                <a:latin typeface="Calibri"/>
              </a:rPr>
              <a:t>Remote's defineCapabilityModule pushes into ToolRegistry / ComponentRegistry / ActionRegistry.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Teardown. </a:t>
            </a:r>
            <a:r>
              <a:rPr sz="1300">
                <a:solidFill>
                  <a:srgbClr val="141821"/>
                </a:solidFill>
                <a:latin typeface="Calibri"/>
              </a:rPr>
              <a:t>removeBySource('remote:bookings') runs across every registry in one pass; signals notify subscribers.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31920"/>
            <a:ext cx="5349240" cy="2377440"/>
          </a:xfrm>
          <a:prstGeom prst="roundRect">
            <a:avLst>
              <a:gd name="adj" fmla="val 4000"/>
            </a:avLst>
          </a:prstGeom>
          <a:solidFill>
            <a:srgbClr val="ECF1F6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2243D"/>
                </a:solidFill>
                <a:latin typeface="Calibri"/>
              </a:rPr>
              <a:t>Native Federation (default)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43484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Backed by @angular-architects/native-federation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esbuild-compatible — Angular CLI default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2243D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Smaller bundle, faster cold start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931920"/>
            <a:ext cx="5349240" cy="237744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C48221"/>
                </a:solidFill>
                <a:latin typeface="Calibri"/>
              </a:rPr>
              <a:t>Module Federation (peer)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43484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Backed by @module-federation/runtime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webpack — for teams already on it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C48221"/>
                </a:solidFill>
                <a:latin typeface="Calibri"/>
              </a:rPr>
              <a:t>—  </a:t>
            </a:r>
            <a:r>
              <a:rPr sz="1200">
                <a:solidFill>
                  <a:srgbClr val="141821"/>
                </a:solidFill>
                <a:latin typeface="Calibri"/>
              </a:rPr>
              <a:t>Same CapabilityModule format · same capabilities.json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19 / 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MCP integration — analyst workstation reach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D49"/>
                </a:solidFill>
                <a:latin typeface="Calibri"/>
              </a:rPr>
              <a:t>@maverick/agentic-ui-mcp — the same ToolDefs power Claude Desktop, Cursor, Zed.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911535" cy="310896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One handler, multiple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1054577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agenticTool({ ... }) — same factory the chat shell uses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mcpToolBridge(tools) — exposes them as an MCP server with a Node binary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MCP UI: tool results carry html field → text/html;profile=mcp-app blocks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Per-user MCP server pattern — beforeCall stub auth → real OIDC swap-in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Cookbook: paralegal privilege review in Claude Desktop using the eDiscovery toolset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2243D"/>
                </a:solidFill>
                <a:latin typeface="Calibri"/>
              </a:rPr>
              <a:t>Result: agents that work in your web app AND in your analysts' IDE — same audit trail, same governance.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20 /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Observability — OTel from M1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Distributed tracing for chat shell → backend → SSE route → agent → LLM → tool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10911535" cy="3383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10911535" cy="4114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Span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317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331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Key attributes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974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697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thread_id, run_id, backend.id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004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agentic.backend.stream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200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2004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http.url, http.status_code, traceparent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703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agentic.tool_call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7033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703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tool.name, tool.source, success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2062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agentic.federation.load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2062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206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remote_name, version, federation, load_ms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091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agentic.registry.register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7091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INTERNAL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709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Menlo"/>
              </a:rPr>
              <a:t>registry.name, 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B7380"/>
                </a:solidFill>
                <a:latin typeface="Calibri"/>
              </a:rPr>
              <a:t>W3C traceparent propagated across the SSE boundary — one trace covers UI to LLM.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Schematics — ng add → fully wired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@maverick/agentic-ui-schematics — six generators ship with the package.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11535" cy="228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$ ng add @maverick/agentic-ui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--backend=ag-ui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--mfe=host --federation=native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--registry=spring-boot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--server=mastra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--telemetry=otel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Patches app.config.ts · seeds tools/widgets · scaffolds federation ·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wires Mastra agent server · adds OTel collector 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Per-artefact generators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1091153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…:tool </a:t>
            </a:r>
            <a:r>
              <a:rPr sz="1200">
                <a:solidFill>
                  <a:srgbClr val="141821"/>
                </a:solidFill>
                <a:latin typeface="Calibri"/>
              </a:rPr>
              <a:t>*.tool.ts with Zod schema scaffold; auto-registers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…:widget </a:t>
            </a:r>
            <a:r>
              <a:rPr sz="1200">
                <a:solidFill>
                  <a:srgbClr val="141821"/>
                </a:solidFill>
                <a:latin typeface="Calibri"/>
              </a:rPr>
              <a:t>Standalone component + Zod props schema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…:backend </a:t>
            </a:r>
            <a:r>
              <a:rPr sz="1200">
                <a:solidFill>
                  <a:srgbClr val="141821"/>
                </a:solidFill>
                <a:latin typeface="Calibri"/>
              </a:rPr>
              <a:t>Custom AgenticBackend with FakeAgenticBackend test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…:mfe-capability </a:t>
            </a:r>
            <a:r>
              <a:rPr sz="1200">
                <a:solidFill>
                  <a:srgbClr val="141821"/>
                </a:solidFill>
                <a:latin typeface="Calibri"/>
              </a:rPr>
              <a:t>Federation expose + capabilities.json manifest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…:agent-server </a:t>
            </a:r>
            <a:r>
              <a:rPr sz="1200">
                <a:solidFill>
                  <a:srgbClr val="141821"/>
                </a:solidFill>
                <a:latin typeface="Calibri"/>
              </a:rPr>
              <a:t>Mastra agent + AG-UI SSE route + memory store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ng g …:chat-shell </a:t>
            </a:r>
            <a:r>
              <a:rPr sz="1200">
                <a:solidFill>
                  <a:srgbClr val="141821"/>
                </a:solidFill>
                <a:latin typeface="Calibri"/>
              </a:rPr>
              <a:t>Routed component using &lt;mvk-chat-shell&gt;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5 · The library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22 / 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Five demos in this repo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27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627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627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Library features exercised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demo-monolith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574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Single-app AG-UI parity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05740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M1 baseline · same shape as flights42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77063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demo-feature-tour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7063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All 13 registries in one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770632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ActionRegistry, FormRegistry, IntentRegistry, DataSource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483864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demo-shell + remotes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83864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Native Federation host + bookings/loyalty/support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483864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Capability handoff · prefetchCapabilities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197096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demo-multi-agent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197096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OrchestratorAgent + specialists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197096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Sticky routing · ThreadStateStore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1032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demo-mcp-server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910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Tools as MCP server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910328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Claude Desktop · MCP UI · per-user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235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2243D"/>
                </a:solidFill>
                <a:latin typeface="Menlo"/>
              </a:rPr>
              <a:t>demo-ediscovery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6235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Enterprise reference 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62356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Federated review remote · audit trail · 5 personas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06 ·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An enterprise reference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63D49"/>
                </a:solidFill>
                <a:latin typeface="Calibri"/>
              </a:rPr>
              <a:t>A federated eDiscovery shell — the demo we use to validate every library feature against a recognisable, regulated, complex domain.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259072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tools across 4 specialists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3683" y="2377440"/>
            <a:ext cx="259072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0843" y="254203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0843" y="315468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federated MFE remotes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7287" y="2377440"/>
            <a:ext cx="259072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4447" y="254203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E3A5F"/>
                </a:solidFill>
                <a:latin typeface="Calibri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315468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library registries exercised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0891" y="2377440"/>
            <a:ext cx="259072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051" y="2542032"/>
            <a:ext cx="23164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C48221"/>
                </a:solidFill>
                <a:latin typeface="Calibri"/>
              </a:rPr>
              <a:t>5–7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051" y="3154680"/>
            <a:ext cx="2316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weeks for one contributor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40480"/>
            <a:ext cx="52728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WHAT THE DEMO SHIPS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169664"/>
            <a:ext cx="5272887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297680"/>
            <a:ext cx="5272887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Custodian intake · legal-hold lifecycle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Document review with privilege workflow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Production assembly: create → bates → export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Search + TAR classifier across the matter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Live audit trail with chain-of-custody 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3840480"/>
            <a:ext cx="52728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LIBRARY SEAMS PUT TO WORK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4169664"/>
            <a:ext cx="5272887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8727" y="4297680"/>
            <a:ext cx="5272887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ToolRegistry · ComponentRegistry · CapabilityRegistry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ActionRegistry — click-through navigation from widgets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FormRegistry — productionConfigForm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ValidationRegistry — Bates pattern conformance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DataSourceRegistry — pluggable documentIndex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>
                <a:solidFill>
                  <a:srgbClr val="141821"/>
                </a:solidFill>
                <a:latin typeface="Calibri"/>
              </a:rPr>
              <a:t>Telemetry — every tool call audit-logged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24 / 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eDiscovery — production chain (Phase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63D49"/>
                </a:solidFill>
                <a:latin typeface="Calibri"/>
              </a:rPr>
              <a:t>One prompt drives a 4-step chained tool call · each step renders its own widget · ActionRegistry navigates on click.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2590723" cy="457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Menlo"/>
              </a:rPr>
              <a:t>createProductionSet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scope filter · format · Bates pattern
Validation: pattern conformance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3A5F"/>
                </a:solidFill>
                <a:latin typeface="Calibri"/>
              </a:rPr>
              <a:t>→ productionSummary widget
   status: draft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30803.75" y="3063240.0"/>
            <a:ext cx="164592.0" cy="0.0"/>
          </a:xfrm>
          <a:prstGeom prst="line">
            <a:avLst/>
          </a:prstGeom>
          <a:ln w="25400">
            <a:solidFill>
              <a:srgbClr val="1E3A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13683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13683" y="2011680"/>
            <a:ext cx="2590723" cy="4572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96563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96563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3763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2243D"/>
                </a:solidFill>
                <a:latin typeface="Menlo"/>
              </a:rPr>
              <a:t>redactDocument*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6563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page · bbox · reason
(* optional, repeatable)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96563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88003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2243D"/>
                </a:solidFill>
                <a:latin typeface="Calibri"/>
              </a:rPr>
              <a:t>→ redactionEditor widget
   canvas overlay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04407.5" y="3063240.0"/>
            <a:ext cx="164592.0" cy="0.0"/>
          </a:xfrm>
          <a:prstGeom prst="line">
            <a:avLst/>
          </a:prstGeom>
          <a:ln w="25400">
            <a:solidFill>
              <a:srgbClr val="1224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187287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7287" y="2011680"/>
            <a:ext cx="2590723" cy="4572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70167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7367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Menlo"/>
              </a:rPr>
              <a:t>assignBatesNumbers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stamp sequential ids per pattern
start = 1 (default)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70167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1607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48221"/>
                </a:solidFill>
                <a:latin typeface="Calibri"/>
              </a:rPr>
              <a:t>→ batesPreview + summary
   status: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778011.25" y="3063240.0"/>
            <a:ext cx="164592.0" cy="0.0"/>
          </a:xfrm>
          <a:prstGeom prst="line">
            <a:avLst/>
          </a:prstGeom>
          <a:ln w="25400">
            <a:solidFill>
              <a:srgbClr val="C4822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960891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60891" y="2011680"/>
            <a:ext cx="2590723" cy="457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3771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3771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0971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F6F4F"/>
                </a:solidFill>
                <a:latin typeface="Menlo"/>
              </a:rPr>
              <a:t>exportProductionSet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3771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63D49"/>
                </a:solidFill>
                <a:latin typeface="Calibri"/>
              </a:rPr>
              <a:t>deliver: true (irreversible)
requires audit reason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3771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211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F6F4F"/>
                </a:solidFill>
                <a:latin typeface="Calibri"/>
              </a:rPr>
              <a:t>→ productionSummary
   status: delivered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4389120"/>
            <a:ext cx="10911535" cy="128016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44988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2243D"/>
                </a:solidFill>
                <a:latin typeface="Calibri"/>
              </a:rPr>
              <a:t>Library seams exercised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ToolRegistry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0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4 tools registered via federation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17719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17719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E3A5F"/>
                </a:solidFill>
                <a:latin typeface="Calibri"/>
              </a:rPr>
              <a:t>ComponentRegistry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39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3 widgets contributed by remote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66758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F6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66758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F6F4F"/>
                </a:solidFill>
                <a:latin typeface="Calibri"/>
              </a:rPr>
              <a:t>FormRegistry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84078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productionConfigForm — schema-driven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48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8680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C48221"/>
                </a:solidFill>
                <a:latin typeface="Calibri"/>
              </a:rPr>
              <a:t>ValidationRegistry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86000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Bates pattern conformance check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617719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22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17719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2243D"/>
                </a:solidFill>
                <a:latin typeface="Calibri"/>
              </a:rPr>
              <a:t>ActionRegistry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39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openProduction — click-to-navigate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66758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3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66758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A8332A"/>
                </a:solidFill>
                <a:latin typeface="Calibri"/>
              </a:rPr>
              <a:t>Audit log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78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63D49"/>
                </a:solidFill>
                <a:latin typeface="Calibri"/>
              </a:rPr>
              <a:t>every step appends an event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6 · Examples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7 ·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When to use what — a guide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4114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2763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27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Reach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Single-app · regulated · audit-heavy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240280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40280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AG-UI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0779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Multi-provider eval · rapid prototype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95351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953512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Hashbrown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21024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Agent navigates / fills forms / mutates 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3666744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666744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A2UI (over AG-UI base)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334256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Multiple teams · independent deploys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379976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379976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MFE federation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47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Analyst desktops · IDE-native agents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93208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A8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5093208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MCP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760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41821"/>
                </a:solidFill>
                <a:latin typeface="Calibri"/>
              </a:rPr>
              <a:t>Compliance + chain of custody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5806440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5806440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Telemetry sink → audit log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7 · Decisions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SENIOR EXECUTIVES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For senior executives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Faster time-to-pilot. </a:t>
            </a:r>
            <a:r>
              <a:rPr sz="1400">
                <a:solidFill>
                  <a:srgbClr val="141821"/>
                </a:solidFill>
                <a:latin typeface="Calibri"/>
              </a:rPr>
              <a:t>ng add → working chat in 2 minutes. 6 months of in-house plumbing avoided.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Vendor agnosticism. </a:t>
            </a:r>
            <a:r>
              <a:rPr sz="1400">
                <a:solidFill>
                  <a:srgbClr val="141821"/>
                </a:solidFill>
                <a:latin typeface="Calibri"/>
              </a:rPr>
              <a:t>AG-UI today, Hashbrown tomorrow, A2UI when it ships v1 — same UI, swap the backend.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Regulated-domain ready. </a:t>
            </a:r>
            <a:r>
              <a:rPr sz="1400">
                <a:solidFill>
                  <a:srgbClr val="141821"/>
                </a:solidFill>
                <a:latin typeface="Calibri"/>
              </a:rPr>
              <a:t>Audit-grade telemetry, persona scopes, MCP for analysts — built in, not bolted 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Microfrontend native. </a:t>
            </a:r>
            <a:r>
              <a:rPr sz="1400">
                <a:solidFill>
                  <a:srgbClr val="141821"/>
                </a:solidFill>
                <a:latin typeface="Calibri"/>
              </a:rPr>
              <a:t>Multiple teams contribute capabilities into one chat — federation is a first-class seam.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Open license. </a:t>
            </a:r>
            <a:r>
              <a:rPr sz="1400">
                <a:solidFill>
                  <a:srgbClr val="141821"/>
                </a:solidFill>
                <a:latin typeface="Calibri"/>
              </a:rPr>
              <a:t>MIT. No SaaS lock-in. Internal forking encouraged.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1E3A5F"/>
                </a:solidFill>
                <a:latin typeface="Calibri"/>
              </a:rPr>
              <a:t>•  </a:t>
            </a:r>
            <a:r>
              <a:rPr sz="1400" b="1">
                <a:solidFill>
                  <a:srgbClr val="141821"/>
                </a:solidFill>
                <a:latin typeface="Calibri"/>
              </a:rPr>
              <a:t>Reference implementations. </a:t>
            </a:r>
            <a:r>
              <a:rPr sz="1400">
                <a:solidFill>
                  <a:srgbClr val="141821"/>
                </a:solidFill>
                <a:latin typeface="Calibri"/>
              </a:rPr>
              <a:t>Six demos including a full eDiscovery app. Blueprint, not a brochure.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27 / 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For architects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Clean seams. </a:t>
            </a:r>
            <a:r>
              <a:rPr sz="1300">
                <a:solidFill>
                  <a:srgbClr val="141821"/>
                </a:solidFill>
                <a:latin typeface="Calibri"/>
              </a:rPr>
              <a:t>AgenticBackend, MfeRegistrySource, Registry&lt;TDef&gt;, AgenticTelemetrySink — every contingency leans on one already in place.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Conformance-tested adapters. </a:t>
            </a:r>
            <a:r>
              <a:rPr sz="1300">
                <a:solidFill>
                  <a:srgbClr val="141821"/>
                </a:solidFill>
                <a:latin typeface="Calibri"/>
              </a:rPr>
              <a:t>/testing entry runs the same suite against every backend; capability flags drive feature-detection.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Conflict policies + onDispose. </a:t>
            </a:r>
            <a:r>
              <a:rPr sz="1300">
                <a:solidFill>
                  <a:srgbClr val="141821"/>
                </a:solidFill>
                <a:latin typeface="Calibri"/>
              </a:rPr>
              <a:t>Multiple teams may register the same tool name; namespace policies coexist; cleanup is automatic.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Observability by default. </a:t>
            </a:r>
            <a:r>
              <a:rPr sz="1300">
                <a:solidFill>
                  <a:srgbClr val="141821"/>
                </a:solidFill>
                <a:latin typeface="Calibri"/>
              </a:rPr>
              <a:t>Distributed tracing across SSE; metrics; logs with trace_id correlation; opt-in OTel exporter.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Two federation paths. </a:t>
            </a:r>
            <a:r>
              <a:rPr sz="1300">
                <a:solidFill>
                  <a:srgbClr val="141821"/>
                </a:solidFill>
                <a:latin typeface="Calibri"/>
              </a:rPr>
              <a:t>Native + Module Federation — no second-class citizen; same CapabilityModule shape; pick by bundler.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ADRs documented. </a:t>
            </a:r>
            <a:r>
              <a:rPr sz="1300">
                <a:solidFill>
                  <a:srgbClr val="141821"/>
                </a:solidFill>
                <a:latin typeface="Calibri"/>
              </a:rPr>
              <a:t>Six ADRs cover backend abstraction, MCP, federation, conflict policies — context for future decisions.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For developers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Schematics. </a:t>
            </a:r>
            <a:r>
              <a:rPr sz="1300">
                <a:solidFill>
                  <a:srgbClr val="141821"/>
                </a:solidFill>
                <a:latin typeface="Calibri"/>
              </a:rPr>
              <a:t>ng add bootstraps an entire workspace. ng g …:tool/widget/backend cuts hours of typing per artefact.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Signal-first APIs. </a:t>
            </a:r>
            <a:r>
              <a:rPr sz="1300">
                <a:solidFill>
                  <a:srgbClr val="141821"/>
                </a:solidFill>
                <a:latin typeface="Calibri"/>
              </a:rPr>
              <a:t>ToolRegistry.signal(), CapabilityRegistry.signal() — reactive everywhere; OnPush by default.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Strict TypeScript. </a:t>
            </a:r>
            <a:r>
              <a:rPr sz="1300">
                <a:solidFill>
                  <a:srgbClr val="141821"/>
                </a:solidFill>
                <a:latin typeface="Calibri"/>
              </a:rPr>
              <a:t>Zod-anchored payloads; tool args + props inferred; no any in the public API surface.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Testing harness. </a:t>
            </a:r>
            <a:r>
              <a:rPr sz="1300">
                <a:solidFill>
                  <a:srgbClr val="141821"/>
                </a:solidFill>
                <a:latin typeface="Calibri"/>
              </a:rPr>
              <a:t>FakeAgenticBackend + harnessChat() in /testing; in-memory AgenticTelemetrySink with custom matchers.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Cookbook entries. </a:t>
            </a:r>
            <a:r>
              <a:rPr sz="1300">
                <a:solidFill>
                  <a:srgbClr val="141821"/>
                </a:solidFill>
                <a:latin typeface="Calibri"/>
              </a:rPr>
              <a:t>Every milestone ships a how-to guide — federation at scale, MCP server, observability, persona scopes.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3A5F"/>
                </a:solidFill>
                <a:latin typeface="Calibri"/>
              </a:rPr>
              <a:t>•  </a:t>
            </a:r>
            <a:r>
              <a:rPr sz="1300" b="1">
                <a:solidFill>
                  <a:srgbClr val="141821"/>
                </a:solidFill>
                <a:latin typeface="Calibri"/>
              </a:rPr>
              <a:t>Live reload across MFEs. </a:t>
            </a:r>
            <a:r>
              <a:rPr sz="1300">
                <a:solidFill>
                  <a:srgbClr val="141821"/>
                </a:solidFill>
                <a:latin typeface="Calibri"/>
              </a:rPr>
              <a:t>Both Native + Module Federation play nice with the dev server.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8 ·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9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08415" y="457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C48221"/>
                </a:solidFill>
                <a:latin typeface="Calibri"/>
              </a:rPr>
              <a:t>FOR ARCHITECTS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Phased delivery — M1 to v1.0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0911535" cy="4114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2763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Theme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7380"/>
                </a:solidFill>
                <a:latin typeface="Calibri"/>
              </a:rPr>
              <a:t>Ships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1488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26771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41821"/>
                </a:solidFill>
                <a:latin typeface="Calibri"/>
              </a:rPr>
              <a:t>AG-UI parity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267712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ToolRegistry, ComponentRegistry, BackendRegistry, ChatShell, /testing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293522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93522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054096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41821"/>
                </a:solidFill>
                <a:latin typeface="Calibri"/>
              </a:rPr>
              <a:t>Schematics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054096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ng-add, tool, widget, backend, agent-server, snapshot tests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372160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72160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8404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41821"/>
                </a:solidFill>
                <a:latin typeface="Calibri"/>
              </a:rPr>
              <a:t>MFE + A2UI +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8404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CapabilityRegistry, MfeRegistry, A2uiBackend, both federation paths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450799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35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50799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26864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41821"/>
                </a:solidFill>
                <a:latin typeface="Calibri"/>
              </a:rPr>
              <a:t>Hashbrown + Extended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626864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ActionRegistry, IntentRegistry, FormRegistry, ValidationRegistry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29437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29437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1324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41821"/>
                </a:solidFill>
                <a:latin typeface="Calibri"/>
              </a:rPr>
              <a:t>Polish + 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413248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63D49"/>
                </a:solidFill>
                <a:latin typeface="Calibri"/>
              </a:rPr>
              <a:t>DataSource/Persistence/Layout/SchemaTransformer · MCP · v1.0 release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9 · Roadmap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8221"/>
                </a:solidFill>
                <a:latin typeface="Calibri"/>
              </a:rPr>
              <a:t>10 · CALL TO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914400" cy="22860"/>
          </a:xfrm>
          <a:prstGeom prst="rect">
            <a:avLst/>
          </a:prstGeom>
          <a:solidFill>
            <a:srgbClr val="C48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Where you can plug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0D9"/>
                </a:solidFill>
                <a:latin typeface="Calibri"/>
              </a:rPr>
              <a:t>Three concrete next steps — pick the row that matches your role.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0896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48221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3558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EXECUTIVES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273552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Authorise a two-week pilot.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657600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0D9"/>
                </a:solidFill>
                <a:latin typeface="Calibri"/>
              </a:rPr>
              <a:t>Agentic chat retro-fit into your most-used internal app, MIT licensed.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6908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48221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159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ARCHITECTS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233672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Read ADR-006 (MCP) + ADR-007 (eDiscovery). Spike a remote in your repo.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617720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0D9"/>
                </a:solidFill>
                <a:latin typeface="Calibri"/>
              </a:rPr>
              <a:t>Conformance suite + cookbook ship in /testing.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2920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2120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48221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27608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48221"/>
                </a:solidFill>
                <a:latin typeface="Calibri"/>
              </a:rPr>
              <a:t>DEVELOPERS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193792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ng add @maverick/agentic-ui. ng g …:tool. ng serve.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577840"/>
            <a:ext cx="78940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0D9"/>
                </a:solidFill>
                <a:latin typeface="Calibri"/>
              </a:rPr>
              <a:t>30 minutes from clone to running chat — schematics scaffold the rest.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035040"/>
            <a:ext cx="10911535" cy="10972"/>
          </a:xfrm>
          <a:prstGeom prst="rect">
            <a:avLst/>
          </a:prstGeom>
          <a:solidFill>
            <a:srgbClr val="35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8C96A8"/>
                </a:solidFill>
                <a:latin typeface="Calibri"/>
              </a:rPr>
              <a:t>Repository · examples · cookbook · ADRs included     Questions? Reach the team.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7380"/>
                </a:solidFill>
                <a:latin typeface="Calibri"/>
              </a:rP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41821"/>
                </a:solidFill>
                <a:latin typeface="Calibri"/>
              </a:rPr>
              <a:t>Where to go from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914400" cy="228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Repository layout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5212080" cy="4206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49377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ag_ui_maverick/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projects/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agentic-ui/         # publishable lib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agentic-ui-server/  # Node companion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agentic-ui-mcp/     # MCP adapter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examples/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demo-monolith/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demo-shell/  (host)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demo-remote-bookings/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demo-multi-agent/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demo-mcp-server/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demo-ediscovery-{shared,server,shell,review}/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docs/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adr/                # decision records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cookbook/           # how-to guides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architecture/       # system docs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└── PLAN.md                 # full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554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3D"/>
                </a:solidFill>
                <a:latin typeface="Calibri"/>
              </a:rPr>
              <a:t>Recommended reading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965960"/>
            <a:ext cx="54864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README.md </a:t>
            </a:r>
            <a:r>
              <a:rPr sz="1200">
                <a:solidFill>
                  <a:srgbClr val="141821"/>
                </a:solidFill>
                <a:latin typeface="Calibri"/>
              </a:rPr>
              <a:t>5-minute orientation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PLAN.md </a:t>
            </a:r>
            <a:r>
              <a:rPr sz="1200">
                <a:solidFill>
                  <a:srgbClr val="141821"/>
                </a:solidFill>
                <a:latin typeface="Calibri"/>
              </a:rPr>
              <a:t>Full architecture + 5-tier registry model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ADR-006 </a:t>
            </a:r>
            <a:r>
              <a:rPr sz="1200">
                <a:solidFill>
                  <a:srgbClr val="141821"/>
                </a:solidFill>
                <a:latin typeface="Calibri"/>
              </a:rPr>
              <a:t>MCP server-side adapter design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docs/cookbook/ </a:t>
            </a:r>
            <a:r>
              <a:rPr sz="1200">
                <a:solidFill>
                  <a:srgbClr val="141821"/>
                </a:solidFill>
                <a:latin typeface="Calibri"/>
              </a:rPr>
              <a:t>How-to guides for federation, MCP, OTel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examples/demo-feature-tour </a:t>
            </a:r>
            <a:r>
              <a:rPr sz="1200">
                <a:solidFill>
                  <a:srgbClr val="141821"/>
                </a:solidFill>
                <a:latin typeface="Calibri"/>
              </a:rPr>
              <a:t>All 13 registries in one app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examples/demo-ediscovery </a:t>
            </a:r>
            <a:r>
              <a:rPr sz="1200">
                <a:solidFill>
                  <a:srgbClr val="141821"/>
                </a:solidFill>
                <a:latin typeface="Calibri"/>
              </a:rPr>
              <a:t>Enterprise reference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E3A5F"/>
                </a:solidFill>
                <a:latin typeface="Calibri"/>
              </a:rPr>
              <a:t>•  </a:t>
            </a:r>
            <a:r>
              <a:rPr sz="1200" b="1">
                <a:solidFill>
                  <a:srgbClr val="141821"/>
                </a:solidFill>
                <a:latin typeface="Calibri"/>
              </a:rPr>
              <a:t>@maverick/agentic-ui/testing </a:t>
            </a:r>
            <a:r>
              <a:rPr sz="1200">
                <a:solidFill>
                  <a:srgbClr val="141821"/>
                </a:solidFill>
                <a:latin typeface="Calibri"/>
              </a:rPr>
              <a:t>Conformance suite + harness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11535" cy="10972"/>
          </a:xfrm>
          <a:prstGeom prst="rect">
            <a:avLst/>
          </a:prstGeom>
          <a:solidFill>
            <a:srgbClr val="E3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380"/>
                </a:solidFill>
                <a:latin typeface="Calibri"/>
              </a:rPr>
              <a:t>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1091153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A2AAB6"/>
                </a:solidFill>
                <a:latin typeface="Calibri"/>
              </a:rPr>
              <a:t>Maverick — Agentic UI for Angular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49224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380"/>
                </a:solidFill>
                <a:latin typeface="Calibri"/>
              </a:rPr>
              <a:t>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