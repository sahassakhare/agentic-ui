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The deck is structured for three audiences — pick the slides marked for your viewers and skip the rest.</a:t>
            </a:r>
          </a:p>
          <a:p>
            <a:r>
              <a:t>30-minute version: cover, 1, 2, 3, 6, 11, 13, 16, 17, 19, 21, 22, 23 (case study), 25 (matrix), 26-28 (benefits), 29 (CTA).</a:t>
            </a:r>
          </a:p>
          <a:p>
            <a:r>
              <a:t>60-minute version: include AG-UI/Hashbrown/A2UI deep dives and the registry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 Pace this for 30 or 60 minutes — sub-deck markers in speaker notes for each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exec framing. Yesterday was wrappers around an LLM. Today's protocols (AG-UI/Hashbrown/A2UI) make the agent + UI a real surface.</a:t>
            </a:r>
          </a:p>
          <a:p>
            <a:r>
              <a:t>Tomorrow: the UI itself becomes plugin data. We are building for the third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matters now: protocols + tool-calling + MCP + generative UI all matured in a 12-month window.</a:t>
            </a:r>
          </a:p>
          <a:p>
            <a:r>
              <a:t>Buying or building? The protocols change every quarter. A library that abstracts them is the right unit of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AG-UI: most mature, best for server-driven flows where the agent emits streamed text + tool calls + widgets.</a:t>
            </a:r>
          </a:p>
          <a:p>
            <a:r>
              <a:t>Hashbrown: lighter weight, faster to prototype, multi-provider out of the box.</a:t>
            </a:r>
          </a:p>
          <a:p>
            <a:r>
              <a:t>A2UI: distinguishing feature is the ui-action class — the agent can navigate, fill forms, mutate stores. Spec still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 is the one most enterprise teams pick today. The reason: it cleanly maps lifecycle, text, and tool calls to discrete events — easy to log, easy to audit.</a:t>
            </a:r>
          </a:p>
          <a:p>
            <a:r>
              <a:t>Origin: CopilotKit. Anglo/architects.io article is the canonical 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engineers. Each event has a stable schema; AG-UI never embeds free-form payloads at the boundary.</a:t>
            </a:r>
          </a:p>
          <a:p>
            <a:r>
              <a:t>Our adapter @maverick/agentic-ui/ag-ui maps these 1:1 — you can build a debugger by tapping the AgenticBackend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to pick AG-UI: regulated industries, audit-grade trails, server-side tool catalogs.</a:t>
            </a:r>
          </a:p>
          <a:p>
            <a:r>
              <a:t>When NOT: lightweight prototypes, mostly-client-rendered UIs with little server orchestration — Hashbrown is faster to spin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Hashbrown's pitch: thinner protocol, faster start, multi-provider built in.</a:t>
            </a:r>
          </a:p>
          <a:p>
            <a:r>
              <a:t>Trade-off: the lifecycle isn't as crisp, so audit-grade logging needs extra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provider-mux — for an org doing LLM evaluation, Hashbrown lets you swap providers without rewiring the chat shell.</a:t>
            </a:r>
          </a:p>
          <a:p>
            <a:r>
              <a:t>Highlight schema-anchor — Zod schemas are the contract; same library + skill in our schematics.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matrix to share with architects. Not a verdict — a guide.</a:t>
            </a:r>
          </a:p>
          <a:p>
            <a:r>
              <a:t>Most enterprises pick AG-UI for production; Hashbrown for prototyping.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A2UI is younger; specification still evolving. We reserve ui-action in our event union from M1 so the chat shell never breaks when the spec moves.</a:t>
            </a:r>
          </a:p>
          <a:p>
            <a:r>
              <a:t>Same pattern — clickable widgets in our eDiscovery demo dispatch openCustodian/openDocument/openHold actions through ActionRegistry.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for execs: building from scratch is a 6+ month investment. The library is a 2-week pilot.</a:t>
            </a:r>
          </a:p>
          <a:p>
            <a:r>
              <a:t>Production-grade, MIT-licensed, MIT-friendly. No vendor lock-in to a paid SaaS.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layers, one library. Ergonomic seam between every pair.</a:t>
            </a:r>
          </a:p>
          <a:p>
            <a:r>
              <a:t>The chat shell never knows which protocol is in use; the protocol adapter never knows about MFEs; the federation runtime is orthogonal.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registries sound like a lot — pay attention to the tiers. Most apps will only ever populate Tool + Component.</a:t>
            </a:r>
          </a:p>
          <a:p>
            <a:r>
              <a:t>Adding a new registry is ~30 LOC because they all share a base; cost per registry is sublinear.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engineers. The chat shell is protocol-agnostic; only the backend adapter knows the wire format.</a:t>
            </a:r>
          </a:p>
          <a:p>
            <a:r>
              <a:t>Adding a new protocol is implementing this one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federation paths are first-class — neither is a side branch.</a:t>
            </a:r>
          </a:p>
          <a:p>
            <a:r>
              <a:t>Switch via `ng add @maverick/agentic-ui --federation=native` vs `--federation=module-federation`.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 win for regulated industries — MCP brings agentic UI into Claude Desktop where many analysts already live.</a:t>
            </a:r>
          </a:p>
          <a:p>
            <a:r>
              <a:t>Demonstrate by walking through demo-mcp-server then opening Claude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sink is no-op; consumer opts in to OTel via @maverick/agentic-ui/otel.</a:t>
            </a:r>
          </a:p>
          <a:p>
            <a:r>
              <a:t>Bundle impact: zero unless they import the otel entry — measured in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developers — the schematics are the value-multiplier.</a:t>
            </a:r>
          </a:p>
          <a:p>
            <a:r>
              <a:t>ng add takes a fresh Angular app to running chat in &lt;2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demos. Pick one for each audience.</a:t>
            </a:r>
          </a:p>
          <a:p>
            <a:r>
              <a:t>demo-ediscovery is the headline — full enterprise pattern with federation + audit + multi-persona.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eDiscovery demo is the headline. Production-grade patterns, not a prototype.</a:t>
            </a:r>
          </a:p>
          <a:p>
            <a:r>
              <a:t>Acceptable for demos to senior counsel, security review boards, and engineering leadership.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try to pick one protocol. Pick by use case — the library lets you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 talk track. Six bullets, nothing technical — focus on derisking and time-to-value.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 framing. Highlight that every risk in §11 of the plan has a documented detection signal + contingency.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 framing. Show the schematics demo at the end — typically the moment that lands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architects evaluating maturity. M1-M3 shipped; M4-M5 in 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Three asks per audience. Short, concrete, low-friction.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slide. Hand-off to the audience — every box on the left has its own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50292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795528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MAVERICK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33271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EF2FF"/>
                </a:solidFill>
                <a:latin typeface="Calibri"/>
              </a:rPr>
              <a:t>AGENTIC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Agentic UI for Angular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EEF2FF"/>
                </a:solidFill>
                <a:latin typeface="Calibri"/>
              </a:rPr>
              <a:t>AG-UI · Hashbrown · A2UI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7D2FE"/>
                </a:solidFill>
                <a:latin typeface="Calibri"/>
              </a:rPr>
              <a:t>One library. Three protocols. Microfrontend-native.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Senior executives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521208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5212080"/>
            <a:ext cx="1920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Solution architects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52120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5212080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Developers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An overview deck — features · examples · benefits · capabilities · roadmap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What you'll leave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The shift. </a:t>
            </a:r>
            <a:r>
              <a:rPr sz="1600">
                <a:solidFill>
                  <a:srgbClr val="0F172A"/>
                </a:solidFill>
                <a:latin typeface="Calibri"/>
              </a:rPr>
              <a:t>Why agentic UIs are the next interface paradigm — and the protocol problem nobody owns.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Three protocols. </a:t>
            </a:r>
            <a:r>
              <a:rPr sz="1600">
                <a:solidFill>
                  <a:srgbClr val="0F172A"/>
                </a:solidFill>
                <a:latin typeface="Calibri"/>
              </a:rPr>
              <a:t>AG-UI, Hashbrown, A2UI — origin, model, fit, gaps.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One library. </a:t>
            </a:r>
            <a:r>
              <a:rPr sz="1600">
                <a:solidFill>
                  <a:srgbClr val="0F172A"/>
                </a:solidFill>
                <a:latin typeface="Calibri"/>
              </a:rPr>
              <a:t>@maverick/agentic-ui — 13 registries, MFE-native, MCP-ready, telemetry-instrumented.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Working examples. </a:t>
            </a:r>
            <a:r>
              <a:rPr sz="1600">
                <a:solidFill>
                  <a:srgbClr val="0F172A"/>
                </a:solidFill>
                <a:latin typeface="Calibri"/>
              </a:rPr>
              <a:t>demo-monolith, demo-shell + remotes, demo-multi-agent, demo-ediscovery — all in this repo.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Decision frameworks. </a:t>
            </a:r>
            <a:r>
              <a:rPr sz="1600">
                <a:solidFill>
                  <a:srgbClr val="0F172A"/>
                </a:solidFill>
                <a:latin typeface="Calibri"/>
              </a:rPr>
              <a:t>Protocol matrix, when-to-use guide, persona-by-persona benefit map.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Roadmap &amp; CTA. </a:t>
            </a:r>
            <a:r>
              <a:rPr sz="1600">
                <a:solidFill>
                  <a:srgbClr val="0F172A"/>
                </a:solidFill>
                <a:latin typeface="Calibri"/>
              </a:rPr>
              <a:t>Where it's going through v1.0 — and where you can plug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1 · 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From chatbots to agentic UIs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515258" cy="5486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Yesterday — chatbots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Text-only conversation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Apps wired to LLMs as a fancy autocomplete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Hand-coded handlers per use case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No structured affordances — every flow re-debated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8218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8218" y="1554480"/>
            <a:ext cx="3515258" cy="54864"/>
          </a:xfrm>
          <a:prstGeom prst="rect">
            <a:avLst/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127A3"/>
                </a:solidFill>
                <a:latin typeface="Calibri"/>
              </a:rPr>
              <a:t>Today — agentic UIs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Tool-call protocols (AG-UI / Hashbrown / A2UI)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Generative UI: LLM emits widgets, host renders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Multi-agent orchestration with sticky routing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MCP server for analyst workstations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6356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6356" y="1554480"/>
            <a:ext cx="3515258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4956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Calibri"/>
              </a:rPr>
              <a:t>Tomorrow — agent-native apps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4956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UI itself is plug-in registry data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Federated remotes contribute capabilities mid-session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Audit-grade observability across LLM ↔ tool ↔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Persona-scoped governance baked 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1 · The 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 / 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1 · 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LLM-native tool calling matured. </a:t>
            </a:r>
            <a:r>
              <a:rPr sz="1400">
                <a:solidFill>
                  <a:srgbClr val="0F172A"/>
                </a:solidFill>
                <a:latin typeface="Calibri"/>
              </a:rPr>
              <a:t>OpenAI, Anthropic, Google, Mistral all ship structured tool calls. Quality and latency now meet enterprise bars.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Three competing protocols emerged. </a:t>
            </a:r>
            <a:r>
              <a:rPr sz="1400">
                <a:solidFill>
                  <a:srgbClr val="0F172A"/>
                </a:solidFill>
                <a:latin typeface="Calibri"/>
              </a:rPr>
              <a:t>AG-UI from CopilotKit, Hashbrown from Liquid Frontiers, A2UI from a multi-vendor consortium. Each is the leader in a slice.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MCP standardised the server side. </a:t>
            </a:r>
            <a:r>
              <a:rPr sz="1400">
                <a:solidFill>
                  <a:srgbClr val="0F172A"/>
                </a:solidFill>
                <a:latin typeface="Calibri"/>
              </a:rPr>
              <a:t>Anthropic's Model Context Protocol made tool definitions portable across analyst workstations (Claude Desktop, Cursor, Zed).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Generative UI moved past PoC. </a:t>
            </a:r>
            <a:r>
              <a:rPr sz="1400">
                <a:solidFill>
                  <a:srgbClr val="0F172A"/>
                </a:solidFill>
                <a:latin typeface="Calibri"/>
              </a:rPr>
              <a:t>LLMs reliably emit JSON specifying widget + props; Angular signals + dynamic component loader make rendering trivial.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Regulated industries are catching up. </a:t>
            </a:r>
            <a:r>
              <a:rPr sz="1400">
                <a:solidFill>
                  <a:srgbClr val="0F172A"/>
                </a:solidFill>
                <a:latin typeface="Calibri"/>
              </a:rPr>
              <a:t>Legal, healthcare, finance — all need defensible audit trails. The agentic UI substrate has to ship them by default.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1 · The shift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1 · 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Three protocols, one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3566160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By CopilotKit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Streaming via SSE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Lifecycle + tool-call events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Generative UI via show-component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Mature client implementation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Best for: server-driven agent flows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645920"/>
            <a:ext cx="356616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By Liquid Frontiers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UI-generation streams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Widget + props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Multi-provider (OpenAI, Google)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Lighter than AG-UI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Best for: rapid generative-UI demos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64592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A2UI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Calibri"/>
              </a:rPr>
              <a:t>By Multi-vendor consortium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ui-action event 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Agent drives the whole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Action-driven (not just tool-driven)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Spec still evolving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Best for: agent-driven nav +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692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127A3"/>
                </a:solidFill>
                <a:latin typeface="Calibri"/>
              </a:rPr>
              <a:t>@maverick/agentic-ui — one AgenticBackend abstraction; chat shell, registries, and widgets stay protocol-agnostic.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1 · The shift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 /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2 · AG-UI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Open protocol for agent ↔ UI communication, originated by CopilotKit.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Transport-agnostic. </a:t>
            </a:r>
            <a:r>
              <a:rPr sz="1300">
                <a:solidFill>
                  <a:srgbClr val="0F172A"/>
                </a:solidFill>
                <a:latin typeface="Calibri"/>
              </a:rPr>
              <a:t>SSE in practice; WebSocket and plain HTTP also valid carriers.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Message-based. </a:t>
            </a:r>
            <a:r>
              <a:rPr sz="1300">
                <a:solidFill>
                  <a:srgbClr val="0F172A"/>
                </a:solidFill>
                <a:latin typeface="Calibri"/>
              </a:rPr>
              <a:t>Discrete event types — RUN_STARTED, TEXT_MESSAGE_*, TOOL_CALL_*, RUN_FINISHED — not a free-form stream.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Tool-call first-class. </a:t>
            </a:r>
            <a:r>
              <a:rPr sz="1300">
                <a:solidFill>
                  <a:srgbClr val="0F172A"/>
                </a:solidFill>
                <a:latin typeface="Calibri"/>
              </a:rPr>
              <a:t>Distinguishes server-side tools (run on the agent host) from client-side tools (run in the browser).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Generative UI by convention. </a:t>
            </a:r>
            <a:r>
              <a:rPr sz="1300">
                <a:solidFill>
                  <a:srgbClr val="0F172A"/>
                </a:solidFill>
                <a:latin typeface="Calibri"/>
              </a:rPr>
              <a:t>Reserved show-component tool whose result tells the host which registered widget to render.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Reference implementation. </a:t>
            </a:r>
            <a:r>
              <a:rPr sz="1300">
                <a:solidFill>
                  <a:srgbClr val="0F172A"/>
                </a:solidFill>
                <a:latin typeface="Calibri"/>
              </a:rPr>
              <a:t>@ag-ui/client — the runUntilSettled loop + HttpAgent SSE adapter — is the canonical client.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Adoption. </a:t>
            </a:r>
            <a:r>
              <a:rPr sz="1300">
                <a:solidFill>
                  <a:srgbClr val="0F172A"/>
                </a:solidFill>
                <a:latin typeface="Calibri"/>
              </a:rPr>
              <a:t>CopilotKit, AG-UI Studio, multiple Mastra-based agent backends, several Angular and React reference apps.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2 · AG-UI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 / 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2 · AG-UI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Event model — the wire format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146304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783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F46E5"/>
                </a:solidFill>
                <a:latin typeface="Calibri"/>
              </a:rPr>
              <a:t>Lifecycle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Menlo"/>
              </a:rPr>
              <a:t>RUN_STARTED  ·  RUN_FINISHED  ·  RUN_ERROR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34640"/>
            <a:ext cx="146304" cy="9144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284C7"/>
                </a:solidFill>
                <a:latin typeface="Calibri"/>
              </a:rPr>
              <a:t>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Menlo"/>
              </a:rPr>
              <a:t>TEXT_MESSAGE_START  ·  TEXT_MESSAGE_CONTENT  ·  TEXT_MESSAGE_END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886200"/>
            <a:ext cx="146304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Tool calls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51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Menlo"/>
              </a:rPr>
              <a:t>TOOL_CALL_START  ·  TOOL_CALL_ARGS  ·  TOOL_CALL_END  ·  TOOL_CALL_RESULT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937760"/>
            <a:ext cx="146304" cy="914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Generative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303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Menlo"/>
              </a:rPr>
              <a:t>WIDGET_RENDER (synth from show-component)  ·  UI_ACTION (A2UI extension)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Mapped 1:1 in @maverick/agentic-ui's AgenticBackend.run() event union — adapters never re-shape the model.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2 · AG-UI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 / 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2 · AG-UI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Capabilities &amp; where it 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4864" cy="4572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Calibri"/>
              </a:rPr>
              <a:t>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Cleanest event model of the three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Server-side tool execution baked 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SSE — proxies and CDNs handle it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Mature CopilotKit + Mastra ecosystem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Trace-friendly: each event is a structured record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Best fit for compliance / audit / regulated domains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554480"/>
            <a:ext cx="54864" cy="4572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97706"/>
                </a:solidFill>
                <a:latin typeface="Calibri"/>
              </a:rPr>
              <a:t>Trade-offs /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Heavier than Hashbrown — more events to handle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ui-action / agent-driven nav not in core spec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Generative UI is via convention, not a first-class event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No standard form schema — apps roll their own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Per-protocol adapter still required (we provide 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2 · AG-UI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 / 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3 · HASHBROWN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Open framework from Liquid Frontiers focused on generative UI and tool-calling.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UI-generation native. </a:t>
            </a:r>
            <a:r>
              <a:rPr sz="1300">
                <a:solidFill>
                  <a:srgbClr val="0F172A"/>
                </a:solidFill>
                <a:latin typeface="Calibri"/>
              </a:rPr>
              <a:t>Hashbrown's streams emit component + props directly — no show-component shim required.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Multi-provider out of the box. </a:t>
            </a:r>
            <a:r>
              <a:rPr sz="1300">
                <a:solidFill>
                  <a:srgbClr val="0F172A"/>
                </a:solidFill>
                <a:latin typeface="Calibri"/>
              </a:rPr>
              <a:t>OpenAI, Google, and Anthropic — swap providers via a config flag.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Smaller surface than AG-UI. </a:t>
            </a:r>
            <a:r>
              <a:rPr sz="1300">
                <a:solidFill>
                  <a:srgbClr val="0F172A"/>
                </a:solidFill>
                <a:latin typeface="Calibri"/>
              </a:rPr>
              <a:t>Fewer event types; lifecycle is implicit in stream open/close.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React-first heritage. </a:t>
            </a:r>
            <a:r>
              <a:rPr sz="1300">
                <a:solidFill>
                  <a:srgbClr val="0F172A"/>
                </a:solidFill>
                <a:latin typeface="Calibri"/>
              </a:rPr>
              <a:t>Original target was React; Angular adapter is recent. Our wrapper makes it idiomatic for either.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Schema-driven UI generation. </a:t>
            </a:r>
            <a:r>
              <a:rPr sz="1300">
                <a:solidFill>
                  <a:srgbClr val="0F172A"/>
                </a:solidFill>
                <a:latin typeface="Calibri"/>
              </a:rPr>
              <a:t>Zod-based component schemas anchor the LLM's structured output.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Best fit. </a:t>
            </a:r>
            <a:r>
              <a:rPr sz="1300">
                <a:solidFill>
                  <a:srgbClr val="0F172A"/>
                </a:solidFill>
                <a:latin typeface="Calibri"/>
              </a:rPr>
              <a:t>Rapid prototypes, demo-heavy generative UI, multi-LLM A/B comparisons.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3 · Hashbrown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 / 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3 · HASHBROWN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Features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1051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1051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ui-stream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85623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Emits widget + props natively — no shim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68296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487168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text-stream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532888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Token-level text deltas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44952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63824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tool-stream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09544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Function-call args +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21608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38404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40480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provider-mux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886200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Switch OpenAI ↔ Google ↔ Anthropic at runtime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398264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517136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17136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schema-anchor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4562856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Zod schemas anchor structured LLM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07492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519379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9379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react-bridge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523951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First-class React; Angular via wrapper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3 · Hashbrown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10 / 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3 · HASHBROWN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Hashbrown vs AG-UI — when to pick what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Hashbrown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276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Lifecycle clarity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Implicit (stream open/close)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Explicit (RUN_STARTED/FINISHED)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0574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05740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AG-UI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615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Generative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61518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Native (UI-stream)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1518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Convention (show-component)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609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266090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Hashbrown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Audit-grade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21868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Needs work — synth lifecycle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1868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Drop-in — events are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26440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3264408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AG-UI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822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Time-to-first-prompt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82219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Hours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221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Day or two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386791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3867912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Hashbrown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25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Multi-provider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42569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Built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42569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Adapter per provider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471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471416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Hashbrown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029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Server-side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29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Adapter needed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First-class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5074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50749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AG-UI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3270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Spec stability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563270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Smaller surface · stable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63270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Larger surface · stable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92640" y="5678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567842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Calibri"/>
              </a:rPr>
              <a:t>Tie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3 · Hashbrown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11 / 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4 · A2UI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Agent-driven UI — ui-action as a class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A2UI lifts the agent from 'calls tools' to 'drives the whole UI'.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Distinguishing event class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06040"/>
            <a:ext cx="10911535" cy="1463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{ type: 'ui-action',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actionId: 'a-7f2e',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op: 'navigate',          // or 'applyTag', 'fillForm', 'openDrawer',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payload: { path: '/documents', queryParams: { id: 'DOC-1234' } }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F46E5"/>
                </a:solidFill>
                <a:latin typeface="Calibri"/>
              </a:rPr>
              <a:t>Where it shines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109115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>
                <a:solidFill>
                  <a:srgbClr val="0F172A"/>
                </a:solidFill>
                <a:latin typeface="Calibri"/>
              </a:rPr>
              <a:t>Agent navigates to a route after a tool call settles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>
                <a:solidFill>
                  <a:srgbClr val="0F172A"/>
                </a:solidFill>
                <a:latin typeface="Calibri"/>
              </a:rPr>
              <a:t>Form-fill flows where the agent populates fields the user verifies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>
                <a:solidFill>
                  <a:srgbClr val="0F172A"/>
                </a:solidFill>
                <a:latin typeface="Calibri"/>
              </a:rPr>
              <a:t>State mutations dispatched into NgRx / Redux without a separate tool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>
                <a:solidFill>
                  <a:srgbClr val="0F172A"/>
                </a:solidFill>
                <a:latin typeface="Calibri"/>
              </a:rPr>
              <a:t>Cross-MFE coordination — one remote raises an action a different remote handles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4 · A2UI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12 / 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Why a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Three protocols, four bundlers, two MFE runtimes, and an MCP transport — that's not a library, that's a forklift.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Calibri"/>
              </a:rPr>
              <a:t>What you'd build without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Per-protocol chat shell, three times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Hand-rolled tool registry, ad hoc per app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Bespoke MFE federation glue for each remote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MCP server scaffolding from scratch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Telemetry stitched in late, never quite consistent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Schematics: none — every team retypes the bootstrap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286000"/>
            <a:ext cx="5212080" cy="402336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423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What @maverick/agentic-ui ships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880360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One AgenticBackend interface — three adapters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13 typed registries, one base class, signal-backed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Native + Module Federation, both first-class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@maverick/agentic-ui-mcp wraps tools as MCP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OTel-instrumented from M1; default no-op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ng add scaffolds an entire app in one command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13 / 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Architecture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10911535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146304" cy="6858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01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UI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56232"/>
            <a:ext cx="8168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ChatShell · WidgetContainer · FormRenderer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50592"/>
            <a:ext cx="10911535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450592"/>
            <a:ext cx="146304" cy="685800"/>
          </a:xfrm>
          <a:prstGeom prst="rect">
            <a:avLst/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Calibri"/>
              </a:rPr>
              <a:t>Agentic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15184"/>
            <a:ext cx="8168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injectAgenticChat() · runUntilSettled · resource()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09544"/>
            <a:ext cx="10911535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09544"/>
            <a:ext cx="146304" cy="6858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192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Calibri"/>
              </a:rPr>
              <a:t>Registry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374136"/>
            <a:ext cx="8168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13 registries — Tool, Component, Action, Form,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68496"/>
            <a:ext cx="10911535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968496"/>
            <a:ext cx="146304" cy="6858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Calibri"/>
              </a:rPr>
              <a:t>Backend adapters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33088"/>
            <a:ext cx="8168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AgUiBackend · HashbrownBackend · A2uiBackend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727448"/>
            <a:ext cx="10911535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27448"/>
            <a:ext cx="146304" cy="685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37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  <a:latin typeface="Calibri"/>
              </a:rPr>
              <a:t>Federation runtime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892040"/>
            <a:ext cx="8168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Native Federation + Module Federation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486400"/>
            <a:ext cx="10911535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486400"/>
            <a:ext cx="146304" cy="685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5961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Remotes / MCP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650992"/>
            <a:ext cx="8168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CapabilityModule · MfeRegistryClient · MCP server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1264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Cross-cutting: AgenticTelemetrySink · AgenticLogger — every layer pushes events; OTel exporter via /otel.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14 / 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13 registries — the data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All 13 implement one Registry&lt;TDef&gt; interface — same MFE-aware teardown, same signal contract, same conformance test surface.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3515258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3515258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40280"/>
            <a:ext cx="314949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Core (M1–M3)
chat shell depends on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314949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ToolRegistry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ComponentRegistry  (alias WidgetRegistry)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CapabilityRegistry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BackendRegistry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MfeRegistry  (external)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03120"/>
            <a:ext cx="3515258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2103120"/>
            <a:ext cx="3515258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2240280"/>
            <a:ext cx="314949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Calibri"/>
              </a:rPr>
              <a:t>Extended (M4–M5)
full agent-driven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1098" y="2971800"/>
            <a:ext cx="314949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ActionRegistry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IntentRegistry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FormRegistry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DataSourceRegistry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6356" y="2103120"/>
            <a:ext cx="3515258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6356" y="2103120"/>
            <a:ext cx="351525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2240280"/>
            <a:ext cx="314949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  <a:latin typeface="Calibri"/>
              </a:rPr>
              <a:t>Seams (M4–M5)
interface + thin default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9236" y="2971800"/>
            <a:ext cx="314949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ValidationRegistry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PersistenceRegistry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LayoutRegistry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SchemaTransformerRegistry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15 / 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AgenticBackend — the abstraction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11535" cy="3383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0637215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interface AgenticBackend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id: string;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capabilities: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streaming: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clientTools: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generativeUi: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uiActions: boolean;     // A2UI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run(input: AgenticRunInput): AsyncIterable&lt;AgenticEvent&gt;;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reset?(threadId: string): Promise&lt;void&gt;;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12 events: run-started, text-delta, tool-call-*, widget-render, ui-action,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type AgenticEvent =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'run-started'; threadId: string; runId: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'text-delta'; messageId: string; delta: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'tool-call-result'; toolCallId: string; result: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'widget-render'; widgetCallId: string; name: string; props: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'ui-action'; actionId: string; op: string; payload: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… 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The chat shell sees ONLY this surface. AgUiBackend, HashbrownBackend, A2uiBackend implement it — capability flags drive feature-detection in the UI.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16 / 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Microfrontend federation — capability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Discover. </a:t>
            </a:r>
            <a:r>
              <a:rPr sz="1300">
                <a:solidFill>
                  <a:srgbClr val="0F172A"/>
                </a:solidFill>
                <a:latin typeface="Calibri"/>
              </a:rPr>
              <a:t>MfeRegistryClient.discover(env) — Spring Boot or static-JSON adapter.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Lazy-load. </a:t>
            </a:r>
            <a:r>
              <a:rPr sz="1300">
                <a:solidFill>
                  <a:srgbClr val="0F172A"/>
                </a:solidFill>
                <a:latin typeface="Calibri"/>
              </a:rPr>
              <a:t>loadRemoteModule({ remoteName, exposedModule: './Capability' }).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Register. </a:t>
            </a:r>
            <a:r>
              <a:rPr sz="1300">
                <a:solidFill>
                  <a:srgbClr val="0F172A"/>
                </a:solidFill>
                <a:latin typeface="Calibri"/>
              </a:rPr>
              <a:t>Remote's defineCapabilityModule pushes into ToolRegistry / ComponentRegistry / ActionRegistry.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Teardown. </a:t>
            </a:r>
            <a:r>
              <a:rPr sz="1300">
                <a:solidFill>
                  <a:srgbClr val="0F172A"/>
                </a:solidFill>
                <a:latin typeface="Calibri"/>
              </a:rPr>
              <a:t>removeBySource('remote:bookings') runs across every registry in one pass; signals notify subscribers.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127A3"/>
                </a:solidFill>
                <a:latin typeface="Calibri"/>
              </a:rPr>
              <a:t>Native Federation (default)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Backed by @angular-architects/native-federation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esbuild-compatible — Angular CLI default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Smaller bundle, faster cold start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Calibri"/>
              </a:rPr>
              <a:t>Module Federation (peer)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Backed by @module-federation/runtime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webpack — for teams already on it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Same CapabilityModule format · same capabilities.json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17 / 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MCP integration — analyst workstation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@maverick/agentic-ui-mcp — the same ToolDefs power Claude Desktop, Cursor, 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911535" cy="3108960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127A3"/>
                </a:solidFill>
                <a:latin typeface="Calibri"/>
              </a:rPr>
              <a:t>One handler, multiple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agenticTool({ ... }) — same factory the chat shell uses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mcpToolBridge(tools) — exposes them as an MCP server with a Node binary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MCP UI: tool results carry html field → text/html;profile=mcp-app blocks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Per-user MCP server pattern — beforeCall stub auth → real OIDC swap-in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Cookbook: paralegal privilege review in Claude Desktop using the eDiscovery toolset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127A3"/>
                </a:solidFill>
                <a:latin typeface="Calibri"/>
              </a:rPr>
              <a:t>Result: agents that work in your web app AND in your analysts' IDE — same audit trail, same governance.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18 / 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Observability — OTel from M1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Distributed tracing for chat shell → backend → SSE route → agent → LLM → tool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10911535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1091153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Span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31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Kind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331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Key attributes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97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thread_id, run_id, backend.id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004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agentic.backend.stream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http.url, http.status_code, traceparent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agentic.tool_call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033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703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tool.name, tool.source, success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agentic.federation.load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206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remote_name, version, federation, load_ms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7091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agentic.registry.register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7091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709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registry.name, 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Calibri"/>
              </a:rPr>
              <a:t>W3C traceparent propagated across the SSE boundary — one trace covers UI to LLM.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19 / 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Schematics — ng add → fully wired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@maverick/agentic-ui-schematics — six generators ship with the package.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0911535" cy="228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$ ng add @maverick/agentic-ui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--backend=ag-ui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--mfe=host --federation=native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--registry=spring-boot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--server=mastra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--telemetry=otel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Patches app.config.ts · seeds tools/widgets · scaffolds federation ·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wires Mastra agent server · adds OTel collector config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F46E5"/>
                </a:solidFill>
                <a:latin typeface="Calibri"/>
              </a:rPr>
              <a:t>Per-artefact generators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1153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…:tool </a:t>
            </a:r>
            <a:r>
              <a:rPr sz="1200">
                <a:solidFill>
                  <a:srgbClr val="0F172A"/>
                </a:solidFill>
                <a:latin typeface="Calibri"/>
              </a:rPr>
              <a:t>*.tool.ts with Zod schema scaffold; auto-registers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…:widget </a:t>
            </a:r>
            <a:r>
              <a:rPr sz="1200">
                <a:solidFill>
                  <a:srgbClr val="0F172A"/>
                </a:solidFill>
                <a:latin typeface="Calibri"/>
              </a:rPr>
              <a:t>Standalone component + Zod props schema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…:backend </a:t>
            </a:r>
            <a:r>
              <a:rPr sz="1200">
                <a:solidFill>
                  <a:srgbClr val="0F172A"/>
                </a:solidFill>
                <a:latin typeface="Calibri"/>
              </a:rPr>
              <a:t>Custom AgenticBackend with FakeAgenticBackend test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…:mfe-capability </a:t>
            </a:r>
            <a:r>
              <a:rPr sz="1200">
                <a:solidFill>
                  <a:srgbClr val="0F172A"/>
                </a:solidFill>
                <a:latin typeface="Calibri"/>
              </a:rPr>
              <a:t>Federation expose + capabilities.json manifest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…:agent-server </a:t>
            </a:r>
            <a:r>
              <a:rPr sz="1200">
                <a:solidFill>
                  <a:srgbClr val="0F172A"/>
                </a:solidFill>
                <a:latin typeface="Calibri"/>
              </a:rPr>
              <a:t>Mastra agent + AG-UI SSE route + memory store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…:chat-shell </a:t>
            </a:r>
            <a:r>
              <a:rPr sz="1200">
                <a:solidFill>
                  <a:srgbClr val="0F172A"/>
                </a:solidFill>
                <a:latin typeface="Calibri"/>
              </a:rPr>
              <a:t>Routed component using &lt;mvk-chat-shell&gt;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20 / 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6 ·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Five demos in this repo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What it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Library features exercised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0574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demo-monolith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574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Single-app AG-UI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20574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M1 baseline · same shape as flights42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77063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demo-feature-tour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77063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All 13 registries in one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770632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ActionRegistry, FormRegistry, IntentRegistry, DataSource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8386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demo-shell + remotes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83864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Native Federation host + bookings/loyalty/support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483864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Capability handoff · prefetchCapabilities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19709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demo-multi-agent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197096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OrchestratorAgent + specialists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197096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Sticky routing · ThreadStateStore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1032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demo-mcp-server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910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Tools as MCP 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491032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Claude Desktop · MCP UI · per-user instances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23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demo-ediscovery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6235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Enterprise reference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562356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Federated review remote · audit trail · 5 personas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6 · Examples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21 / 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6 ·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Case study — eDiscovery reference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Multi-pane enterprise app: matter dashboard · documents · custodians · holds · audit trail · MCP-powered analyst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7315200" cy="4206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127A3"/>
                </a:solidFill>
                <a:latin typeface="Calibri"/>
              </a:rPr>
              <a:t>What ships in the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5 collection tools (custodian intake, legal-hold lifecycle)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4 review tools (search, tag, mark privileged, privilege log)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Federated review remote — Native Federation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Multi-agent orchestrator: collection + review specialists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Three-pane UI: sidebar nav · routed pages · collapsible chat rail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Documents page with sortable table + filters + slide-in drawer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Audit trail page with action-family filters + JSON state-diff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Click-to-navigate: tool-result widgets dispatch openX actions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5 personas with allow-listed tools (Phase 7 permission shim)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2194560"/>
            <a:ext cx="3520440" cy="42062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3317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127A3"/>
                </a:solidFill>
                <a:latin typeface="Calibri"/>
              </a:rPr>
              <a:t>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74320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28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08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for one contributor (Phases 0–7)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45643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9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82219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across 2 specialists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16966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44 KB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53542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initial transfer (gzip 15 KB)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882896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13 spans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248656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instrumented per 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59612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5 routes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96188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lazy-loaded · ~3-9 KB each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6 · 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22 /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7 ·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When to use what — a guide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Reach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Single-app · regulated · audit-heavy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4028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4028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0779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Multi-provider eval · rapid prototype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95351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953512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21024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Agent navigates / fills forms / mutates 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666744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666744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A2UI (over AG-UI 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334256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Multiple teams · independent deploys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379976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379976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MFE federation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47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Analyst desktops · IDE-native agents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93208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5093208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MCP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60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Compliance +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580644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580644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Telemetry sink → audit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7 · Decisions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23 / 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8 ·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For senior executives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Faster time-to-pilot. </a:t>
            </a:r>
            <a:r>
              <a:rPr sz="1400">
                <a:solidFill>
                  <a:srgbClr val="0F172A"/>
                </a:solidFill>
                <a:latin typeface="Calibri"/>
              </a:rPr>
              <a:t>ng add → working chat in 2 minutes. 6 months of in-house plumbing avoided.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Vendor agnosticism. </a:t>
            </a:r>
            <a:r>
              <a:rPr sz="1400">
                <a:solidFill>
                  <a:srgbClr val="0F172A"/>
                </a:solidFill>
                <a:latin typeface="Calibri"/>
              </a:rPr>
              <a:t>AG-UI today, Hashbrown tomorrow, A2UI when it ships v1 — same UI, swap the backend.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Regulated-domain ready. </a:t>
            </a:r>
            <a:r>
              <a:rPr sz="1400">
                <a:solidFill>
                  <a:srgbClr val="0F172A"/>
                </a:solidFill>
                <a:latin typeface="Calibri"/>
              </a:rPr>
              <a:t>Audit-grade telemetry, persona scopes, MCP for analysts — built in, not bolted 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Microfrontend native. </a:t>
            </a:r>
            <a:r>
              <a:rPr sz="1400">
                <a:solidFill>
                  <a:srgbClr val="0F172A"/>
                </a:solidFill>
                <a:latin typeface="Calibri"/>
              </a:rPr>
              <a:t>Multiple teams contribute capabilities into one chat — federation is a first-class seam.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Open license. </a:t>
            </a:r>
            <a:r>
              <a:rPr sz="1400">
                <a:solidFill>
                  <a:srgbClr val="0F172A"/>
                </a:solidFill>
                <a:latin typeface="Calibri"/>
              </a:rPr>
              <a:t>MIT. No SaaS lock-in. Internal forking encouraged.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Reference implementations. </a:t>
            </a:r>
            <a:r>
              <a:rPr sz="1400">
                <a:solidFill>
                  <a:srgbClr val="0F172A"/>
                </a:solidFill>
                <a:latin typeface="Calibri"/>
              </a:rPr>
              <a:t>Six demos including a full eDiscovery app. Blueprint, not a brochure.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8 · Benefits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24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8 ·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For architects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Clean seams. </a:t>
            </a:r>
            <a:r>
              <a:rPr sz="1300">
                <a:solidFill>
                  <a:srgbClr val="0F172A"/>
                </a:solidFill>
                <a:latin typeface="Calibri"/>
              </a:rPr>
              <a:t>AgenticBackend, MfeRegistrySource, Registry&lt;TDef&gt;, AgenticTelemetrySink — every contingency leans on one already in place.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Conformance-tested adapters. </a:t>
            </a:r>
            <a:r>
              <a:rPr sz="1300">
                <a:solidFill>
                  <a:srgbClr val="0F172A"/>
                </a:solidFill>
                <a:latin typeface="Calibri"/>
              </a:rPr>
              <a:t>/testing entry runs the same suite against every backend; capability flags drive feature-detection.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Conflict policies + onDispose. </a:t>
            </a:r>
            <a:r>
              <a:rPr sz="1300">
                <a:solidFill>
                  <a:srgbClr val="0F172A"/>
                </a:solidFill>
                <a:latin typeface="Calibri"/>
              </a:rPr>
              <a:t>Multiple teams may register the same tool name; namespace policies coexist; cleanup is automatic.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Observability by default. </a:t>
            </a:r>
            <a:r>
              <a:rPr sz="1300">
                <a:solidFill>
                  <a:srgbClr val="0F172A"/>
                </a:solidFill>
                <a:latin typeface="Calibri"/>
              </a:rPr>
              <a:t>Distributed tracing across SSE; metrics; logs with trace_id correlation; opt-in OTel exporter.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Two federation paths. </a:t>
            </a:r>
            <a:r>
              <a:rPr sz="1300">
                <a:solidFill>
                  <a:srgbClr val="0F172A"/>
                </a:solidFill>
                <a:latin typeface="Calibri"/>
              </a:rPr>
              <a:t>Native + Module Federation — no second-class citizen; same CapabilityModule shape; pick by bundler.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ADRs documented. </a:t>
            </a:r>
            <a:r>
              <a:rPr sz="1300">
                <a:solidFill>
                  <a:srgbClr val="0F172A"/>
                </a:solidFill>
                <a:latin typeface="Calibri"/>
              </a:rPr>
              <a:t>Six ADRs cover backend abstraction, MCP, federation, conflict policies — context for future decisions.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8 · Benefits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25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8 ·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For developers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Schematics. </a:t>
            </a:r>
            <a:r>
              <a:rPr sz="1300">
                <a:solidFill>
                  <a:srgbClr val="0F172A"/>
                </a:solidFill>
                <a:latin typeface="Calibri"/>
              </a:rPr>
              <a:t>ng add bootstraps an entire workspace. ng g …:tool/widget/backend cuts hours of typing per artefact.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Signal-first APIs. </a:t>
            </a:r>
            <a:r>
              <a:rPr sz="1300">
                <a:solidFill>
                  <a:srgbClr val="0F172A"/>
                </a:solidFill>
                <a:latin typeface="Calibri"/>
              </a:rPr>
              <a:t>ToolRegistry.signal(), CapabilityRegistry.signal() — reactive everywhere; OnPush by default.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Strict TypeScript. </a:t>
            </a:r>
            <a:r>
              <a:rPr sz="1300">
                <a:solidFill>
                  <a:srgbClr val="0F172A"/>
                </a:solidFill>
                <a:latin typeface="Calibri"/>
              </a:rPr>
              <a:t>Zod-anchored payloads; tool args + props inferred; no any in the public API surface.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Testing harness. </a:t>
            </a:r>
            <a:r>
              <a:rPr sz="1300">
                <a:solidFill>
                  <a:srgbClr val="0F172A"/>
                </a:solidFill>
                <a:latin typeface="Calibri"/>
              </a:rPr>
              <a:t>FakeAgenticBackend + harnessChat() in /testing; in-memory AgenticTelemetrySink with custom matchers.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Cookbook entries. </a:t>
            </a:r>
            <a:r>
              <a:rPr sz="1300">
                <a:solidFill>
                  <a:srgbClr val="0F172A"/>
                </a:solidFill>
                <a:latin typeface="Calibri"/>
              </a:rPr>
              <a:t>Every milestone ships a how-to guide — federation at scale, MCP server, observability, persona scopes.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Live reload across MFEs. </a:t>
            </a:r>
            <a:r>
              <a:rPr sz="1300">
                <a:solidFill>
                  <a:srgbClr val="0F172A"/>
                </a:solidFill>
                <a:latin typeface="Calibri"/>
              </a:rPr>
              <a:t>Both Native + Module Federation play nice with the dev server.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8 · Benefits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26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9 ·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Phased delivery — M1 to v1.0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091153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Theme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2763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Ships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1488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148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2677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AG-UI parity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67712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ToolRegistry, ComponentRegistry, BackendRegistry, ChatShell, /testing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293522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93522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054096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Schematics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54096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ng-add, tool, widget, backend, agent-server, snapshot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372160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2160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404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MFE + A2UI +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8404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CapabilityRegistry, MfeRegistry, A2uiBackend, both federation paths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50799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50799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26864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Hashbrown + Extended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26864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ActionRegistry, IntentRegistry, FormRegistry, ValidationRegistry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529437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9437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1324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Polish + governance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413248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DataSource/Persistence/Layout/SchemaTransformer · MCP · v1.0 release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9 · Roadmap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27 / 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50292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EF2FF"/>
                </a:solidFill>
                <a:latin typeface="Calibri"/>
              </a:rPr>
              <a:t>10 ·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Where you can plug 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F"/>
                </a:solidFill>
                <a:latin typeface="Calibri"/>
              </a:rPr>
              <a:t>Senior executives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9631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Authorise a 2-week pilot — agentic chat in your most-used internal 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926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Calibri"/>
              </a:rPr>
              <a:t>Faster than buying.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F"/>
                </a:solidFill>
                <a:latin typeface="Calibri"/>
              </a:rPr>
              <a:t>Architects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77647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Read ADR-006 (MCP) + ADR-007 (eDiscovery). Spike a remote in your repo.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2062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Calibri"/>
              </a:rPr>
              <a:t>Conformance suite + cookbook ship in /testing.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023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F"/>
                </a:solidFill>
                <a:latin typeface="Calibri"/>
              </a:rPr>
              <a:t>Developers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05663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ng add @maverick/agentic-ui. ng g …:tool. ng serve.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486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Calibri"/>
              </a:rPr>
              <a:t>30 minutes from clone to working chat.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80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Repository · examples · cookbook · ADRs included.   Questions? Reach the team.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Where to go from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127A3"/>
                </a:solidFill>
                <a:latin typeface="Calibri"/>
              </a:rPr>
              <a:t>Repository layout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212080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4937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ag_ui_maverick/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projects/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agentic-ui/         # publishable lib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agentic-ui-server/  # Node companion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agentic-ui-mcp/     # MCP adapter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examples/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demo-monolith/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demo-shell/  (host)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demo-remote-bookings/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demo-multi-agent/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demo-mcp-server/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demo-ediscovery-{shared,server,shell,review}/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docs/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adr/                # decision records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cookbook/           # how-to guides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architecture/       # system docs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└── PLAN.md                 # full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127A3"/>
                </a:solidFill>
                <a:latin typeface="Calibri"/>
              </a:rPr>
              <a:t>Recommended reading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965960"/>
            <a:ext cx="5486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README.md </a:t>
            </a:r>
            <a:r>
              <a:rPr sz="1200">
                <a:solidFill>
                  <a:srgbClr val="0F172A"/>
                </a:solidFill>
                <a:latin typeface="Calibri"/>
              </a:rPr>
              <a:t>5-minute orientation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PLAN.md </a:t>
            </a:r>
            <a:r>
              <a:rPr sz="1200">
                <a:solidFill>
                  <a:srgbClr val="0F172A"/>
                </a:solidFill>
                <a:latin typeface="Calibri"/>
              </a:rPr>
              <a:t>Full architecture + 5-tier registry model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ADR-006 </a:t>
            </a:r>
            <a:r>
              <a:rPr sz="1200">
                <a:solidFill>
                  <a:srgbClr val="0F172A"/>
                </a:solidFill>
                <a:latin typeface="Calibri"/>
              </a:rPr>
              <a:t>MCP server-side adapter design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docs/cookbook/ </a:t>
            </a:r>
            <a:r>
              <a:rPr sz="1200">
                <a:solidFill>
                  <a:srgbClr val="0F172A"/>
                </a:solidFill>
                <a:latin typeface="Calibri"/>
              </a:rPr>
              <a:t>How-to guides for federation, MCP, OTel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examples/demo-feature-tour </a:t>
            </a:r>
            <a:r>
              <a:rPr sz="1200">
                <a:solidFill>
                  <a:srgbClr val="0F172A"/>
                </a:solidFill>
                <a:latin typeface="Calibri"/>
              </a:rPr>
              <a:t>All 13 registries in one app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examples/demo-ediscovery </a:t>
            </a:r>
            <a:r>
              <a:rPr sz="1200">
                <a:solidFill>
                  <a:srgbClr val="0F172A"/>
                </a:solidFill>
                <a:latin typeface="Calibri"/>
              </a:rPr>
              <a:t>Enterprise reference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@maverick/agentic-ui/testing </a:t>
            </a:r>
            <a:r>
              <a:rPr sz="1200">
                <a:solidFill>
                  <a:srgbClr val="0F172A"/>
                </a:solidFill>
                <a:latin typeface="Calibri"/>
              </a:rPr>
              <a:t>Conformance suite + harness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29 / 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