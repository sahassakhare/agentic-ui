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Restrained on purpose — strategy/consulting deck convention.</a:t>
            </a:r>
          </a:p>
          <a:p>
            <a:r>
              <a:t>30-minute path: cover, 1, 2, 3, 6, 11, 13, 16, 17, 19, 21, 22, 23, 25, 26-28, 29.</a:t>
            </a:r>
          </a:p>
          <a:p>
            <a:r>
              <a:t>60-minute path: include the AG-UI / Hashbrown deep dives and the registry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 Pace this for 30 or 60 minutes — sub-deck markers in speaker notes for each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exec framing. Yesterday was wrappers around an LLM. Today's protocols (AG-UI/Hashbrown/A2UI) make the agent + UI a real surface.</a:t>
            </a:r>
          </a:p>
          <a:p>
            <a:r>
              <a:t>Tomorrow: the UI itself becomes plugin data. We are building for the third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matters now: protocols + tool-calling + MCP + generative UI all matured in a 12-month window.</a:t>
            </a:r>
          </a:p>
          <a:p>
            <a:r>
              <a:t>Buying or building? The protocols change every quarter. A library that abstracts them is the right unit of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AG-UI: most mature, best for server-driven flows where the agent emits streamed text + tool calls + widgets.</a:t>
            </a:r>
          </a:p>
          <a:p>
            <a:r>
              <a:t>Hashbrown: lighter weight, faster to prototype, multi-provider out of the box.</a:t>
            </a:r>
          </a:p>
          <a:p>
            <a:r>
              <a:t>A2UI: distinguishing feature is the ui-action class — the agent can navigate, fill forms, mutate stores. Spec still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 is the one most enterprise teams pick today. The reason: it cleanly maps lifecycle, text, and tool calls to discrete events — easy to log, easy to audit.</a:t>
            </a:r>
          </a:p>
          <a:p>
            <a:r>
              <a:t>Origin: CopilotKit. Anglo/architects.io article is the canonical 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Real-shape timeline — every event a stable record. This is what makes AG-UI audit-friendly.</a:t>
            </a:r>
          </a:p>
          <a:p>
            <a:r>
              <a:t>Note widget_render is synthesised from show-component tool-call result; it doesn't exist on the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to pick AG-UI: regulated industries, audit-grade trails, server-side tool catalogs.</a:t>
            </a:r>
          </a:p>
          <a:p>
            <a:r>
              <a:t>When NOT: lightweight prototypes, mostly-client-rendered UIs with little server orchestration — Hashbrown is faster to spin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Hashbrown's pitch: thinner protocol, faster start, multi-provider built in.</a:t>
            </a:r>
          </a:p>
          <a:p>
            <a:r>
              <a:t>Trade-off: the lifecycle isn't as crisp, so audit-grade logging needs extra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provider-mux — for an org doing LLM evaluation, Hashbrown lets you swap providers without rewiring the chat shell.</a:t>
            </a:r>
          </a:p>
          <a:p>
            <a:r>
              <a:t>Highlight schema-anchor — Zod schemas are the contract; same library + skill in our schematics.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matrix to share with architects. Not a verdict — a guide.</a:t>
            </a:r>
          </a:p>
          <a:p>
            <a:r>
              <a:t>Most enterprises pick AG-UI for production; Hashbrown for prototyping.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answer to the most common architecture question.</a:t>
            </a:r>
          </a:p>
          <a:p>
            <a:r>
              <a:t>We picked AG-UI for the eDiscovery demo — audit grade matters here. A retail chatbot demo would pick Hashbrown.</a:t>
            </a:r>
          </a:p>
          <a:p>
            <a:r>
              <a:t>The library lets a team start with one and migrate later — no chat-shell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A2UI is younger; specification still evolving. We reserve ui-action in our event union from M1 so the chat shell never breaks when the spec moves.</a:t>
            </a:r>
          </a:p>
          <a:p>
            <a:r>
              <a:t>Same pattern — clickable widgets in our eDiscovery demo dispatch openCustodian/openDocument/openHold actions through ActionRegistry.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for execs: building from scratch is a 6+ month investment. The library is a 2-week pilot.</a:t>
            </a:r>
          </a:p>
          <a:p>
            <a:r>
              <a:t>Production-grade, Apache-2.0 licensed, enterprise-friendly. No vendor lock-in to a paid SaaS.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Topology view. The host browser is the centre — registries are the only shared state.</a:t>
            </a:r>
          </a:p>
          <a:p>
            <a:r>
              <a:t>Federation runtime feeds remotes' capabilities INTO the registry layer; backend adapters ship runs OUT to the agent server / MCP.</a:t>
            </a:r>
          </a:p>
          <a:p>
            <a:r>
              <a:t>Telemetry crosscuts every layer; the OTel exporter ships in /otel and is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Single-slide architecture summary. Trace one prompt: User → ChatShell → ToolFilter (reads ToolRegistry) → AgUiBackend → server route → Orchestrator → Specialist → Gemini → events stream back.</a:t>
            </a:r>
          </a:p>
          <a:p>
            <a:r>
              <a:t>Use this slide as the framing for the rest of the architecture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Hub-and-spoke shows the architectural unity — the base class is the hub, every registry is a spoke with the same shape.</a:t>
            </a:r>
          </a:p>
          <a:p>
            <a:r>
              <a:t>Tier 1 is required for any agentic UI; tiers 2 and 3 are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diagram for federation handoff. Five actors, eight messages.</a:t>
            </a:r>
          </a:p>
          <a:p>
            <a:r>
              <a:t>Note the last message — ToolRegistry's signal notifies the chat shell on the next turn, mid-session, with no reload.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architectural payoff. Three surfaces from one handler — that's why ToolDef is framework-agnostic data.</a:t>
            </a:r>
          </a:p>
          <a:p>
            <a:r>
              <a:t>Demo the eDiscovery review tool: same code path, three viewers see the same custodian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engineers. The chat shell is protocol-agnostic; only the backend adapter knows the wire format.</a:t>
            </a:r>
          </a:p>
          <a:p>
            <a:r>
              <a:t>Adding a new protocol is implementing this one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federation paths are first-class — neither is a side branch.</a:t>
            </a:r>
          </a:p>
          <a:p>
            <a:r>
              <a:t>Switch via `ng add @maverick/agentic-ui --federation=native` vs `--federation=module-federation`.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 win for regulated industries — MCP brings agentic UI into Claude Desktop where many analysts already live.</a:t>
            </a:r>
          </a:p>
          <a:p>
            <a:r>
              <a:t>Demonstrate by walking through demo-mcp-server then opening Claude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Default sink is no-op; consumer opts in to OTel via @maverick/agentic-ui/otel.</a:t>
            </a:r>
          </a:p>
          <a:p>
            <a:r>
              <a:t>Bundle impact: zero unless they import the otel entry — measured in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developers — the schematics are the value-multiplier.</a:t>
            </a:r>
          </a:p>
          <a:p>
            <a:r>
              <a:t>ng add takes a fresh Angular app to running chat in &lt;2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Strategic view. Use this slide to set up the rest of the deck — every row has a 'home' slide deeper in.</a:t>
            </a:r>
          </a:p>
          <a:p>
            <a:r>
              <a:t>Highlight that 4 (persona scope) and 10 (audit) are differentiators — that's what makes this deployable in regulated domains.</a:t>
            </a:r>
          </a:p>
          <a:p>
            <a:r>
              <a:t>If pressed for time, pick three rows the audience cares about and skip directly to those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headline. 'Generative UI' is a buzzword; the diagram makes it concrete.</a:t>
            </a:r>
          </a:p>
          <a:p>
            <a:r>
              <a:t>Emphasise the Zod schema is the single contract — the agent sees it as a tool schema, the renderer uses it for validation, the cookbook generates types from it.</a:t>
            </a:r>
          </a:p>
          <a:p>
            <a:r>
              <a:t>Compare to text-only LLM apps: this is what makes agentic UI different from a fancy chat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four lifecycle events end-to-end — show that mid-stream abort is built in.</a:t>
            </a:r>
          </a:p>
          <a:p>
            <a:r>
              <a:t>Emphasise that the handler is just a function; tools aren't proprietary objects.</a:t>
            </a:r>
          </a:p>
          <a:p>
            <a:r>
              <a:t>If audience is paranoid about agents triggering destructive operations: combine with use case 4 (persona scope) for input gating + server-side check for the trust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MFE story — five steps, no surprises.</a:t>
            </a:r>
          </a:p>
          <a:p>
            <a:r>
              <a:t>Emphasise that registries are the only shared state; remotes never call each other directly.</a:t>
            </a:r>
          </a:p>
          <a:p>
            <a:r>
              <a:t>On unload, all 13 registries drop entries with that source in one pass — in-flight runs continue but next turn excludes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8 / 1.1.0 ship. Address the question that comes up in every regulated-industry pitch.</a:t>
            </a:r>
          </a:p>
          <a:p>
            <a:r>
              <a:t>Three-layer split is the architectural take-away: library enforces, app authorises, server verifies.</a:t>
            </a:r>
          </a:p>
          <a:p>
            <a:r>
              <a:t>Cross-reference: e2e/specs/05-persona-scope.spec.ts validates ordering live without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 agnosticism story. Useful for execs uncomfortable with picking a not-yet-1.0 protocol.</a:t>
            </a:r>
          </a:p>
          <a:p>
            <a:r>
              <a:t>Capability flags are the seam that makes feature-detection clean — no if/else by adapter id in the shell.</a:t>
            </a:r>
          </a:p>
          <a:p>
            <a:r>
              <a:t>Tie back to ADR-0001 — backend abstraction was the first decision and carries every other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a scale-out story credible — multiple teams own specialists, one chat interface.</a:t>
            </a:r>
          </a:p>
          <a:p>
            <a:r>
              <a:t>Sticky routing is the UX win. Without it, every follow-up question would risk being routed to a different specialist mid-thread.</a:t>
            </a:r>
          </a:p>
          <a:p>
            <a:r>
              <a:t>The 'Routed to **review** specialist.' banner in the demo is just the orchestrator emitting a text-delta when routing changes — not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 framing. The tool inventory grows linearly with federated remotes; without this, you'd hit Gemini's context cap by remote #4.</a:t>
            </a:r>
          </a:p>
          <a:p>
            <a:r>
              <a:t>Order matters: persona scope filters first (governance), keyword filter narrows further (efficiency).</a:t>
            </a:r>
          </a:p>
          <a:p>
            <a:r>
              <a:t>Bring up tunability: keywordToolFilter is just an example; ToolFilter is a one-line interface, swap it for embedding-similarity if you have an embeddings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Multi-surface story. Resonates with execs who see their tools as IP.</a:t>
            </a:r>
          </a:p>
          <a:p>
            <a:r>
              <a:t>Reach: paralegal can drive the same review flow from Claude Desktop without using your web app.</a:t>
            </a:r>
          </a:p>
          <a:p>
            <a:r>
              <a:t>Persona scope still gates — that's the 'hub' story for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Observability seam was baked in from M1 — emit points exist whether or not the OTel exporter is wired.</a:t>
            </a:r>
          </a:p>
          <a:p>
            <a:r>
              <a:t>Privacy story is conservative by default — that's what makes this deployable in regulated domains.</a:t>
            </a:r>
          </a:p>
          <a:p>
            <a:r>
              <a:t>Demo with Tempo or Jaeger — show one trace covering chat shell, SSE, server, LLM, tool, federation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close. Together with use cases 4 and 9 this is the three-piece story regulated buyers ask for.</a:t>
            </a:r>
          </a:p>
          <a:p>
            <a:r>
              <a:t>Note: audit chain is shown as a pattern in the demo's mock data layer — not part of the core lib because every domain expresses 'who/what/when' differently.</a:t>
            </a:r>
          </a:p>
          <a:p>
            <a:r>
              <a:t>If asked: yes the prevHash design is a Merkle-style chain; verifying is O(n) on render but acceptable up to ~100k entries; for larger systems, split into time-windowed sub-chains with each sub-chain's root committed to a parent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demos. Pick one for each audience.</a:t>
            </a:r>
          </a:p>
          <a:p>
            <a:r>
              <a:t>demo-ediscovery is the headline — full enterprise pattern with federation + audit + multi-persona.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eDiscovery reference is the headline asset.</a:t>
            </a:r>
          </a:p>
          <a:p>
            <a:r>
              <a:t>Open with the four stat cards — those are the talking points executives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for the eDiscovery case study — shows the chained-tool-call pattern with widget feedback at every step.</a:t>
            </a:r>
          </a:p>
          <a:p>
            <a:r>
              <a:t>Six seams in one workflow. That's why we needed registries — each seam is independently extensible.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of 4. Click forward to advance. The four slides build up the same diagram so the audience sees the message flow accumulate.</a:t>
            </a:r>
          </a:p>
          <a:p>
            <a:r>
              <a:t>Use F5 to start full-screen → space-bar to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 function is FNV-1a in the demo (deterministic for testing); SHA-256 + HSM-backed HMAC is the prod swap.</a:t>
            </a:r>
          </a:p>
          <a:p>
            <a:r>
              <a:t>Phase 5 ships 1 tool (generateChainOfCustodyReport), 1 widget, the chainHash field, and the integrity badge on the Audit Trail page.</a:t>
            </a:r>
          </a:p>
          <a:p>
            <a:r>
              <a:t>The defensibility story lands here for execs — chain integrity = a deliverable for opposing counsel.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ToolDef literals are framework-agnostic — no Angular at MCP runtime.</a:t>
            </a:r>
          </a:p>
          <a:p>
            <a:r>
              <a:t>Per-user attribution via env vars (MVK_USER, MVK_MATTER) is the cookbook pattern for spawning one MCP server per user.</a:t>
            </a:r>
          </a:p>
          <a:p>
            <a:r>
              <a:t>Show this slide right after the chain-of-custody slide — the punchline lands when execs see two surfaces feeding one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7 shipped a chat-shell-only filter. Phase 8 lifts it to RegistryBase so 13 registries share the seam.</a:t>
            </a:r>
          </a:p>
          <a:p>
            <a:r>
              <a:t>The diff was about -30 LOC in the consumer for a one-line setScopePolicy call.</a:t>
            </a:r>
          </a:p>
          <a:p>
            <a:r>
              <a:t>ADR-008 documents the trade-offs: filter on read (not register) so federated remotes stay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the compliance section — read top-to-bottom, each row stands on its own.</a:t>
            </a:r>
          </a:p>
          <a:p>
            <a:r>
              <a:t>Use this slide if you're tight on time and skipping the chain-of-custody / MCP / scope-policy graphics.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try to pick one protocol. Pick by use case — the library lets you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 talk track. Six bullets, nothing technical — focus on derisking and time-to-value.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 framing. Highlight that every risk in §11 of the plan has a documented detection signal + contingency.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 framing. Show the schematics demo at the end — typically the moment that lands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Updated for v5 — every milestone is now shipped (was M1-M3 done / M4-M5 in flight).</a:t>
            </a:r>
          </a:p>
          <a:p>
            <a:r>
              <a:t>The 'validated by' column ties library work to the eDiscovery phase that put it under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Three asks, one per audience.</a:t>
            </a:r>
          </a:p>
          <a:p>
            <a:r>
              <a:t>Tone matches the deck — restrained, navy, no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slide. Hand-off to the audience — every box on the left has its own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MAVERICK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76895" y="54864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AGENTIC UI · OVERVIEW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0911535" cy="16459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141821"/>
                </a:solidFill>
                <a:latin typeface="Calibri"/>
              </a:rPr>
              <a:t>Agentic UI for Angular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1E3A5F"/>
                </a:solidFill>
                <a:latin typeface="Calibri"/>
              </a:rPr>
              <a:t>AG-UI · Hashbrown · A2UI ·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One library. Three protocols. Microfrontend-native.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577840"/>
            <a:ext cx="10911535" cy="16459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PREPARED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41821"/>
                </a:solidFill>
                <a:latin typeface="Calibri"/>
              </a:rPr>
              <a:t>Senior executives  ·  Solution architects  ·  Developers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093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2AAB6"/>
                </a:solidFill>
                <a:latin typeface="Calibri"/>
              </a:rPr>
              <a:t>Q2 2026 release  ·  v1.1.0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What you'll leave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The shift. </a:t>
            </a:r>
            <a:r>
              <a:rPr sz="1600">
                <a:solidFill>
                  <a:srgbClr val="141821"/>
                </a:solidFill>
                <a:latin typeface="Calibri"/>
              </a:rPr>
              <a:t>Why agentic UIs are the next interface paradigm — and the protocol problem nobody owns.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Three protocols. </a:t>
            </a:r>
            <a:r>
              <a:rPr sz="1600">
                <a:solidFill>
                  <a:srgbClr val="141821"/>
                </a:solidFill>
                <a:latin typeface="Calibri"/>
              </a:rPr>
              <a:t>AG-UI, Hashbrown, A2UI — origin, model, fit, gaps.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One library. </a:t>
            </a:r>
            <a:r>
              <a:rPr sz="1600">
                <a:solidFill>
                  <a:srgbClr val="141821"/>
                </a:solidFill>
                <a:latin typeface="Calibri"/>
              </a:rPr>
              <a:t>@maverick/agentic-ui — 13 registries, MFE-native, MCP-ready, telemetry-instrumented.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Working examples. </a:t>
            </a:r>
            <a:r>
              <a:rPr sz="1600">
                <a:solidFill>
                  <a:srgbClr val="141821"/>
                </a:solidFill>
                <a:latin typeface="Calibri"/>
              </a:rPr>
              <a:t>demo-monolith, demo-shell + remotes, demo-multi-agent, demo-ediscovery — all in this repo.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Decision frameworks. </a:t>
            </a:r>
            <a:r>
              <a:rPr sz="1600">
                <a:solidFill>
                  <a:srgbClr val="141821"/>
                </a:solidFill>
                <a:latin typeface="Calibri"/>
              </a:rPr>
              <a:t>Protocol matrix, when-to-use guide, persona-by-persona benefit map.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Roadmap &amp; CTA. </a:t>
            </a:r>
            <a:r>
              <a:rPr sz="1600">
                <a:solidFill>
                  <a:srgbClr val="141821"/>
                </a:solidFill>
                <a:latin typeface="Calibri"/>
              </a:rPr>
              <a:t>Where it's going through v1.0 — and where you can plug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02 / 53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From chatbots to agentic UIs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515258" cy="54864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B7380"/>
                </a:solidFill>
                <a:latin typeface="Calibri"/>
              </a:rPr>
              <a:t>Yesterday — chatbots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Text-only conversation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Apps wired to LLMs as a fancy autocomplete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Hand-coded handlers per use case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No structured affordances — every flow re-debated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8218" y="1554480"/>
            <a:ext cx="3515258" cy="54864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6818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2243D"/>
                </a:solidFill>
                <a:latin typeface="Calibri"/>
              </a:rPr>
              <a:t>Today — agentic 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Tool-call protocols (AG-UI / Hashbrown / A2UI)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UI: LLM emits widgets, host renders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Multi-agent orchestration with sticky routing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 for analyst workstations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36356" y="1554480"/>
            <a:ext cx="3515258" cy="54864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4956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6F4F"/>
                </a:solidFill>
                <a:latin typeface="Calibri"/>
              </a:rPr>
              <a:t>Tomorrow — agent-native apps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UI itself is plug-in registry data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Federated remotes contribute capabilities mid-session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Audit-grade observability across LLM ↔ tool ↔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Persona-scoped governance baked 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03 / 53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Why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LLM-native tool calling matured. </a:t>
            </a:r>
            <a:r>
              <a:rPr sz="1400">
                <a:solidFill>
                  <a:srgbClr val="141821"/>
                </a:solidFill>
                <a:latin typeface="Calibri"/>
              </a:rPr>
              <a:t>OpenAI, Anthropic, Google, Mistral all ship structured tool calls. Quality and latency now meet enterprise bars.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Three competing protocols emerged. </a:t>
            </a:r>
            <a:r>
              <a:rPr sz="1400">
                <a:solidFill>
                  <a:srgbClr val="141821"/>
                </a:solidFill>
                <a:latin typeface="Calibri"/>
              </a:rPr>
              <a:t>AG-UI from CopilotKit, Hashbrown from Liquid Frontiers, A2UI from a multi-vendor consortium. Each is the leader in a slice.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MCP standardised the server side. </a:t>
            </a:r>
            <a:r>
              <a:rPr sz="1400">
                <a:solidFill>
                  <a:srgbClr val="141821"/>
                </a:solidFill>
                <a:latin typeface="Calibri"/>
              </a:rPr>
              <a:t>Anthropic's Model Context Protocol made tool definitions portable across analyst workstations (Claude Desktop, Cursor, Zed).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Generative UI moved past PoC. </a:t>
            </a:r>
            <a:r>
              <a:rPr sz="1400">
                <a:solidFill>
                  <a:srgbClr val="141821"/>
                </a:solidFill>
                <a:latin typeface="Calibri"/>
              </a:rPr>
              <a:t>LLMs reliably emit JSON specifying widget + props; Angular signals + dynamic component loader make rendering trivial.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Regulated industries are catching up. </a:t>
            </a:r>
            <a:r>
              <a:rPr sz="1400">
                <a:solidFill>
                  <a:srgbClr val="141821"/>
                </a:solidFill>
                <a:latin typeface="Calibri"/>
              </a:rPr>
              <a:t>Legal, healthcare, finance — all need defensible audit trails. The agentic UI substrate has to ship them by default.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04 / 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Three protocols, one library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By CopilotKit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Streaming via SSE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Lifecycle + tool-call events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 via show-component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Mature client implementation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server-driven agent flows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645920"/>
            <a:ext cx="356616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By Liquid Frontiers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UI-generation streams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Widget + props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Multi-provider (OpenAI, Google)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Lighter than AG-UI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rapid generative-UI demos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64592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A2UI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Calibri"/>
              </a:rPr>
              <a:t>By Multi-vendor consortium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ui-action event class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Agent drives the whole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Action-driven (not just tool-driven)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Spec still evolving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agent-driven nav +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2243D"/>
                </a:solidFill>
                <a:latin typeface="Calibri"/>
              </a:rPr>
              <a:t>@maverick/agentic-ui — one AgenticBackend abstraction; chat shell, registries, and widgets stay protocol-agnostic.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05 / 53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Open protocol for agent ↔ UI communication, originated by CopilotKit.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Transport-agnostic. </a:t>
            </a:r>
            <a:r>
              <a:rPr sz="1300">
                <a:solidFill>
                  <a:srgbClr val="141821"/>
                </a:solidFill>
                <a:latin typeface="Calibri"/>
              </a:rPr>
              <a:t>SSE in practice; WebSocket and plain HTTP also valid carriers.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Message-based. </a:t>
            </a:r>
            <a:r>
              <a:rPr sz="1300">
                <a:solidFill>
                  <a:srgbClr val="141821"/>
                </a:solidFill>
                <a:latin typeface="Calibri"/>
              </a:rPr>
              <a:t>Discrete event types — RUN_STARTED, TEXT_MESSAGE_*, TOOL_CALL_*, RUN_FINISHED — not a free-form stream.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Tool-call first-class. </a:t>
            </a:r>
            <a:r>
              <a:rPr sz="1300">
                <a:solidFill>
                  <a:srgbClr val="141821"/>
                </a:solidFill>
                <a:latin typeface="Calibri"/>
              </a:rPr>
              <a:t>Distinguishes server-side tools (run on the agent host) from client-side tools (run in the browser).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Generative UI by convention. </a:t>
            </a:r>
            <a:r>
              <a:rPr sz="1300">
                <a:solidFill>
                  <a:srgbClr val="141821"/>
                </a:solidFill>
                <a:latin typeface="Calibri"/>
              </a:rPr>
              <a:t>Reserved show-component tool whose result tells the host which registered widget to render.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Reference implementation. </a:t>
            </a:r>
            <a:r>
              <a:rPr sz="1300">
                <a:solidFill>
                  <a:srgbClr val="141821"/>
                </a:solidFill>
                <a:latin typeface="Calibri"/>
              </a:rPr>
              <a:t>@ag-ui/client — the runUntilSettled loop + HttpAgent SSE adapter — is the canonical client.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Adoption. </a:t>
            </a:r>
            <a:r>
              <a:rPr sz="1300">
                <a:solidFill>
                  <a:srgbClr val="141821"/>
                </a:solidFill>
                <a:latin typeface="Calibri"/>
              </a:rPr>
              <a:t>CopilotKit, AG-UI Studio, multiple Mastra-based agent backends, several Angular and React reference apps.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06 / 53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Event timeline — one chat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Time flows left → right. Pills are the events on the wire; vertical position groups them by class.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5852160"/>
            <a:ext cx="10545775" cy="0"/>
          </a:xfrm>
          <a:prstGeom prst="line">
            <a:avLst/>
          </a:prstGeom>
          <a:ln w="15240">
            <a:solidFill>
              <a:srgbClr val="E3E5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3716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1.2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3.4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574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LIFECYCLE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21031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1031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RUN_STARTED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24160" y="21031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1031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RUN_FINISHED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0" y="27432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MESSAGE_START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336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27432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MESSAGE_END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337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F6F4F"/>
                </a:solidFill>
                <a:latin typeface="Calibri"/>
              </a:rPr>
              <a:t>TOOL CALL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3832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38328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CALL_START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63840" y="3383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0" y="3383280"/>
            <a:ext cx="9144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ARGS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9680" y="338328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0" y="338328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CALL_END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41280" y="33832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38328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RESULT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776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GENERATIVE UI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9840" y="4023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4023360"/>
            <a:ext cx="15544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WIDGET_RENDER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6177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POST-TOOL TEXT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698480" y="46634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98480" y="4663440"/>
            <a:ext cx="10972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3716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6576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3152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9728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B7380"/>
                </a:solidFill>
                <a:latin typeface="Calibri"/>
              </a:rPr>
              <a:t>Adapter @maverick/agentic-ui/ag-ui maps each event 1:1 onto the AgenticEvent union.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07 / 53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Capabilities &amp; where it 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4864" cy="457200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6F4F"/>
                </a:solidFill>
                <a:latin typeface="Calibri"/>
              </a:rPr>
              <a:t>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Cleanest event model of the three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Server-side tool execution baked 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SSE — proxies and CDNs handle it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Mature CopilotKit + Mastra ecosystem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Trace-friendly: each event is a structured record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Best fit for compliance / audit / regulated domains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554480"/>
            <a:ext cx="54864" cy="457200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C48221"/>
                </a:solidFill>
                <a:latin typeface="Calibri"/>
              </a:rPr>
              <a:t>Trade-offs /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Heavier than Hashbrown — more events to handle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ui-action / agent-driven nav not in core spec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 is via convention, not a first-class event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No standard form schema — apps roll their own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Per-protocol adapter still required (we provide one)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08 / 53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Open framework from Liquid Frontiers focused on generative UI and tool-calling.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UI-generation native. </a:t>
            </a:r>
            <a:r>
              <a:rPr sz="1300">
                <a:solidFill>
                  <a:srgbClr val="141821"/>
                </a:solidFill>
                <a:latin typeface="Calibri"/>
              </a:rPr>
              <a:t>Hashbrown's streams emit component + props directly — no show-component shim required.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Multi-provider out of the box. </a:t>
            </a:r>
            <a:r>
              <a:rPr sz="1300">
                <a:solidFill>
                  <a:srgbClr val="141821"/>
                </a:solidFill>
                <a:latin typeface="Calibri"/>
              </a:rPr>
              <a:t>OpenAI, Google, and Anthropic — swap providers via a config flag.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Smaller surface than AG-UI. </a:t>
            </a:r>
            <a:r>
              <a:rPr sz="1300">
                <a:solidFill>
                  <a:srgbClr val="141821"/>
                </a:solidFill>
                <a:latin typeface="Calibri"/>
              </a:rPr>
              <a:t>Fewer event types; lifecycle is implicit in stream open/close.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React-first heritage. </a:t>
            </a:r>
            <a:r>
              <a:rPr sz="1300">
                <a:solidFill>
                  <a:srgbClr val="141821"/>
                </a:solidFill>
                <a:latin typeface="Calibri"/>
              </a:rPr>
              <a:t>Original target was React; Angular adapter is recent. Our wrapper makes it idiomatic for either.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Schema-driven UI generation. </a:t>
            </a:r>
            <a:r>
              <a:rPr sz="1300">
                <a:solidFill>
                  <a:srgbClr val="141821"/>
                </a:solidFill>
                <a:latin typeface="Calibri"/>
              </a:rPr>
              <a:t>Zod-based component schemas anchor the LLM's structured output.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Best fit. </a:t>
            </a:r>
            <a:r>
              <a:rPr sz="1300">
                <a:solidFill>
                  <a:srgbClr val="141821"/>
                </a:solidFill>
                <a:latin typeface="Calibri"/>
              </a:rPr>
              <a:t>Rapid prototypes, demo-heavy generative UI, multi-LLM A/B comparisons.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09 / 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Features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81051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1051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ui-stream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85623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Emits widget + props natively — no shim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68296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487168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87168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text-stream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532888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Token-level text deltas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44952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16382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63824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tool-stream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09544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Function-call args + results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21608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38404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40480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provider-mux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886200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Switch OpenAI ↔ Google ↔ Anthropic at runtime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98264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17136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A8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17136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schema-anchor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562856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Zod schemas anchor structured LLM output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519379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9379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react-bridge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23951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First-class React; Angular via wrapper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10 / 53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Hashbrown vs AG-UI — when to pick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Hashbrown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6276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Pick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Lifecycle clarity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Implicit (stream open/close)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Explicit (RUN_STARTED/FINISHED)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0574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05740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615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Generative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61518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Native (UI-stream)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1518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Convention (show-component)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66090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266090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Audit-grade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21868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Needs work — synth lifecycle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1868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Drop-in — events are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26440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3264408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822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Time-to-first-prompt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82219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Hours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2219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Day or two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386791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3867912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425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Multi-provider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42569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Built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42569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Adapter per provider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471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471416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029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Server-side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029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Adapter needed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First-class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5074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50749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3270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Spec stability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563270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Smaller surface · stable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63270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Larger surface · stable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92640" y="5678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567842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6B7380"/>
                </a:solidFill>
                <a:latin typeface="Calibri"/>
              </a:rPr>
              <a:t>Tie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11 / 53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02–03 · PROTOCOLS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AG-UI vs Hashbrown — when and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911535" cy="777240"/>
          </a:xfrm>
          <a:prstGeom prst="roundRect">
            <a:avLst>
              <a:gd name="adj" fmla="val 2000"/>
            </a:avLst>
          </a:prstGeom>
          <a:solidFill>
            <a:srgbClr val="ECF1F6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45720" cy="7772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THIS DEMO 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933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41821"/>
                </a:solidFill>
                <a:latin typeface="Calibri"/>
              </a:rPr>
              <a:t>AG-UI for the eDiscovery reference — picked for streaming SSE, explicit lifecycle events, and audit-grade event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80"/>
            <a:ext cx="5272887" cy="3291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97480"/>
            <a:ext cx="45720" cy="32918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E3A5F"/>
                </a:solidFill>
                <a:latin typeface="Calibri"/>
              </a:rPr>
              <a:t>AG-UI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20040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by CopilotKit · streaming · lifecycle-typed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PICK WHEN…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840480"/>
            <a:ext cx="4815687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Audit and compliance bars (legal-tech, healthcare, finance)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Server-side tool catalog managed by a separate team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Mature multi-agent orchestrator (sticky routing)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SSE traverses your existing CDN / proxy stack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Need to trace runs end-to-end through OTel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697480"/>
            <a:ext cx="5272887" cy="3291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2697480"/>
            <a:ext cx="45720" cy="3291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48221"/>
                </a:solidFill>
                <a:latin typeface="Calibri"/>
              </a:rPr>
              <a:t>HASHBROWN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320040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by Liquid Frontiers · ui-stream native · multi-provider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4815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PICK WHEN…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3840480"/>
            <a:ext cx="4815687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Rapid prototyping — generative UI in a day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Multi-provider eval (OpenAI / Anthropic / Google switch)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UI-generation is the dominant agent output (not tool calls)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Lighter event surface — fewer adapter checks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C48221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Audit grade can be deferred to a later sprint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Both implement the same `AgenticBackend` interface — swapping protocols leaves the chat shell, registries, and widgets untouched.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Protocols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12 / 53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4 · A2UI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Agent-driven UI — ui-action as a class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A2UI lifts the agent from 'calls tools' to 'drives the whole UI'.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48221"/>
                </a:solidFill>
                <a:latin typeface="Calibri"/>
              </a:rPr>
              <a:t>Distinguishing event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10911535" cy="1463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{ type: 'ui-action',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actionId: 'a-7f2e',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op: 'navigate',          // or 'applyTag', 'fillForm', 'openDrawer',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payload: { path: '/documents', queryParams: { id: 'DOC-1234' } }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Where it shines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115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Agent navigates to a route after a tool call settles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Form-fill flows where the agent populates fields the user verifies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State mutations dispatched into NgRx / Redux without a separate tool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Cross-MFE coordination — one remote raises an action a different remote handles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4 · A2UI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13 / 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Why a library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D49"/>
                </a:solidFill>
                <a:latin typeface="Calibri"/>
              </a:rPr>
              <a:t>Three protocols, four bundlers, two MFE runtimes, and an MCP transport — that's not a library, that's a forklift.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8332A"/>
                </a:solidFill>
                <a:latin typeface="Calibri"/>
              </a:rPr>
              <a:t>What you'd build without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Per-protocol chat shell, three times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Hand-rolled tool registry, ad hoc per app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Bespoke MFE federation glue for each remote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 scaffolding from scratch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Telemetry stitched in late, never quite consistent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Schematics: none — every team retypes the bootstrap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212080" cy="402336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423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What @maverick/agentic-ui 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880360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One AgenticBackend interface — three adapters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13 typed registries, one base class, signal-backed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Per-persona scope policy on every registry (1.1)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Native + Module Federation, both first-class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@maverick/agentic-ui-mcp wraps tools as MCP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OTel-instrumented from M1; default no-op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ng add scaffolds an entire app in one command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14 / 53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Architecture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7772400" cy="45720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BROWSER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&lt;mvk-chat-shell&gt;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Sidebar nav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Routed pages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971800"/>
            <a:ext cx="7223760" cy="1097280"/>
          </a:xfrm>
          <a:prstGeom prst="roundRect">
            <a:avLst>
              <a:gd name="adj" fmla="val 3000"/>
            </a:avLst>
          </a:prstGeom>
          <a:solidFill>
            <a:srgbClr val="ECF1F6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6324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2243D"/>
                </a:solidFill>
                <a:latin typeface="Calibri"/>
              </a:rPr>
              <a:t>REGISTRY LAYER · 13 typed registries · signal-backed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Component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Capability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Backend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Intent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48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DataSource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1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Validation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Persistence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Layout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Schema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AgUiBackend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6804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6804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HashbrownBackend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2168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2168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A2uiBackend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12064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All pushed events also flow into AgenticTelemetrySink / AgenticLogger.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1554480"/>
            <a:ext cx="2864815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86800" y="1554480"/>
            <a:ext cx="54864" cy="146304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0" y="16916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Calibri"/>
              </a:rPr>
              <a:t>Federation runtime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011680"/>
            <a:ext cx="25904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Native Federation
· esbuild-native
· @angular-architects
Module Federation
· webpack peer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6800" y="3154680"/>
            <a:ext cx="2864815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686800" y="3154680"/>
            <a:ext cx="54864" cy="128016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9680" y="32918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Agent server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3611880"/>
            <a:ext cx="25904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Mastra · Gemini · OpenAI
AG-UI SSE route
ThreadStateStore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86800" y="4572000"/>
            <a:ext cx="2864815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686800" y="4572000"/>
            <a:ext cx="54864" cy="1005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69680" y="46634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MCP server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4956048"/>
            <a:ext cx="25904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Same ToolDef
Claude Desktop / Cursor
Text/html;profile=mcp-app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3294888.0" y="3794760"/>
            <a:ext cx="5391912.0" cy="914400"/>
          </a:xfrm>
          <a:prstGeom prst="line">
            <a:avLst/>
          </a:prstGeom>
          <a:ln w="1905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979920.0" y="4937760"/>
            <a:ext cx="1706880.0" cy="13716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8366760" y="2286000"/>
            <a:ext cx="320040" cy="123444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40080" y="64465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2243D"/>
                </a:solidFill>
                <a:latin typeface="Calibri"/>
              </a:rPr>
              <a:t>One library · three protocols · two federation paths · MCP for analyst desktops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15 / 53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05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End-to-end picture — one prompt, all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User types a prompt → arrows show every hop until widgets land back in the chat.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545738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BROWSER · ANGULAR HOST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69748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User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24612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&lt;mvk-chat-shell&gt;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79476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9476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injectAgenticChat()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34340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4340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keywordToolFilter (top-12)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89204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AgUiBackend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544068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44068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ToolRegistry · ComponentRegistry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2194560"/>
            <a:ext cx="3545738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0138" y="228600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AGENT SERVER · NODE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8738" y="297180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738" y="297180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/agents/coordinator/run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8738" y="352044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738" y="352044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OrchestratorAgent (router)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88738" y="4069079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8738" y="4069079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Specialist (review/production/…)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88738" y="461772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8738" y="461772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GeminiAgent · system prompt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8738" y="516636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738" y="516636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ThreadStateStore (sticky)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5876" y="2194560"/>
            <a:ext cx="3545738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3036" y="228600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LLM PROVIDER · GEMINI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71636" y="310896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1636" y="310896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gemini-2.5-flash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71636" y="374904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71636" y="374904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Tool-call schema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71636" y="438912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1636" y="438912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Streamed completion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71636" y="5029200"/>
            <a:ext cx="2814218" cy="411480"/>
          </a:xfrm>
          <a:prstGeom prst="roundRect">
            <a:avLst>
              <a:gd name="adj" fmla="val 8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71636" y="5029200"/>
            <a:ext cx="281421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Generative-UI components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412949.166666667" y="3108960"/>
            <a:ext cx="0.0" cy="13716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412949.166666667" y="3657600"/>
            <a:ext cx="0.0" cy="13716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412949.166666667" y="4206240"/>
            <a:ext cx="0.0" cy="13716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78709.166666667" y="4549140"/>
            <a:ext cx="0.0" cy="891540"/>
          </a:xfrm>
          <a:prstGeom prst="line">
            <a:avLst/>
          </a:prstGeom>
          <a:ln w="12700">
            <a:solidFill>
              <a:srgbClr val="356B88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412949.166666667" y="4754880"/>
            <a:ext cx="0.0" cy="13716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140098.3333333335" y="3268980"/>
            <a:ext cx="548640.0000000005" cy="1828800"/>
          </a:xfrm>
          <a:prstGeom prst="line">
            <a:avLst/>
          </a:prstGeom>
          <a:ln w="254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5847.500000001" y="3383280"/>
            <a:ext cx="0.0" cy="13716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5847.500000001" y="3931920"/>
            <a:ext cx="0.0" cy="137159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095847.500000001" y="4480560"/>
            <a:ext cx="0.0" cy="13716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822996.666666668" y="3177540"/>
            <a:ext cx="548640.0" cy="1645920"/>
          </a:xfrm>
          <a:prstGeom prst="line">
            <a:avLst/>
          </a:prstGeom>
          <a:ln w="2540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7822996.666666668" y="4823460"/>
            <a:ext cx="548640.0" cy="41148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4140098.3333333335" y="4274820"/>
            <a:ext cx="548640.0000000005" cy="82296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640080" y="6355080"/>
            <a:ext cx="10911535" cy="41148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LEGEND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11680" y="6556248"/>
            <a:ext cx="4572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60320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Request path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0" y="6556248"/>
            <a:ext cx="13716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54880" y="6556248"/>
            <a:ext cx="13716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937760" y="6556248"/>
            <a:ext cx="13716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66360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Response · widgets · text deltas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0" y="6556248"/>
            <a:ext cx="137160" cy="22860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12480" y="6556248"/>
            <a:ext cx="137160" cy="22860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4108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Registry read · DI cross-cut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16 / 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13 registries — hub &amp; spokes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All 13 implement one Registry&lt;TDef&gt; — same MFE-aware teardown, same signal contract, same conformance test surface, plus setScopePolicy(...) for per-persona filtered reads (1.1).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1447" y="3657600"/>
            <a:ext cx="1828800" cy="914400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1447" y="36576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7F7F5"/>
                </a:solidFill>
                <a:latin typeface="Calibri"/>
              </a:rPr>
              <a:t>Registry&lt;TDef&gt;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5229" y="2715901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5229" y="2715901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Tool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3153869.1370904273" y="2880493.52037552"/>
            <a:ext cx="2941978.3629095727" cy="1234306.47962448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924150" y="2209879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24150" y="220987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Component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4472790.51815008" y="2374471.5350207426"/>
            <a:ext cx="1623056.98184992" cy="1740328.4649792574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47207" y="2029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47207" y="2029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Capability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6095847.499999999" y="2194560.0"/>
            <a:ext cx="9.313225746154785e-10" cy="1920240.0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70264" y="2209879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0264" y="220987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Backend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095847.5" y="2374471.5350207435"/>
            <a:ext cx="1074416.9818499219" cy="1740328.4649792565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89185" y="2715901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89185" y="2715901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Mfe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6095847.5" y="2880493.520375519"/>
            <a:ext cx="2393338.362909572" cy="1234306.479624481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56078" y="4606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6078" y="4606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Action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5847.5" y="4160520"/>
            <a:ext cx="3608870.716275865" cy="611040.7600196823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489185" y="518451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89185" y="518451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Intent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5847.5" y="4160520"/>
            <a:ext cx="2941978.362909572" cy="1188586.47962448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467447" y="561318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7447" y="561318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Form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.5" y="4160520"/>
            <a:ext cx="1920240.0" cy="1617256.6213630307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214099" y="584127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4099" y="584127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DataSource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5847.5" y="4160520"/>
            <a:ext cx="666892.353366293" cy="1845347.2396441624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880315" y="584127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80315" y="584127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Validation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5428955.146633707" y="4160520"/>
            <a:ext cx="666892.353366293" cy="1845347.2396441624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626967" y="561318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26967" y="561318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Persistence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4175607.500000001" y="4160520"/>
            <a:ext cx="1920239.999999999" cy="1617256.6213630307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605229" y="518451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05229" y="518451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Layout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3153869.137090428" y="4160520"/>
            <a:ext cx="2941978.362909572" cy="1188586.47962448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938336" y="4606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38336" y="4606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Schema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2486976.783724135" y="4160520"/>
            <a:ext cx="3608870.716275865" cy="611040.7600196823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4008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Core (M1–M3)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4340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Extended (M4–M5)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Seams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17 / 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Capability handoff — sequence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Host shell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7180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MfeRegistry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6636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Federation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6092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Remote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4672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3836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Registries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2416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54480" y="2423160"/>
            <a:ext cx="210312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21305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discover(env)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554480" y="2788920"/>
            <a:ext cx="2103120" cy="0"/>
          </a:xfrm>
          <a:prstGeom prst="line">
            <a:avLst/>
          </a:prstGeom>
          <a:ln w="1524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24963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RemoteSpec[]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54480" y="3246120"/>
            <a:ext cx="4297680" cy="0"/>
          </a:xfrm>
          <a:prstGeom prst="line">
            <a:avLst/>
          </a:prstGeom>
          <a:ln w="1524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74520" y="29535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loadRemoteCapabilities({remote, loader})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852160" y="3611880"/>
            <a:ext cx="2194560" cy="0"/>
          </a:xfrm>
          <a:prstGeom prst="line">
            <a:avLst/>
          </a:prstGeom>
          <a:ln w="1524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20640" y="33192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import './Capability'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46720" y="3977639"/>
            <a:ext cx="2377440" cy="0"/>
          </a:xfrm>
          <a:prstGeom prst="line">
            <a:avLst/>
          </a:prstGeom>
          <a:ln w="1524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06640" y="368503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module.apply(injector)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424160" y="4434840"/>
            <a:ext cx="548640" cy="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972800" y="4434840"/>
            <a:ext cx="0" cy="18288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0469880" y="4617720"/>
            <a:ext cx="502920" cy="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064240" y="4389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registerAll(tools, components)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554480" y="4892040"/>
            <a:ext cx="886968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160520" y="45994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next chat turn → ToolRegistry.signal()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54480" y="5349240"/>
            <a:ext cx="54864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03120" y="5349240"/>
            <a:ext cx="0" cy="18288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600200" y="5532120"/>
            <a:ext cx="50292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user prompt fires; agent sees new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263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380"/>
                </a:solidFill>
                <a:latin typeface="Calibri"/>
              </a:rPr>
              <a:t>Each remote is another row in this sequence — registries are the single seam every remote writes through.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18 / 53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One handler, three surfaces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The same ToolDef literal powers the chat shell, the MCP server (Claude Desktop / Cursor), and the standalone-mode UI inside each remote — without any code duplication.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429000"/>
            <a:ext cx="3291840" cy="1188720"/>
          </a:xfrm>
          <a:prstGeom prst="roundRect">
            <a:avLst>
              <a:gd name="adj" fmla="val 4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49927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CF1F6"/>
                </a:solidFill>
                <a:latin typeface="Calibri"/>
              </a:rPr>
              <a:t>ToolDef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9927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nlo"/>
              </a:rPr>
              <a:t>agenticTool({ name, schema, handler 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9927" y="4206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ECF1F6"/>
                </a:solidFill>
                <a:latin typeface="Calibri"/>
              </a:rPr>
              <a:t>single source of truth · framework-agnostic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0" y="2377440"/>
            <a:ext cx="2011680" cy="4572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2243D"/>
                </a:solidFill>
                <a:latin typeface="Calibri"/>
              </a:rPr>
              <a:t>&lt;mvk-chat-shell&gt;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Browser · Angular host
user ↔ LLM in-app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017520" y="3383280.0"/>
            <a:ext cx="2619618.75" cy="274320.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90007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90007" y="2377440"/>
            <a:ext cx="2011680" cy="4572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1447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48221"/>
                </a:solidFill>
                <a:latin typeface="Calibri"/>
              </a:rPr>
              <a:t>MCP 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1447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Claude Desktop · Cursor · Zed
analyst workstations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5791055.125" y="3383280.0"/>
            <a:ext cx="304792.375" cy="274320.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68335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68335" y="2377440"/>
            <a:ext cx="201168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9775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F6F4F"/>
                </a:solidFill>
                <a:latin typeface="Calibri"/>
              </a:rPr>
              <a:t>Standalone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9775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Visit :4302 / :4303 directly
technical sanity check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5944971.5" y="3383280.0"/>
            <a:ext cx="3229203.5" cy="274320.0"/>
          </a:xfrm>
          <a:prstGeom prst="line">
            <a:avLst/>
          </a:prstGeom>
          <a:ln w="1905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828800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0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Tool result · widgets · markdown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017520" y="4663440.0"/>
            <a:ext cx="2924411.125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541367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41367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MCP UI blocks (text/html)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730087.5" y="4663440.0"/>
            <a:ext cx="347472.0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985455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85455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Same handler, same audit entry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49763.875" y="4663440.0"/>
            <a:ext cx="2924411.125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19 / 53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AgenticBackend — the abstraction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33832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10637215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interface AgenticBackend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id: string;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capabilities: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streaming: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clientTools: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generativeUi: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uiActions: boolean;     // A2UI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run(input: AgenticRunInput): AsyncIterable&lt;AgenticEvent&gt;;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reset?(threadId: string): Promise&lt;void&gt;;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12 events: run-started, text-delta, tool-call-*, widget-render, ui-action,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type AgenticEvent =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'run-started'; threadId: string; runId: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'text-delta'; messageId: string; delta: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'tool-call-result'; toolCallId: string; result: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'widget-render'; widgetCallId: string; name: string; props: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'ui-action'; actionId: string; op: string; payload: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… 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63D49"/>
                </a:solidFill>
                <a:latin typeface="Calibri"/>
              </a:rPr>
              <a:t>The chat shell sees ONLY this surface. AgUiBackend, HashbrownBackend, A2uiBackend implement it — capability flags drive feature-detection in the UI.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20 / 53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Microfrontend federation — capability handoff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Discover. </a:t>
            </a:r>
            <a:r>
              <a:rPr sz="1300">
                <a:solidFill>
                  <a:srgbClr val="141821"/>
                </a:solidFill>
                <a:latin typeface="Calibri"/>
              </a:rPr>
              <a:t>MfeRegistryClient.discover(env) — Spring Boot or static-JSON adapter.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Lazy-load. </a:t>
            </a:r>
            <a:r>
              <a:rPr sz="1300">
                <a:solidFill>
                  <a:srgbClr val="141821"/>
                </a:solidFill>
                <a:latin typeface="Calibri"/>
              </a:rPr>
              <a:t>loadRemoteModule({ remoteName, exposedModule: './Capability' }).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Register. </a:t>
            </a:r>
            <a:r>
              <a:rPr sz="1300">
                <a:solidFill>
                  <a:srgbClr val="141821"/>
                </a:solidFill>
                <a:latin typeface="Calibri"/>
              </a:rPr>
              <a:t>Remote's defineCapabilityModule pushes into ToolRegistry / ComponentRegistry / ActionRegistry.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Teardown. </a:t>
            </a:r>
            <a:r>
              <a:rPr sz="1300">
                <a:solidFill>
                  <a:srgbClr val="141821"/>
                </a:solidFill>
                <a:latin typeface="Calibri"/>
              </a:rPr>
              <a:t>removeBySource('remote:bookings') runs across every registry in one pass; signals notify subscribers.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2243D"/>
                </a:solidFill>
                <a:latin typeface="Calibri"/>
              </a:rPr>
              <a:t>Native Federation (default)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Backed by @angular-architects/native-federation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esbuild-compatible — Angular CLI default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Smaller bundle, faster cold start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8221"/>
                </a:solidFill>
                <a:latin typeface="Calibri"/>
              </a:rPr>
              <a:t>Module Federation (peer)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Backed by @module-federation/runtime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webpack — for teams already on it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Same CapabilityModule format · same capabilities.json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21 / 53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MCP integration — analyst workstation reach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D49"/>
                </a:solidFill>
                <a:latin typeface="Calibri"/>
              </a:rPr>
              <a:t>@maverick/agentic-ui-mcp — the same ToolDefs power Claude Desktop, Cursor, 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911535" cy="310896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One handler, multiple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4577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agenticTool({ ... }) — same factory the chat shell uses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mcpToolBridge(tools) — exposes them as an MCP server with a Node binary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MCP UI: tool results carry html field → text/html;profile=mcp-app blocks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Per-user MCP server pattern — beforeCall stub auth → real OIDC swap-in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Cookbook: paralegal privilege review in Claude Desktop using the eDiscovery toolset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2243D"/>
                </a:solidFill>
                <a:latin typeface="Calibri"/>
              </a:rPr>
              <a:t>Result: agents that work in your web app AND in your analysts' IDE — same audit trail, same governance.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22 / 53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Observability — OTel from M1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Distributed tracing for chat shell → backend → SSE route → agent → LLM → tool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10911535" cy="3383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Span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31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331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Key attributes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974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thread_id, run_id, backend.id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004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agentic.backend.stream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http.url, http.status_code, traceparent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agentic.tool_call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7033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703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tool.name, tool.source, success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206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agentic.federation.load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206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206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remote_name, version, federation, load_ms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091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agentic.registry.register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7091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709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registry.name, 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B7380"/>
                </a:solidFill>
                <a:latin typeface="Calibri"/>
              </a:rPr>
              <a:t>W3C traceparent propagated across the SSE boundary — one trace covers UI to LLM.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23 / 53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Schematics — ng add → fully wired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@maverick/agentic-ui-schematics — six generators ship with the package.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11535" cy="228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$ ng add @maverick/agentic-ui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--backend=ag-ui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--mfe=host --federation=native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--registry=spring-boot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--server=mastra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--telemetry=otel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Patches app.config.ts · seeds tools/widgets · scaffolds federation ·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wires Mastra agent server · adds OTel collector 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Per-artefact generators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1091153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…:tool </a:t>
            </a:r>
            <a:r>
              <a:rPr sz="1200">
                <a:solidFill>
                  <a:srgbClr val="141821"/>
                </a:solidFill>
                <a:latin typeface="Calibri"/>
              </a:rPr>
              <a:t>*.tool.ts with Zod schema scaffold; auto-registers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…:widget </a:t>
            </a:r>
            <a:r>
              <a:rPr sz="1200">
                <a:solidFill>
                  <a:srgbClr val="141821"/>
                </a:solidFill>
                <a:latin typeface="Calibri"/>
              </a:rPr>
              <a:t>Standalone component + Zod props schema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…:backend </a:t>
            </a:r>
            <a:r>
              <a:rPr sz="1200">
                <a:solidFill>
                  <a:srgbClr val="141821"/>
                </a:solidFill>
                <a:latin typeface="Calibri"/>
              </a:rPr>
              <a:t>Custom AgenticBackend with FakeAgenticBackend test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…:mfe-capability </a:t>
            </a:r>
            <a:r>
              <a:rPr sz="1200">
                <a:solidFill>
                  <a:srgbClr val="141821"/>
                </a:solidFill>
                <a:latin typeface="Calibri"/>
              </a:rPr>
              <a:t>Federation expose + capabilities.json manifest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…:agent-server </a:t>
            </a:r>
            <a:r>
              <a:rPr sz="1200">
                <a:solidFill>
                  <a:srgbClr val="141821"/>
                </a:solidFill>
                <a:latin typeface="Calibri"/>
              </a:rPr>
              <a:t>Mastra agent + AG-UI SSE route + memory store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…:chat-shell </a:t>
            </a:r>
            <a:r>
              <a:rPr sz="1200">
                <a:solidFill>
                  <a:srgbClr val="141821"/>
                </a:solidFill>
                <a:latin typeface="Calibri"/>
              </a:rPr>
              <a:t>Routed component using &lt;mvk-chat-shell&gt;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24 / 53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 +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Ten use cases · one library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Each row maps a real user-facing scenario to the library seam that handles it. Pick a row, jump to the slide; the User Guide has the full code walkthrough.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10911535" cy="4434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10911535" cy="36576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305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1305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LIBRARY SEAM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1305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AUDIENCE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21305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78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1. Generative UI — agent picks the 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57860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ComponentRegistry · widget-container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25786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2578608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2578608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" y="2898648"/>
            <a:ext cx="10902391" cy="38404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6265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2. Tool calling with state mutation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96265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ToolRegistry · tool-call-* events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296265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2962656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2962656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34670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3. Federating MFE remotes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34670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defineCapabilityModule · loadRemoteCapabilities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334670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3346704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52760" y="3346704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" y="3666744"/>
            <a:ext cx="10902391" cy="38404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730752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4. Per-persona entitlement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730752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RegistryBase.setScopePolicy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3730752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79" y="37307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Exec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52760" y="3730752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11480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5. Backend swap (AG-UI ↔ Hashbrown ↔ A2UI)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11480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AgenticBackend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55279" y="41148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79" y="411480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Arch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52760" y="41148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" y="4434840"/>
            <a:ext cx="10902391" cy="38404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49884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6. Multi-agent orchestration · sticky routing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449884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OrchestratorAgent · ThreadStateStore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79" y="449884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79" y="4498848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4498848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488289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7. Per-turn tool budget at scale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488289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provideToolFilter · keywordToolFilter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55279" y="488289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79" y="4882896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52760" y="4882896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" y="5202936"/>
            <a:ext cx="10902391" cy="38404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8. MCP — same tools power analyst desktops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526694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@maverick/agentic-ui-mcp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55279" y="5266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955279" y="5266944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Exec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52760" y="5266944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5650992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9. Observability — distributed tracing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5650992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AgenticTelemetrySink · /otel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55279" y="5650992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55279" y="565099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Arch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52760" y="5650992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4652" y="5971032"/>
            <a:ext cx="10902391" cy="38404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603504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10. Audit trail · chain-of-custody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06240" y="603504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2243D"/>
                </a:solidFill>
                <a:latin typeface="Calibri"/>
              </a:rPr>
              <a:t>Pattern: prevHash / chainHash + telemetry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55279" y="60350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79" y="603504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Exec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52760" y="603504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§ 5b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6629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PRIMARY AUDIENCE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68880" y="66294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68880" y="662940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Dev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383280" y="66294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83280" y="662940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Arch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97680" y="66294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97680" y="662940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Exec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25 / 53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 +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1 · Generative UI — agent picks the 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"Show me the flight options" → no prose. The agent emits widget-render and a typed Angular component mounts with validated props.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5669280" cy="429768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EVENT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14600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6243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decides which component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2971800"/>
            <a:ext cx="0" cy="41148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4400" y="3429000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290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56B88"/>
                </a:solidFill>
                <a:latin typeface="Calibri"/>
              </a:rPr>
              <a:t>Backend adapter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5387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translates to widget-render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3886200"/>
            <a:ext cx="0" cy="41148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14400" y="4343400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ComponentRegistry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453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resolves name · validates props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11680" y="4800600"/>
            <a:ext cx="0" cy="41148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5257800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578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widget-container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3675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*ngComponentOutlet mounts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978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If props don't match the Zod schema, the container shows a placeholder — never crashes the chat.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0312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WIRING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423160"/>
            <a:ext cx="4967935" cy="23774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2514600"/>
            <a:ext cx="469361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import { agenticWidget } from '@maverick/agentic-ui';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import { z } from 'zod';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const flightCard = agenticWidget({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name: 'flight-card',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component: FlightCardComponent,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propsSchema: z.object({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flightId: z.string(),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from: z.string().length(3),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to:   z.string().length(3),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price: z.number().positive(),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3776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WHY IT MATTERS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257800"/>
            <a:ext cx="496793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Agent owns content; UI owns presentation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Zod schemas double as the LLM's tool contract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Same component works under any backend (use case 5)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26 / 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 +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2 · Tool calling with state mutation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Agent runs bookFlight against your backend, threads the result back into the next turn, and the user can hit Esc to abort mid-execution.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5669280" cy="420624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ONE TOOL CALL · LIFECYCLE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14600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Calibri"/>
              </a:rPr>
              <a:t>tool-call-start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57860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name + toolCallId reach the host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27832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27832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56B88"/>
                </a:solidFill>
                <a:latin typeface="Calibri"/>
              </a:rPr>
              <a:t>tool-call-args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918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streamed JSON · Zod-validated incrementally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941064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4106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C48221"/>
                </a:solidFill>
                <a:latin typeface="Calibri"/>
              </a:rPr>
              <a:t>tool-call-end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00507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args complete · handler invoked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654296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54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handler(args, ctx)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71830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ctx.signal threads abort to fetch()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367528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36752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tool-call-result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4315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payload becomes the next-turn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User hits Esc → AbortController fires → handler's fetch cancels → tool-call-result emits an error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0312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HANDLER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423160"/>
            <a:ext cx="4967935" cy="2606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2514600"/>
            <a:ext cx="4693615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agenticTool({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name: 'bookFlight',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description: 'Book a flight, return id.',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schema: z.object({ flightId: z.string()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handler: async ({ flightId }, ctx) =&gt;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ctx.signal.throwIfAborted();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const r = await fetch('/api/bookings',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method: 'POST',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body: JSON.stringify({ flightId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signal: ctx.signal,    // forwards abort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return await r.json();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16636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FOR FEDERATED 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486400"/>
            <a:ext cx="49679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executeIn: 'remote' — handler runs in the remote's injector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ToolRegistry tags entries with source: 'remote:&lt;name&gt;'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27 / 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 +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3 · Federating MFE remotes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Bookings team owns its tools, widgets, and routes; ships independently. Host loads the remote at runtime and the agent's tool list updates within the same turn.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669280" cy="420624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CAPABILITY HANDOFF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06040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Calibri"/>
              </a:rPr>
              <a:t>MfeRegistry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67004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discover(env) → RemoteSpec[]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19272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19272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56B88"/>
                </a:solidFill>
                <a:latin typeface="Calibri"/>
              </a:rPr>
              <a:t>loadRemoteCapabilities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832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import './Capability'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32504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3250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C48221"/>
                </a:solidFill>
                <a:latin typeface="Calibri"/>
              </a:rPr>
              <a:t>CapabilityModule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096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registerAll(tools, widgets) · source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745736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7457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Registries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80974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signal() emits → next chat turn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458968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5896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A8332A"/>
                </a:solidFill>
                <a:latin typeface="Calibri"/>
              </a:rPr>
              <a:t>On unload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52297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removeBySource('remote:&lt;n&gt;') everywhere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978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Both Native Federation (esbuild) and webpack Module Federation are first-class — same CapabilityModule shape.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19456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REMOTE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514600"/>
            <a:ext cx="4967935" cy="1463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2606040"/>
            <a:ext cx="46936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remote/src/app/capability.ts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default defineCapabilityModule({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tools:   [bookFlight, cancelFlight],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widgets: [flightCard],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06908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HOST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4389120"/>
            <a:ext cx="4967935" cy="13716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4480560"/>
            <a:ext cx="46936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provideAgenticUi({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mfe: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federation: 'native',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remotes: [{ remoteName: 'bookings',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        remoteEntry: '/remoteEntry.json' }],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852159"/>
            <a:ext cx="49679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Or: provideSpringBootMfeRegistry({ url }) for runtime discovery.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28 / 53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 +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4 · Per-persona entitlement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Vendor Reviewer must only see read + tag tools — never markPrivileged, never createProductionSet. The agent shouldn't even consider tools the active user can't invoke. Library handles input + output gating; server still verifies.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THREE LAYERS OF RESPONSIBILITY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697480"/>
            <a:ext cx="45720" cy="10058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6324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41821"/>
                </a:solidFill>
                <a:latin typeface="Calibri"/>
              </a:rPr>
              <a:t>Filters list() / get() / signal() reads through your scope policy. Tools the persona can't invoke never reach the LLM.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94760"/>
            <a:ext cx="45720" cy="1005840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8404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56B88"/>
                </a:solidFill>
                <a:latin typeface="Calibri"/>
              </a:rPr>
              <a:t>APPLICATION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605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41821"/>
                </a:solidFill>
                <a:latin typeface="Calibri"/>
              </a:rPr>
              <a:t>Your PersonaService decides which entries each role is allowed to read. The library calls your predicate with each RegistryEntry.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892040"/>
            <a:ext cx="45720" cy="1005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9377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AGENT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25780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41821"/>
                </a:solidFill>
                <a:latin typeface="Calibri"/>
              </a:rPr>
              <a:t>Re-verifies entitlement from the trusted session. Client-claimed personas are an UX hint, not a security boundary.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getRaw / listRaw bypass the policy on purpose — for governance UIs that show the unfiltered set.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WIRING (1.1.0)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2606040"/>
            <a:ext cx="4785055" cy="2194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697480"/>
            <a:ext cx="451073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function installPersonaScopePolicy()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return provideAppInitializer(() =&gt;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const persona = inject(PersonaService);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const tools   = inject(ToolRegistry);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tools.setScopePolicy((entry) =&gt;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persona.canInvoke(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persona.active(),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entry.name));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93776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WHAT YOU 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257800"/>
            <a:ext cx="4785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Sidebar tool-count drops live on persona switch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Same predicate works on every registry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>
                <a:solidFill>
                  <a:srgbClr val="141821"/>
                </a:solidFill>
                <a:latin typeface="Calibri"/>
              </a:rPr>
              <a:t>Composes with use case 7 (keyword filter)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29 / 53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5 · Backend swap (AG-UI ↔ Hashbrown ↔ A2UI)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v1 ships against AG-UI for SSE-streaming. v2 you want Hashbrown for client-side LLM. The chat shell never sees the protocol — only the AgenticBackend interface.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ONE INTERFACE · THREE ADAPTERS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88920"/>
            <a:ext cx="1706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1706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AgUiBackend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2720" y="2788920"/>
            <a:ext cx="1706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2720" y="2788920"/>
            <a:ext cx="1706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HashbrownBackend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1040" y="2788920"/>
            <a:ext cx="1706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1040" y="2788920"/>
            <a:ext cx="1706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A2uiBackend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40480"/>
            <a:ext cx="5303520" cy="50292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0480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7F7F5"/>
                </a:solidFill>
                <a:latin typeface="Calibri"/>
              </a:rPr>
              <a:t>AgenticBackend.run(input) → AsyncIterable&lt;AgenticEvent&gt;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892040"/>
            <a:ext cx="53035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92040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&lt;mvk-chat-shell&gt;  ·  unchanged code, swap providers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7840.0" y="3291840"/>
            <a:ext cx="0.0" cy="54864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566160.0" y="3291840"/>
            <a:ext cx="0.0" cy="54864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364480.0" y="3291840"/>
            <a:ext cx="0.0" cy="54864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566160.0" y="4343400"/>
            <a:ext cx="0.0" cy="54864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Each adapter announces capability flags (clientTools / generativeUi / uiActions) — the shell feature-detects.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BOOT-TIME PICK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2606040"/>
            <a:ext cx="4785055" cy="1280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2697480"/>
            <a:ext cx="451073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provideAgenticUi({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backend: provideAgUiBackend({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url: '/api/ag-ui',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02336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RUNTIME SWITCH (DEBUG)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4343400"/>
            <a:ext cx="4785055" cy="13716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434840"/>
            <a:ext cx="451073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const backends = inject(BackendRegistry);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backends.register({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id: 'ag-ui',     factory: () =&gt; agUi,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label: 'AG-UI · SSE',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backends.register({ id: 'hashbrown', ...});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5852160"/>
            <a:ext cx="4785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Conformance suite in /testing runs the same tests against every adapter — drift fails CI.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30 / 53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 +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6 · Multi-agent orchestration · sticky routing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One chat panel for the whole matter. Custodian question → collection specialist; privilege flag → review; Bates assignment → production. Routing stays sticky so users can say 'what about that one?' without naming a specialist.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ROUTING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97480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Calibri"/>
              </a:rPr>
              <a:t>User 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6148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free text into the chat shell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10712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10712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56B88"/>
                </a:solidFill>
                <a:latin typeface="Calibri"/>
              </a:rPr>
              <a:t>Orchestrator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4747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classifies via LLM · descriptions + examples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23944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239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C48221"/>
                </a:solidFill>
                <a:latin typeface="Calibri"/>
              </a:rPr>
              <a:t>ThreadStateStore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1879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stamps last specialist · per-thread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837176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3717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Specialist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901184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GeminiAgent with its own tool subset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550408"/>
            <a:ext cx="219456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5040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Sticky next turn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5614416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41821"/>
                </a:solidFill>
                <a:latin typeface="Calibri"/>
              </a:rPr>
              <a:t>follow-ups replay specialist unless switched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From the host's view it's still ONE AgenticBackend — the shell never knows there are 4 agents under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SERVER-SIDE WIRING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2606040"/>
            <a:ext cx="4785055" cy="29260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2697480"/>
            <a:ext cx="451073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new OrchestratorAgent('coordinator',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apiKey, model: 'gemini-2.0-flash',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subAgents: 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{ id: 'collection',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description: 'custodians, holds',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examples: ['Add Sarah as a custodian'],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factory: (id) =&gt; new GeminiAgent(id, ...)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{ id: 'review', ...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{ id: 'production', ...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{ id: 'search', ...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5715000"/>
            <a:ext cx="47850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ThreadStateStore: in-memory default · Redis adapter in cookbook for horizontal scaling.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31 / 53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7 · Per-turn tool budget at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50+ tools across federated remotes blow your context budget. Solution: extract keywords from the prompt, score each tool, send the top-K to the LLM. Composes with persona scope.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364327" cy="36576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907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8332A"/>
                </a:solidFill>
                <a:latin typeface="Calibri"/>
              </a:rPr>
              <a:t>WITHOUT FILTERING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490712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A8332A"/>
                </a:solidFill>
                <a:latin typeface="Calibri"/>
              </a:rPr>
              <a:t>✗  </a:t>
            </a:r>
            <a:r>
              <a:rPr sz="1100" b="1">
                <a:solidFill>
                  <a:srgbClr val="141821"/>
                </a:solidFill>
                <a:latin typeface="Calibri"/>
              </a:rPr>
              <a:t>All 50 tools sent each turn. </a:t>
            </a:r>
            <a:r>
              <a:rPr sz="1100">
                <a:solidFill>
                  <a:srgbClr val="141821"/>
                </a:solidFill>
                <a:latin typeface="Calibri"/>
              </a:rPr>
              <a:t>12k tokens of schema + descriptions before the user prompt.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A8332A"/>
                </a:solidFill>
                <a:latin typeface="Calibri"/>
              </a:rPr>
              <a:t>✗  </a:t>
            </a:r>
            <a:r>
              <a:rPr sz="1100" b="1">
                <a:solidFill>
                  <a:srgbClr val="141821"/>
                </a:solidFill>
                <a:latin typeface="Calibri"/>
              </a:rPr>
              <a:t>Latency. </a:t>
            </a:r>
            <a:r>
              <a:rPr sz="1100">
                <a:solidFill>
                  <a:srgbClr val="141821"/>
                </a:solidFill>
                <a:latin typeface="Calibri"/>
              </a:rPr>
              <a:t>Gemini 2-3s slower per turn at the upper end.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A8332A"/>
                </a:solidFill>
                <a:latin typeface="Calibri"/>
              </a:rPr>
              <a:t>✗  </a:t>
            </a:r>
            <a:r>
              <a:rPr sz="1100" b="1">
                <a:solidFill>
                  <a:srgbClr val="141821"/>
                </a:solidFill>
                <a:latin typeface="Calibri"/>
              </a:rPr>
              <a:t>Cost. </a:t>
            </a:r>
            <a:r>
              <a:rPr sz="1100">
                <a:solidFill>
                  <a:srgbClr val="141821"/>
                </a:solidFill>
                <a:latin typeface="Calibri"/>
              </a:rPr>
              <a:t>Roughly 4x token spend on tool definitions alone.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A8332A"/>
                </a:solidFill>
                <a:latin typeface="Calibri"/>
              </a:rPr>
              <a:t>✗  </a:t>
            </a:r>
            <a:r>
              <a:rPr sz="1100" b="1">
                <a:solidFill>
                  <a:srgbClr val="141821"/>
                </a:solidFill>
                <a:latin typeface="Calibri"/>
              </a:rPr>
              <a:t>Hallucination risk. </a:t>
            </a:r>
            <a:r>
              <a:rPr sz="1100">
                <a:solidFill>
                  <a:srgbClr val="141821"/>
                </a:solidFill>
                <a:latin typeface="Calibri"/>
              </a:rPr>
              <a:t>More plausible-sounding wrong tools to choose from.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2286000"/>
            <a:ext cx="5364327" cy="36576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5887" y="2423160"/>
            <a:ext cx="4907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WITH KEYWORD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2926080"/>
            <a:ext cx="4907127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 b="1">
                <a:solidFill>
                  <a:srgbClr val="141821"/>
                </a:solidFill>
                <a:latin typeface="Calibri"/>
              </a:rPr>
              <a:t>Top-12 tools per turn. </a:t>
            </a:r>
            <a:r>
              <a:rPr sz="1100">
                <a:solidFill>
                  <a:srgbClr val="141821"/>
                </a:solidFill>
                <a:latin typeface="Calibri"/>
              </a:rPr>
              <a:t>Keyword match against the latest user message.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 b="1">
                <a:solidFill>
                  <a:srgbClr val="141821"/>
                </a:solidFill>
                <a:latin typeface="Calibri"/>
              </a:rPr>
              <a:t>Floor of 5 'core' tools always present. </a:t>
            </a:r>
            <a:r>
              <a:rPr sz="1100">
                <a:solidFill>
                  <a:srgbClr val="141821"/>
                </a:solidFill>
                <a:latin typeface="Calibri"/>
              </a:rPr>
              <a:t>Search, list, status — never filtered out.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 b="1">
                <a:solidFill>
                  <a:srgbClr val="141821"/>
                </a:solidFill>
                <a:latin typeface="Calibri"/>
              </a:rPr>
              <a:t>~70% smaller prompt. </a:t>
            </a:r>
            <a:r>
              <a:rPr sz="1100">
                <a:solidFill>
                  <a:srgbClr val="141821"/>
                </a:solidFill>
                <a:latin typeface="Calibri"/>
              </a:rPr>
              <a:t>Measured in eDiscovery's 18-tool inventory.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F6F4F"/>
                </a:solidFill>
                <a:latin typeface="Calibri"/>
              </a:rPr>
              <a:t>✓  </a:t>
            </a:r>
            <a:r>
              <a:rPr sz="1100" b="1">
                <a:solidFill>
                  <a:srgbClr val="141821"/>
                </a:solidFill>
                <a:latin typeface="Calibri"/>
              </a:rPr>
              <a:t>Composes with persona scope. </a:t>
            </a:r>
            <a:r>
              <a:rPr sz="1100">
                <a:solidFill>
                  <a:srgbClr val="141821"/>
                </a:solidFill>
                <a:latin typeface="Calibri"/>
              </a:rPr>
              <a:t>Filter runs after setScopePolicy — both layers stack.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080760"/>
            <a:ext cx="10911535" cy="777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72200"/>
            <a:ext cx="1063721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provideAgenticUi({ providers: 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provideToolFilter(keywordToolFilter({ maxTools: 12, floor: 5 })),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installPersonaScopePolicy(),    // runs first; the keyword filter narrows the scoped set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] });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32 / 53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 +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8 · MCP — same tools power analyst desktops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Your tool definitions are valuable IP. Make them callable from your chat shell, Claude Desktop, Cursor, and Zed via the Model Context Protocol — one source of truth, three surfaces.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ONE TOOLDEF · THREE SURFACES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4023360"/>
            <a:ext cx="2011680" cy="640080"/>
          </a:xfrm>
          <a:prstGeom prst="roundRect">
            <a:avLst>
              <a:gd name="adj" fmla="val 8000"/>
            </a:avLst>
          </a:prstGeom>
          <a:solidFill>
            <a:srgbClr val="12243D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40233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7F7F5"/>
                </a:solidFill>
                <a:latin typeface="Calibri"/>
              </a:rPr>
              <a:t>ToolDef[]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7091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Zod schema ·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83464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34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&lt;mvk-chat-shell&gt;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1920240" y="3108960"/>
            <a:ext cx="1645920" cy="1234440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663440" y="283464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2834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56B88"/>
                </a:solidFill>
                <a:latin typeface="Calibri"/>
              </a:rPr>
              <a:t>Claude Desktop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3566160" y="3108960"/>
            <a:ext cx="2011680" cy="1234440"/>
          </a:xfrm>
          <a:prstGeom prst="line">
            <a:avLst/>
          </a:prstGeom>
          <a:ln w="1270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34640" y="53949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53949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Cursor / Zed (MCP)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66160" y="4343400"/>
            <a:ext cx="182880" cy="1325880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Persona scope from use case 4 still applies — MCP also reads through ToolRegistry.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MCP SERVER WIRING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2606040"/>
            <a:ext cx="4785055" cy="18288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2697480"/>
            <a:ext cx="451073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import { createMcpServer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from '@maverick/agentic-ui-mcp';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const mcp = createMcpServer({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name: 'ediscovery-paralegal',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tools: [searchDocuments,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  markPrivileged, tagDocument],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app.route('/mcp', mcp);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572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TRANSPORTS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92040"/>
            <a:ext cx="4785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stdio · for Claude Desktop's spawn-and-pipe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SSE · streaming over HTTP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text/html;profile=mcp-app · in-browser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33 / 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 +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9 · Observability — distributed tracing per chat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One user prompt fans out into LLM calls, tool calls, widget renders, persistence writes. You want one trace covering all of them, with traceparent propagating across the SSE boundary.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ONE TRACE · END-TO-END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97480"/>
            <a:ext cx="228600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Calibri"/>
              </a:rPr>
              <a:t>agentic.run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76148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761488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INTERNAL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761488"/>
            <a:ext cx="210312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41821"/>
                </a:solidFill>
                <a:latin typeface="Calibri"/>
              </a:rPr>
              <a:t>thread_id, run_id, backend.id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264408"/>
            <a:ext cx="228600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64408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56B88"/>
                </a:solidFill>
                <a:latin typeface="Calibri"/>
              </a:rPr>
              <a:t>agentic.backend.stream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32841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3328416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328416"/>
            <a:ext cx="210312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41821"/>
                </a:solidFill>
                <a:latin typeface="Calibri"/>
              </a:rPr>
              <a:t>http.url, status, traceparent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7705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[ SSE boundary — traceparent 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398264"/>
            <a:ext cx="228600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9826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C48221"/>
                </a:solidFill>
                <a:latin typeface="Calibri"/>
              </a:rPr>
              <a:t>agentic.tool_call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4462272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46227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4462272"/>
            <a:ext cx="210312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41821"/>
                </a:solidFill>
                <a:latin typeface="Calibri"/>
              </a:rPr>
              <a:t>tool.name, tool.source, success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65192"/>
            <a:ext cx="228600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965192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agentic.federation.load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502920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37560" y="5029200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INTERNAL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5029200"/>
            <a:ext cx="210312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41821"/>
                </a:solidFill>
                <a:latin typeface="Calibri"/>
              </a:rPr>
              <a:t>remote_name, version, load_ms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228600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53212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agentic.persistence.write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37560" y="559612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7560" y="5596128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INTERNAL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5596128"/>
            <a:ext cx="210312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41821"/>
                </a:solidFill>
                <a:latin typeface="Calibri"/>
              </a:rPr>
              <a:t>adapter, bytes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Default: tool args / message bodies are NEVER captured — only sizes + stable hashes. Opt-in field-by-field.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WIRING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66560" y="2606040"/>
            <a:ext cx="4785055" cy="27432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2697480"/>
            <a:ext cx="4510735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import { provideAgenticTelemetry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from '@maverick/agentic-ui/otel';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telemetry: provideAgenticTelemetry({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serviceName: 'demo-shell',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exporter: 'otlp-http',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endpoint: 'http://collector:4318/...',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sampler: { kind: 'ratio', ratio: 0.1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redaction: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argsAllowList: ['flightId','docId'],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5532120"/>
            <a:ext cx="47850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Default sink is no-op — apps that don't import /otel pay zero bytes.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34 / 53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 +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Use case 10 · Audit trail · chain-of-custody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Regulated domain. Every state-mutating tool call must land in an immutable audit log: who, what, when, before, after. A hash chain makes any tamper attempt visibly break the chain.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TAMPER-EVIDENT CHAIN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743200"/>
            <a:ext cx="45720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889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HOLD-001 issued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actor: eleanor  ·  prevHash: null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383280"/>
            <a:ext cx="0" cy="22860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14400" y="3611880"/>
            <a:ext cx="45720" cy="640080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576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DOC-789 marked priv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97764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actor: associate  ·  prevHash: hash(HOLD)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4251960"/>
            <a:ext cx="0" cy="22860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14400" y="4480560"/>
            <a:ext cx="45720" cy="64008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5262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PROD-A1B2 created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463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actor: paralegal  ·  prevHash: hash(DOC)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5120640"/>
            <a:ext cx="0" cy="228600"/>
          </a:xfrm>
          <a:prstGeom prst="line">
            <a:avLst/>
          </a:prstGeom>
          <a:ln w="12700">
            <a:solidFill>
              <a:srgbClr val="6B73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14400" y="5349240"/>
            <a:ext cx="45720" cy="64008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3949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PROD-A1B2 delivered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7150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actor: lead  ·  prevHash: hash(PROD-c)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Audit Trail page verifies the chain on render — green badge if hashes match end-to-end, red if tamper detected.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28600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PATTERN — NOT CORE LIB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2606040"/>
            <a:ext cx="4785055" cy="24688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2697480"/>
            <a:ext cx="451073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function appendAudit(event)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const prev = audit.list().at(-1);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audit.append({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...event,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timestamp: new Date().toISOString(),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prevHash: prev?.chainHash ?? null,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chainHash: hash({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...event,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prevHash: prev?.chainHash,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5166360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THREE-PIECE COMPLIANCE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486400"/>
            <a:ext cx="4785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1">
                <a:solidFill>
                  <a:srgbClr val="2F6F4F"/>
                </a:solidFill>
                <a:latin typeface="Calibri"/>
              </a:rPr>
              <a:t>✓  </a:t>
            </a:r>
            <a:r>
              <a:rPr sz="1000">
                <a:solidFill>
                  <a:srgbClr val="141821"/>
                </a:solidFill>
                <a:latin typeface="Calibri"/>
              </a:rPr>
              <a:t>Use 4 — who CAN do it (persona scope)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2F6F4F"/>
                </a:solidFill>
                <a:latin typeface="Calibri"/>
              </a:rPr>
              <a:t>✓  </a:t>
            </a:r>
            <a:r>
              <a:rPr sz="1000">
                <a:solidFill>
                  <a:srgbClr val="141821"/>
                </a:solidFill>
                <a:latin typeface="Calibri"/>
              </a:rPr>
              <a:t>Use 9 — what HAPPENED (telemetry / OTel)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2F6F4F"/>
                </a:solidFill>
                <a:latin typeface="Calibri"/>
              </a:rPr>
              <a:t>✓  </a:t>
            </a:r>
            <a:r>
              <a:rPr sz="1000">
                <a:solidFill>
                  <a:srgbClr val="141821"/>
                </a:solidFill>
                <a:latin typeface="Calibri"/>
              </a:rPr>
              <a:t>Use 10 — verifiable WHO DID IT (this slide)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5b · Use cases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35 / 53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Five demos in this repo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Library features exercised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demo-monolith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574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Single-app AG-UI parity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0574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M1 baseline · same shape as flights42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77063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demo-feature-tour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7063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All 13 registries in one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770632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ActionRegistry, FormRegistry, IntentRegistry, DataSource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48386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demo-shell + remotes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83864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Native Federation host + bookings/loyalty/support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483864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Capability handoff · prefetchCapabilities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19709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demo-multi-agent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197096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OrchestratorAgent + specialists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197096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Sticky routing · ThreadStateStore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demo-mcp-server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10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Tools as MCP server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91032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Claude Desktop · MCP UI · per-user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235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demo-ediscovery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6235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Enterprise reference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62356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Federated review remote · audit trail · 5 personas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36 / 53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An enterprise reference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A federated eDiscovery shell — the demo we use to validate every library feature against a recognisable, regulated, complex domain.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phases shipped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8963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6123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6123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tools · 4 specialists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7846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5006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3 + 1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5006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MFE remotes + MCP server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6729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3889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3889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registries exercised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15612" y="2377440"/>
            <a:ext cx="203600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772" y="2542032"/>
            <a:ext cx="17616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C48221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2772" y="3154680"/>
            <a:ext cx="1761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tamper-evident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52728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WHAT THE DEMO SHIPS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169664"/>
            <a:ext cx="5272887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97680"/>
            <a:ext cx="5272887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Custodian intake · legal-hold lifecycle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Document review with privilege workflow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Production assembly: create → bates → export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Search + TAR classifier across the matter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Tamper-evident chain-of-custody report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MCP server for Claude Desktop / Cursor / Zed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Calibri"/>
              </a:rPr>
              <a:t>•  </a:t>
            </a:r>
            <a:r>
              <a:rPr sz="1100">
                <a:solidFill>
                  <a:srgbClr val="141821"/>
                </a:solidFill>
                <a:latin typeface="Calibri"/>
              </a:rPr>
              <a:t>Persona-scoped tool surface (5 roles)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8727" y="3840480"/>
            <a:ext cx="52728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LIBRARY SEAMS PUT TO 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4169664"/>
            <a:ext cx="5272887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8727" y="4297680"/>
            <a:ext cx="5272887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ToolRegistry · ComponentRegistry · CapabilityRegistry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ActionRegistry — click-through navigation from widgets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FormRegistry — productionConfigForm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ValidationRegistry — Bates pattern conformance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DataSourceRegistry — pluggable documentIndex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Telemetry — every tool call audit-logged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37 / 53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eDiscovery — production chain (Phase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One prompt drives a 4-step chained tool call · each step renders its own widget · ActionRegistry navigates on click.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2590723" cy="45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enlo"/>
              </a:rPr>
              <a:t>createProductionSet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scope filter · format · Bates pattern
Validation: pattern conformance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→ productionSummary widget
   status: draft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30803.75" y="3063240.0"/>
            <a:ext cx="164592.0" cy="0.0"/>
          </a:xfrm>
          <a:prstGeom prst="line">
            <a:avLst/>
          </a:prstGeom>
          <a:ln w="254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13683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3683" y="2011680"/>
            <a:ext cx="2590723" cy="4572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96563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6563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3763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Menlo"/>
              </a:rPr>
              <a:t>redactDocument*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6563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page · bbox · reason
(* optional, repeatable)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96563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8003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2243D"/>
                </a:solidFill>
                <a:latin typeface="Calibri"/>
              </a:rPr>
              <a:t>→ redactionEditor widget
   canvas overlay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04407.5" y="3063240.0"/>
            <a:ext cx="164592.0" cy="0.0"/>
          </a:xfrm>
          <a:prstGeom prst="line">
            <a:avLst/>
          </a:prstGeom>
          <a:ln w="2540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7287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7287" y="2011680"/>
            <a:ext cx="2590723" cy="4572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70167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7367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Menlo"/>
              </a:rPr>
              <a:t>assignBatesNumbers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stamp sequential ids per pattern
start = 1 (default)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70167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1607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→ batesPreview + summary
   status: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778011.25" y="3063240.0"/>
            <a:ext cx="164592.0" cy="0.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60891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0891" y="2011680"/>
            <a:ext cx="2590723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3771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3771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0971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Menlo"/>
              </a:rPr>
              <a:t>exportProductionSet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3771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deliver: true (irreversible)
requires audit reason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3771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211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F6F4F"/>
                </a:solidFill>
                <a:latin typeface="Calibri"/>
              </a:rPr>
              <a:t>→ productionSummary
   status: delivered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4389120"/>
            <a:ext cx="10911535" cy="128016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44988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Calibri"/>
              </a:rPr>
              <a:t>Library seams exercised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ToolRegistry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0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4 tools registered via federation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17719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17719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ComponentRegistry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39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3 widgets contributed by remote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66758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66758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FormRegistry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78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productionConfigForm — schema-driven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8680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ValidationRegistry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0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Bates pattern conformance check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617719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17719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ActionRegistry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39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openProduction — click-to-navigate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66758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66758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Audit log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78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every step appends an event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38 / 53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1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2AAB6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1 — user prompt fires. Tool filter scores 17 tools, sends top 12 to Gemini.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39 / 53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2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2AAB6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2 — orchestrator classifies and routes the run to the production specialist.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40 / 53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3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2700">
            <a:solidFill>
              <a:srgbClr val="A2AAB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3 — specialist returns a tool call. Handler runs; audit event lands in the chain.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41 / 53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Run sequence — step 4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Click through frames 1 → 4 to see one chat turn play out across five actors. Each frame highlights the active arrow.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ChatShell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Coordinator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79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79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55279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29800" y="233172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3317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ToolRegistry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15600" y="2788920"/>
            <a:ext cx="0" cy="310896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69748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24048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prompt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310896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28163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filter ToolRegistry → top 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657600" y="3520440"/>
            <a:ext cx="6858000" cy="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74920" y="32278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12 ToolDefs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57600" y="3931920"/>
            <a:ext cx="2194560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36393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POST /agents/coordinator/run (SSE)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52160" y="4343400"/>
            <a:ext cx="2103119" cy="0"/>
          </a:xfrm>
          <a:prstGeom prst="line">
            <a:avLst/>
          </a:prstGeom>
          <a:ln w="1905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92039" y="40507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classify → 'production' specialist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657600" y="4754880"/>
            <a:ext cx="4297679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794759" y="44622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tool_call: generateChainOfCustodyReport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5166360"/>
            <a:ext cx="54864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5166360"/>
            <a:ext cx="0" cy="164592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703320" y="5330952"/>
            <a:ext cx="502920" cy="0"/>
          </a:xfrm>
          <a:prstGeom prst="line">
            <a:avLst/>
          </a:prstGeom>
          <a:ln w="1905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9768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execute handler → audit hash chained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57600" y="5577840"/>
            <a:ext cx="4297679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94759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tool_result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3657600" y="5989320"/>
            <a:ext cx="4297679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94759" y="5696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widget_render: chainOfCustodyReport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554480" y="6400800"/>
            <a:ext cx="2103120" cy="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360" y="6108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rendered card visible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911535" cy="41148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8076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Calibri"/>
              </a:rPr>
              <a:t>Frame 4 — widget renders below the assistant message. Round-trip complete.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42 / 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Chain of custody — every action, every actor, hashed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Phase 5. Each tool call writes one audit event; each event links to the previous via a chain hash. Tampering anywhere in the chain breaks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68880"/>
            <a:ext cx="329184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F6F4F"/>
                </a:solidFill>
                <a:latin typeface="Calibri"/>
              </a:rPr>
              <a:t>Event #1 — issued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Menlo"/>
              </a:rPr>
              <a:t>actor:  eleanor.vance@firm
action: hold.issued
target: HOLD-001
ts:     2026-02-16T14:00Z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886200"/>
            <a:ext cx="2926080" cy="10972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380"/>
                </a:solidFill>
                <a:latin typeface="Menlo"/>
              </a:rPr>
              <a:t>prev: 0000…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F6F4F"/>
                </a:solidFill>
                <a:latin typeface="Menlo"/>
              </a:rPr>
              <a:t>chain: a3f8d2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31920" y="3383280.0"/>
            <a:ext cx="274320" cy="0.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06240" y="246888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2468880"/>
            <a:ext cx="329184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6060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F6F4F"/>
                </a:solidFill>
                <a:latin typeface="Calibri"/>
              </a:rPr>
              <a:t>Event #2 — tagged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7180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Menlo"/>
              </a:rPr>
              <a:t>actor:  paralegal-1@firm
action: document.tag.added
target: DOC-7891234
ts:     2026-04-21T09:14Z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3886200"/>
            <a:ext cx="2926080" cy="10972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380"/>
                </a:solidFill>
                <a:latin typeface="Menlo"/>
              </a:rPr>
              <a:t>prev: a3f8d2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F6F4F"/>
                </a:solidFill>
                <a:latin typeface="Menlo"/>
              </a:rPr>
              <a:t>chain: b7e1f4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98080" y="3383280.0"/>
            <a:ext cx="274320" cy="0.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772400" y="246888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2468880"/>
            <a:ext cx="329184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0" y="26060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F6F4F"/>
                </a:solidFill>
                <a:latin typeface="Calibri"/>
              </a:rPr>
              <a:t>Event #3 — exported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0" y="297180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Menlo"/>
              </a:rPr>
              <a:t>actor:  associate-2@firm
action: production.delivered
target: PROD-A1B2
ts:     2026-04-30T16:55Z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80" y="3886200"/>
            <a:ext cx="2926080" cy="10972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380"/>
                </a:solidFill>
                <a:latin typeface="Menlo"/>
              </a:rPr>
              <a:t>prev: b7e1f4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F6F4F"/>
                </a:solidFill>
                <a:latin typeface="Menlo"/>
              </a:rPr>
              <a:t>chain: c2d5a1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72000"/>
            <a:ext cx="10911535" cy="77724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4572000"/>
            <a:ext cx="54864" cy="77724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690872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✓  CHAIN VERIFIED — 3 of 3 hashes recompute · head c2d5a1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98348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If any event were edited or deleted, the next event's `prev` link would fail to recompute and the integrity badge on the Audit Trail page would flip to broken.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WHY THIS MATTERS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907024"/>
            <a:ext cx="10881360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03504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Defensibility is the unit of trust opposing counsel and regulators measure. The chain is built into every tool call — Claude Desktop and the web app both contribute to the same chain. No second system to reconcile.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Compliance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43 / 53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07 · MCP 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One toolset. Three surfaces. One audit log.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Phase 6. Paralegals run privilege review from Claude Desktop / Cursor / Zed without opening the web app — same handlers, same audit chain (Phase 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1367" y="3520440"/>
            <a:ext cx="3108960" cy="10058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1367" y="35204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CF1F6"/>
                </a:solidFill>
                <a:latin typeface="Calibri"/>
              </a:rPr>
              <a:t>SHARED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37947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enlo"/>
              </a:rPr>
              <a:t>ToolDef[]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367" y="4206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ECF1F6"/>
                </a:solidFill>
                <a:latin typeface="Calibri"/>
              </a:rPr>
              <a:t>5 review tools · framework-agnostic literals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423160"/>
            <a:ext cx="36576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423160"/>
            <a:ext cx="3657600" cy="54864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603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2243D"/>
                </a:solidFill>
                <a:latin typeface="Calibri"/>
              </a:rPr>
              <a:t>Web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803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&lt;mvk-chat-shell&gt; @ :4300
NgComponentOutlet widgets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60" y="3337560"/>
            <a:ext cx="2927474.375" cy="137160.0"/>
          </a:xfrm>
          <a:prstGeom prst="line">
            <a:avLst/>
          </a:prstGeom>
          <a:ln w="1778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67047" y="2423160"/>
            <a:ext cx="36576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67047" y="2423160"/>
            <a:ext cx="3657600" cy="54864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9927" y="25603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8221"/>
                </a:solidFill>
                <a:latin typeface="Calibri"/>
              </a:rPr>
              <a:t>Claude Desktop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9927" y="28803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Stdio MCP server
text/html;profile=mcp-app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847.5" y="3337560"/>
            <a:ext cx="0.0" cy="137160.0"/>
          </a:xfrm>
          <a:prstGeom prst="line">
            <a:avLst/>
          </a:prstGeom>
          <a:ln w="1778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11135" y="2423160"/>
            <a:ext cx="36576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356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11135" y="2423160"/>
            <a:ext cx="3657600" cy="54864"/>
          </a:xfrm>
          <a:prstGeom prst="rect">
            <a:avLst/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94015" y="25603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56B88"/>
                </a:solidFill>
                <a:latin typeface="Calibri"/>
              </a:rPr>
              <a:t>Cursor / 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4015" y="28803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Same MCP server
MCP-UI HTML cards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612460.625" y="3337560"/>
            <a:ext cx="2927474.375" cy="137160.0"/>
          </a:xfrm>
          <a:prstGeom prst="line">
            <a:avLst/>
          </a:prstGeom>
          <a:ln w="1778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0080" y="493776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AF0DD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937760"/>
            <a:ext cx="54864" cy="1005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074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48221"/>
                </a:solidFill>
                <a:latin typeface="Calibri"/>
              </a:rPr>
              <a:t>ONE AUDIT CHAIN — Phase 5 hash links every event regardless of surface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4406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appendAudit(...) auto-stamps chainHash + prevHash. The chain-of-custody report covers Claude-Desktop-driven mutations and web-app-driven mutations as one.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.5" y="4526280.0"/>
            <a:ext cx="0.0" cy="411480.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0080" y="6126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WHERE IT MATTERS — analysts who already live in Claude Desktop don't switch contexts to do privilege review.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7 · MCP reach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44 / 53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08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Persona scopes — from consumer shim to library primitive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Phases 7 → 8. The role allow-list moved from chat-shell-only filter to a registry-base policy that filters every read.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5272887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5272887" cy="54864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96312"/>
            <a:ext cx="49071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PHASE 7 · CONSUMER-SIDE SHIM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4907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TOOL_FILTER + useFactory composition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4907127" cy="20116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463280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{ provide: TOOL_FILTER,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useFactory: () =&gt;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personaToolFilter(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inject(PersonaService),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keywordToolFilter({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maxTools: 12,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floor: 5,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}),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331720"/>
            <a:ext cx="5272887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2331720"/>
            <a:ext cx="5272887" cy="54864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496312"/>
            <a:ext cx="49071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PHASE 8 · LIBRARY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834640"/>
            <a:ext cx="49071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RegistryBase.setScopePolicy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61607" y="3246120"/>
            <a:ext cx="4907127" cy="20116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3337560"/>
            <a:ext cx="463280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app.config.ts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provideAppInitializer(() =&gt;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const persona = inject(PersonaService);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inject(ToolRegistry).setScopePolicy(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(entry) =&gt;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persona.canInvoke(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persona.active(),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  entry.name,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  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);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});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registries gain scope filtering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3683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0843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F6F4F"/>
                </a:solidFill>
                <a:latin typeface="Calibri"/>
              </a:rPr>
              <a:t>~30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0843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lines of consumer code deleted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4447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447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policy installs once at boot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0891" y="5623560"/>
            <a:ext cx="2590723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051" y="578815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C48221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051" y="617220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every reader sees the same 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Governance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45 / 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09 · ENTERPRISE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Four phases, four governance primitives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Each row pairs a regulated-domain need with the library primitive that addresses it — already shipped.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54864" cy="795528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Tamper-evident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5 · `appendAudit` + `verifyAuditChain`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57860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Chain hash on every event · live integrity verifier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0040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54864" cy="795528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192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48221"/>
                </a:solidFill>
                <a:latin typeface="Calibri"/>
              </a:rPr>
              <a:t>Analyst-desktop 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6 · `@maverick/agentic-ui-mcp`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44728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Same toolset in Claude Desktop / Cursor · same audit 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6908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69080"/>
            <a:ext cx="54864" cy="7955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Persona-scoped tool surface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2628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7 · consumer-side filter, then…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31596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Hide tools the role can't invoke before the LLM ever sees them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37760"/>
            <a:ext cx="10911535" cy="795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937760"/>
            <a:ext cx="54864" cy="795528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05663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Registry-wide scope policy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9496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Menlo"/>
              </a:rPr>
              <a:t>Phase 8 · `RegistryBase.setScopePolicy(policy)`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184648"/>
            <a:ext cx="70710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13 registries (Tool / Action / Form / DataSource / …) share one filter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9 · Enterprise readiness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46 / 53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7 ·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When to use what — a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Reach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Single-app · regulated · audit-heavy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24028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4028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0779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Multi-provider eval · rapid prototype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95351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953512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21024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Agent navigates / fills forms / mutates 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666744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666744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A2UI (over AG-UI base)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334256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Multiple teams · independent deploys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379976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379976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MFE federation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47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Analyst desktops · IDE-native agents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93208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A8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5093208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MCP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60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Compliance +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580644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580644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Telemetry sink → audit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7 · Decisions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47 / 53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senior executives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Faster time-to-pilot. </a:t>
            </a:r>
            <a:r>
              <a:rPr sz="1400">
                <a:solidFill>
                  <a:srgbClr val="141821"/>
                </a:solidFill>
                <a:latin typeface="Calibri"/>
              </a:rPr>
              <a:t>ng add → working chat in 2 minutes. 6 months of in-house plumbing avoided.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Vendor agnosticism. </a:t>
            </a:r>
            <a:r>
              <a:rPr sz="1400">
                <a:solidFill>
                  <a:srgbClr val="141821"/>
                </a:solidFill>
                <a:latin typeface="Calibri"/>
              </a:rPr>
              <a:t>AG-UI today, Hashbrown tomorrow, A2UI when it ships v1 — same UI, swap the backend.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Regulated-domain ready. </a:t>
            </a:r>
            <a:r>
              <a:rPr sz="1400">
                <a:solidFill>
                  <a:srgbClr val="141821"/>
                </a:solidFill>
                <a:latin typeface="Calibri"/>
              </a:rPr>
              <a:t>Audit-grade telemetry, persona scopes, MCP for analysts — built in, not bolted 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Microfrontend native. </a:t>
            </a:r>
            <a:r>
              <a:rPr sz="1400">
                <a:solidFill>
                  <a:srgbClr val="141821"/>
                </a:solidFill>
                <a:latin typeface="Calibri"/>
              </a:rPr>
              <a:t>Multiple teams contribute capabilities into one chat — federation is a first-class seam.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Open license. </a:t>
            </a:r>
            <a:r>
              <a:rPr sz="1400">
                <a:solidFill>
                  <a:srgbClr val="141821"/>
                </a:solidFill>
                <a:latin typeface="Calibri"/>
              </a:rPr>
              <a:t>Apache 2.0 — explicit patent grant, enterprise-friendly. No SaaS lock-in; internal forking encouraged.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Reference implementations. </a:t>
            </a:r>
            <a:r>
              <a:rPr sz="1400">
                <a:solidFill>
                  <a:srgbClr val="141821"/>
                </a:solidFill>
                <a:latin typeface="Calibri"/>
              </a:rPr>
              <a:t>Six demos including a full eDiscovery app. Blueprint, not a brochure.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48 / 53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architects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Clean seams. </a:t>
            </a:r>
            <a:r>
              <a:rPr sz="1300">
                <a:solidFill>
                  <a:srgbClr val="141821"/>
                </a:solidFill>
                <a:latin typeface="Calibri"/>
              </a:rPr>
              <a:t>AgenticBackend, MfeRegistrySource, Registry&lt;TDef&gt;, AgenticTelemetrySink — every contingency leans on one already in place.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Conformance-tested adapters. </a:t>
            </a:r>
            <a:r>
              <a:rPr sz="1300">
                <a:solidFill>
                  <a:srgbClr val="141821"/>
                </a:solidFill>
                <a:latin typeface="Calibri"/>
              </a:rPr>
              <a:t>/testing entry runs the same suite against every backend; capability flags drive feature-detection.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Conflict policies + onDispose. </a:t>
            </a:r>
            <a:r>
              <a:rPr sz="1300">
                <a:solidFill>
                  <a:srgbClr val="141821"/>
                </a:solidFill>
                <a:latin typeface="Calibri"/>
              </a:rPr>
              <a:t>Multiple teams may register the same tool name; namespace policies coexist; cleanup is automatic.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Observability by default. </a:t>
            </a:r>
            <a:r>
              <a:rPr sz="1300">
                <a:solidFill>
                  <a:srgbClr val="141821"/>
                </a:solidFill>
                <a:latin typeface="Calibri"/>
              </a:rPr>
              <a:t>Distributed tracing across SSE; metrics; logs with trace_id correlation; opt-in OTel exporter.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Two federation paths. </a:t>
            </a:r>
            <a:r>
              <a:rPr sz="1300">
                <a:solidFill>
                  <a:srgbClr val="141821"/>
                </a:solidFill>
                <a:latin typeface="Calibri"/>
              </a:rPr>
              <a:t>Native + Module Federation — no second-class citizen; same CapabilityModule shape; pick by bundler.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ADRs documented. </a:t>
            </a:r>
            <a:r>
              <a:rPr sz="1300">
                <a:solidFill>
                  <a:srgbClr val="141821"/>
                </a:solidFill>
                <a:latin typeface="Calibri"/>
              </a:rPr>
              <a:t>Six ADRs cover backend abstraction, MCP, federation, conflict policies — context for future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49 / 53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developers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Schematics. </a:t>
            </a:r>
            <a:r>
              <a:rPr sz="1300">
                <a:solidFill>
                  <a:srgbClr val="141821"/>
                </a:solidFill>
                <a:latin typeface="Calibri"/>
              </a:rPr>
              <a:t>ng add bootstraps an entire workspace. ng g …:tool/widget/backend cuts hours of typing per artefact.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Signal-first APIs. </a:t>
            </a:r>
            <a:r>
              <a:rPr sz="1300">
                <a:solidFill>
                  <a:srgbClr val="141821"/>
                </a:solidFill>
                <a:latin typeface="Calibri"/>
              </a:rPr>
              <a:t>ToolRegistry.signal(), CapabilityRegistry.signal() — reactive everywhere; OnPush by default.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Strict TypeScript. </a:t>
            </a:r>
            <a:r>
              <a:rPr sz="1300">
                <a:solidFill>
                  <a:srgbClr val="141821"/>
                </a:solidFill>
                <a:latin typeface="Calibri"/>
              </a:rPr>
              <a:t>Zod-anchored payloads; tool args + props inferred; no any in the public API surface.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Testing harness. </a:t>
            </a:r>
            <a:r>
              <a:rPr sz="1300">
                <a:solidFill>
                  <a:srgbClr val="141821"/>
                </a:solidFill>
                <a:latin typeface="Calibri"/>
              </a:rPr>
              <a:t>FakeAgenticBackend + harnessChat() in /testing; in-memory AgenticTelemetrySink with custom matchers.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Cookbook entries. </a:t>
            </a:r>
            <a:r>
              <a:rPr sz="1300">
                <a:solidFill>
                  <a:srgbClr val="141821"/>
                </a:solidFill>
                <a:latin typeface="Calibri"/>
              </a:rPr>
              <a:t>Every milestone ships a how-to guide — federation at scale, MCP server, observability, persona scopes.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Live reload across MFEs. </a:t>
            </a:r>
            <a:r>
              <a:rPr sz="1300">
                <a:solidFill>
                  <a:srgbClr val="141821"/>
                </a:solidFill>
                <a:latin typeface="Calibri"/>
              </a:rPr>
              <a:t>Both Native + Module Federation play nice with the dev server.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50 / 53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10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Library milestones · validated by eDiscovery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Each library milestone has a corresponding eDiscovery phase that exercised it under enterprise 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0911535" cy="4206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1343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134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Theme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134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3134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Validated by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34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907792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AG-UI parity + ChatShell + /testing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095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95351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ToolRegistry, ComponentRegistry, BackendRegistry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2953512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295351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P0–P1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35478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54787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2102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Schematics + ng-add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92277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666744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tool, widget, backend, agent-server, snapshot tests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0" y="3666744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36667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26110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26110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3425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MFE federation + A2UI + MCP server adapter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6360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379976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CapabilityRegistry, MfeRegistry, both federation paths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4379976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437997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P2, P6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97433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97433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04748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Extended registries + Validation + DataSource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34924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50932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Action, Intent, Form, Validation, DataSource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5093208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0" y="509320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P2–P4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8680" y="568756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568756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576072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Compliance + scope governance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6062472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58064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Tamper-evident audit chain, RegistryBase.setScopePolicy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5806440"/>
            <a:ext cx="1371600" cy="310896"/>
          </a:xfrm>
          <a:prstGeom prst="roundRect">
            <a:avLst>
              <a:gd name="adj" fmla="val 8000"/>
            </a:avLst>
          </a:prstGeom>
          <a:solidFill>
            <a:srgbClr val="FAF0DD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0" y="58064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F6F4F"/>
                </a:solidFill>
                <a:latin typeface="Calibri"/>
              </a:rPr>
              <a:t>P5, P7–P8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All five milestones shipped. The eDiscovery flagship is the proof-shape under load.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9 · Roadmap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51 / 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10 · CALL TO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91440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Where you can plug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0D9"/>
                </a:solidFill>
                <a:latin typeface="Calibri"/>
              </a:rPr>
              <a:t>Three concrete next steps — pick the row that matches your role.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0896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558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EXECUTIVES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7355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Authorise a two-week pilot.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Agentic chat retro-fit into your most-used internal app, Apache 2.0 licensed.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159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ARCHITECTS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3367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Read ADR-006 (MCP) + ADR-007 (eDiscovery). Spike a remote in your repo.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61772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Conformance suite + cookbook ship in /testing.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2920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2120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2760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DEVELOPERS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19379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ng add @maverick/agentic-ui. ng g …:tool. ng serve.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57784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30 minutes from clone to running chat — schematics scaffold the rest.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03504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8C96A8"/>
                </a:solidFill>
                <a:latin typeface="Calibri"/>
              </a:rPr>
              <a:t>Repository · examples · cookbook · ADRs included     Questions? Reach the team.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Where to go from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Repository layout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212080" cy="4206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49377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ag_ui_maverick/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projects/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agentic-ui/         # publishable lib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agentic-ui-server/  # Node companion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agentic-ui-mcp/     # MCP adapter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examples/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demo-monolith/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demo-shell/  (host)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demo-remote-bookings/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demo-multi-agent/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demo-mcp-server/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demo-ediscovery-{shared,server,shell,review}/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docs/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adr/                # decision records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cookbook/           # how-to guides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architecture/       # system docs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└── PLAN.md                 # full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Recommended reading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965960"/>
            <a:ext cx="54864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README.md </a:t>
            </a:r>
            <a:r>
              <a:rPr sz="1200">
                <a:solidFill>
                  <a:srgbClr val="141821"/>
                </a:solidFill>
                <a:latin typeface="Calibri"/>
              </a:rPr>
              <a:t>5-minute orientation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PLAN.md </a:t>
            </a:r>
            <a:r>
              <a:rPr sz="1200">
                <a:solidFill>
                  <a:srgbClr val="141821"/>
                </a:solidFill>
                <a:latin typeface="Calibri"/>
              </a:rPr>
              <a:t>Full architecture + 5-tier registry model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ADR-006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server-side adapter design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docs/cookbook/ </a:t>
            </a:r>
            <a:r>
              <a:rPr sz="1200">
                <a:solidFill>
                  <a:srgbClr val="141821"/>
                </a:solidFill>
                <a:latin typeface="Calibri"/>
              </a:rPr>
              <a:t>How-to guides for federation, MCP, OTel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examples/demo-feature-tour </a:t>
            </a:r>
            <a:r>
              <a:rPr sz="1200">
                <a:solidFill>
                  <a:srgbClr val="141821"/>
                </a:solidFill>
                <a:latin typeface="Calibri"/>
              </a:rPr>
              <a:t>All 13 registries in one app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examples/demo-ediscovery </a:t>
            </a:r>
            <a:r>
              <a:rPr sz="1200">
                <a:solidFill>
                  <a:srgbClr val="141821"/>
                </a:solidFill>
                <a:latin typeface="Calibri"/>
              </a:rPr>
              <a:t>Enterprise reference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@maverick/agentic-ui/testing </a:t>
            </a:r>
            <a:r>
              <a:rPr sz="1200">
                <a:solidFill>
                  <a:srgbClr val="141821"/>
                </a:solidFill>
                <a:latin typeface="Calibri"/>
              </a:rPr>
              <a:t>Conformance suite + harness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53 / 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